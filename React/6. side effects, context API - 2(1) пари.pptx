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08" r:id="rId7"/>
    <p:sldId id="709" r:id="rId8"/>
    <p:sldId id="592" r:id="rId9"/>
    <p:sldId id="678" r:id="rId10"/>
    <p:sldId id="679" r:id="rId11"/>
    <p:sldId id="680" r:id="rId12"/>
    <p:sldId id="681" r:id="rId13"/>
    <p:sldId id="682" r:id="rId14"/>
    <p:sldId id="683" r:id="rId15"/>
    <p:sldId id="684" r:id="rId16"/>
    <p:sldId id="685" r:id="rId17"/>
    <p:sldId id="686" r:id="rId18"/>
    <p:sldId id="688" r:id="rId19"/>
    <p:sldId id="705" r:id="rId20"/>
    <p:sldId id="706" r:id="rId21"/>
    <p:sldId id="689" r:id="rId22"/>
    <p:sldId id="690" r:id="rId23"/>
    <p:sldId id="691" r:id="rId24"/>
    <p:sldId id="693" r:id="rId25"/>
    <p:sldId id="700" r:id="rId26"/>
    <p:sldId id="707" r:id="rId27"/>
    <p:sldId id="288" r:id="rId28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34" Type="http://schemas.openxmlformats.org/officeDocument/2006/relationships/customXml" Target="../customXml/item3.xml"/><Relationship Id="rId7" Type="http://schemas.openxmlformats.org/officeDocument/2006/relationships/slide" Target="slides/slide3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33" Type="http://schemas.openxmlformats.org/officeDocument/2006/relationships/customXml" Target="../customXml/item2.xml"/><Relationship Id="rId29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32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tableStyles" Target="tableStyles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0" Type="http://schemas.openxmlformats.org/officeDocument/2006/relationships/viewProps" Target="viewProps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4ce7d5ce017ee78d64438508ccb64ea5&#13;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ru.react.dev/reference/react/useLayoutEffect&#13;" TargetMode="External"/><Relationship Id="rId1" Type="http://schemas.openxmlformats.org/officeDocument/2006/relationships/hyperlink" Target="https://gist.github.com/sunmeat/de9253cc22e3fc96ff0a2527c3bd10a9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f936b81137807ad3abb12cd549ebd793&#13;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9fa7ca42f785a682a3a7da9093f2c15d&#13;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c2fee1abc49277b19c12374455b9ea7c&#13;" TargetMode="External"/><Relationship Id="rId1" Type="http://schemas.openxmlformats.org/officeDocument/2006/relationships/hyperlink" Target="https://gist.github.com/sunmeat/f662a255b36a31fc8844e4dc953e75f1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eact.dev/reference/react/createContext&#13;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f17ed59300f3600af50168a5b4f29af4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dbf4b63ef9875b5de38758b5cc0dcacc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304deef8-f378-4a9d-8a55-4643bbf38580/uk" TargetMode="External"/><Relationship Id="rId1" Type="http://schemas.openxmlformats.org/officeDocument/2006/relationships/hyperlink" Target="https://materials.itstep.org/content/b35bff46-f757-4795-b86f-6350363c5435/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Side Effects. Context API</a:t>
            </a:r>
            <a:endParaRPr 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169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J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en-US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2" name="Picture 1" descr="6kra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120" y="3305810"/>
            <a:ext cx="2646045" cy="37039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побічні ефекти?</a:t>
            </a:r>
            <a:endParaRPr lang="en-US" altLang="en-US" sz="3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І знову трохи про хук useEffect</a:t>
            </a:r>
            <a:endParaRPr lang="en-US" altLang="en-US" sz="3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Reducer</a:t>
            </a:r>
            <a:endParaRPr lang="en-US" altLang="en-US" sz="3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Хук useReducer</a:t>
            </a:r>
            <a:endParaRPr lang="en-US" altLang="en-US" sz="3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React контекст</a:t>
            </a:r>
            <a:endParaRPr lang="en-US" altLang="en-US" sz="3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Хук useContext</a:t>
            </a:r>
            <a:endParaRPr lang="en-US" altLang="en-US" sz="3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Практичні приклади використання</a:t>
            </a:r>
            <a:endParaRPr lang="en-US" altLang="en-US" sz="3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проєкту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VS Code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У терміналі VS Code: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Виходимо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на робочий стіл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Створюємо проєкт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create vite@latest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Вводимо ім’я проєкту, наприклад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hellovite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фреймворк React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мову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JavaScript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(або TypeScript)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hellovite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(переходимо в папку проєкту)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install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(встановлюємо залежності)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run dev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 (запускаємо проєкт)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або навіть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npx vite --open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Створення проєкту в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WebStorm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5-05-09 173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631950"/>
            <a:ext cx="8895080" cy="46907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побічні ефекти?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Побічний ефект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у React — це будь-яка дія, яка впливає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на будь-що за межами області виконання функції, наприклад, взаємодія з DOM браузера, виконання мережевих запитів, встановлення таймерів або зміна зовнішнього стану (наприклад, localStorage, API або підписки).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У функціональних компонентах фаза рендерингу React повинна бути чистою, тобто функція рендерингу повинна тільки обчислювати інтерфейс користувача</a:t>
            </a:r>
            <a:r>
              <a:rPr lang="uk-UA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на основі пропсів і стану, без виклику побічних ефектів.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Побічні ефекти зазвичай обробляються у спеціальних фазах життєвого циклу або за допомогою хуків,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щоб забезпечити передбачувану поведінку.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побічних ефектів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Запит даних із сервера (наприклад, через API)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Оновлення заголовка сторінки або пряма зміна DOM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Установка слухачів подій або таймерів (наприклад, setInterval)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Взаємодія з API браузера, такими як localStorage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або sessionStorage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Підписка на зовнішні сервіси (наприклад, WebSocket, Firebase Realtime Database / Firestore, будь-яка реакція на події поза React-додатком — наприклад, коли сервер надсилає оновлення, і це має відразу відобразитися в UI)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Навіщо керувати ПЕ?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Неправильне керування побічними ефектами може призвести до помилок або проблем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із продуктивністю. Наприклад, виконання побічного ефекту під час рендерингу може спричинити неузгоджені оновлення інтерфейсу або витоку пам'яті.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React надає хук </a:t>
            </a: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useEffect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для безпечної обробки побічних ефектів, гарантуючи їх виконання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у потрібний момент життєвого циклу компонент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(після рендерингу, монтування чи оновлення).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Рекомендації по роботі з ПЕ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Хук useEffect використовується для побічних ефектів замість їх виконання у фазі рендерингу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Побічні ефекти потрібно завжди очищати (наприклад, потрібно видаляти таймери або відписуватись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від підписок), щоб уникнути витоків пам'яті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Надмірного використання побічних ефектів слід уникати - якщо обчислення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чисте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(додавання              2 чисел, форматування/визначення довжини рядка, фільтрація масиву), його можна виконувати в рендері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useEffect використовує масив залежностей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для контролю виконання ефектів, мінімізуючи непотрібні виклики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Хук useEffect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Хук useEffect - це основний інструмент React для керування побічними ефектами у функціональних компонентах.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Основні характеристики: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Синтаксис -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useEffect(callback, [dependencies])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callback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– функція, що містить логіку побічного ефекту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dependencies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– необов'язковий масив значень, від яких залежить ефект. Ефект виконується при зміні будь-якого значення в масиві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Час виконання – ефекти виконуються після того, як браузер відмалював оновлений DOM, що робить їх асинхронними та неблокуючими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Очищення - сallback-функція може повертати функцію очищення, яка виконується перед наступним ефектом або при розмонтуванні компонента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5565" y="6395720"/>
            <a:ext cx="9029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https://gist.github.com/sunmeat/4ce7d5ce017ee78d64438508ccb64ea5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Коли потрібен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useEffect</a:t>
            </a:r>
            <a:r>
              <a:rPr lang="ru-RU" altLang="en-US" sz="4200" dirty="0" err="1">
                <a:solidFill>
                  <a:schemeClr val="bg1"/>
                </a:solidFill>
                <a:ea typeface="Microsoft YaHei" panose="020B0503020204020204" charset="-122"/>
              </a:rPr>
              <a:t> </a:t>
            </a:r>
            <a:endParaRPr lang="ru-RU" altLang="en-US" sz="4200" dirty="0" err="1">
              <a:solidFill>
                <a:schemeClr val="bg1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завантаження даних (наприклад, запити до API)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налаштування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підписок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(наприклад, WebSocket або слухачі подій)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оновлення DOM або API браузера (наприклад, document.title)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логування чи аналітики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https://gist.github.com/sunmeat/de9253cc22e3fc96ff0a2527c3bd10a9</a:t>
            </a:r>
            <a:endParaRPr lang="en-US" altLang="en-US" sz="18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Рекомендації: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Вказувати всі значення, що використовуються в ефекті,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масив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залежностей, щоб уникнути проблем зі старими даними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Роз'єднувати незв'язані ефекти на окремі виклики, використовуючи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декілька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ефект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ів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для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наочності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Уникати синхронних ефектів (наприклад, вимірювання макету)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при використанн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useEffect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таких випадків є хук useLayoutEffect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0170" y="6395720"/>
            <a:ext cx="89566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https://ru.react.dev/reference/react/useLayoutEffect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Reducer?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b="1" dirty="0" err="1">
                <a:solidFill>
                  <a:schemeClr val="tx1"/>
                </a:solidFill>
                <a:ea typeface="Microsoft YaHei" panose="020B0503020204020204" charset="-122"/>
              </a:rPr>
              <a:t>Reducer </a:t>
            </a: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– це чиста функція, яка приймає поточний стан та дію (action), а потім повертає новий стан на основі типу дії. Reducer широко використовується в бібліотеках управління станом, таких як </a:t>
            </a:r>
            <a:r>
              <a:rPr lang="en-US" altLang="en-US" sz="2700" b="1" dirty="0" err="1">
                <a:solidFill>
                  <a:schemeClr val="tx1"/>
                </a:solidFill>
                <a:ea typeface="Microsoft YaHei" panose="020B0503020204020204" charset="-122"/>
              </a:rPr>
              <a:t>Redux</a:t>
            </a: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, але також доступний </a:t>
            </a:r>
            <a:r>
              <a:rPr lang="uk-UA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в React через хук </a:t>
            </a:r>
            <a:r>
              <a:rPr lang="en-US" altLang="en-US" sz="2700" b="1" dirty="0" err="1">
                <a:solidFill>
                  <a:schemeClr val="tx1"/>
                </a:solidFill>
                <a:ea typeface="Microsoft YaHei" panose="020B0503020204020204" charset="-122"/>
              </a:rPr>
              <a:t>useReducer</a:t>
            </a: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endParaRPr lang="en-US" altLang="en-US" sz="2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Редюсер ідеально підходить для керування складною логікою стану, коли переходи залежать від попереднього стану або охоплюють кілька дій.</a:t>
            </a:r>
            <a:endParaRPr lang="en-US" altLang="en-US" sz="2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Синтаксис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Reducer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const reducer = (state, action) =&gt; {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  switch (action.type) {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    case 'ACTION_TYPE':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      return { ...state, </a:t>
            </a:r>
            <a:r>
              <a:rPr lang="en-US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/* </a:t>
            </a:r>
            <a:r>
              <a:rPr lang="uk-UA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оновлений </a:t>
            </a:r>
            <a:r>
              <a:rPr lang="uk-UA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стан</a:t>
            </a:r>
            <a:r>
              <a:rPr lang="en-US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*/</a:t>
            </a: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 };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    default: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      return state;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  }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};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Хук useReducer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Хук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useReducer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це альтернатива useState для керування станом у функціональних компонентах, особливо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при складній логіці або множинних значеннях стану.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const [state, dispatch] = useReducer(reducer, initialState);</a:t>
            </a:r>
            <a:endParaRPr lang="en-US" altLang="en-US" sz="22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reducer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– функція-редюсер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initialState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початковий стан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state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поточний стан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dispatch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функція для надсилання дій до редюсера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5565" y="6395720"/>
            <a:ext cx="89554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https://gist.github.com/sunmeat/f936b81137807ad3abb12cd549ebd793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1012888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Коли потрібен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useReducer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Коли логіка стану включає кілька дій або складні переходи (наприклад, форма з безліччю полів)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Коли наступний стан залежить від попереднього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Коли потрібно централізувати оновлення стану в одній функції-редюсері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Рекомендації: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Редюсери повинні бути чистими - вони не повинні викликати побічні ефекти або залежати від зовнішніх змінних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У кейсах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використовуються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описові типи дій (наприклад, 'INCREMENT' замість 'inc')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У невеликих проектах замість Redux використовується саме useReducer з useContext для управління глобальним станом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така назва, редьюсер?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Термін редюсер (reducer) походить </a:t>
            </a:r>
            <a:r>
              <a:rPr lang="uk-UA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з функціонального програмування, зокрема, </a:t>
            </a:r>
            <a:r>
              <a:rPr lang="uk-UA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з концепції, яка використовується у функціях </a:t>
            </a:r>
            <a:r>
              <a:rPr lang="uk-UA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на кшталт</a:t>
            </a:r>
            <a:r>
              <a:rPr lang="en-US" altLang="en-US" sz="2600" b="1" dirty="0" err="1">
                <a:solidFill>
                  <a:schemeClr val="tx1"/>
                </a:solidFill>
                <a:ea typeface="Microsoft YaHei" panose="020B0503020204020204" charset="-122"/>
              </a:rPr>
              <a:t> Array.prototype.reduce() 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JavaScript.</a:t>
            </a:r>
            <a:endParaRPr lang="en-US" altLang="en-US" sz="2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Редюсер - це чиста функція, яка приймає поточний стан (</a:t>
            </a:r>
            <a:r>
              <a:rPr lang="en-US" altLang="en-US" sz="2600" b="1" dirty="0" err="1">
                <a:solidFill>
                  <a:schemeClr val="tx1"/>
                </a:solidFill>
                <a:ea typeface="Microsoft YaHei" panose="020B0503020204020204" charset="-122"/>
              </a:rPr>
              <a:t>state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) та дію (</a:t>
            </a:r>
            <a:r>
              <a:rPr lang="en-US" altLang="en-US" sz="2600" b="1" dirty="0" err="1">
                <a:solidFill>
                  <a:schemeClr val="tx1"/>
                </a:solidFill>
                <a:ea typeface="Microsoft YaHei" panose="020B0503020204020204" charset="-122"/>
              </a:rPr>
              <a:t>action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) і повертає новий стан, "зводячи" (</a:t>
            </a:r>
            <a:r>
              <a:rPr lang="en-US" altLang="en-US" sz="2600" b="1" dirty="0" err="1">
                <a:solidFill>
                  <a:schemeClr val="tx1"/>
                </a:solidFill>
                <a:ea typeface="Microsoft YaHei" panose="020B0503020204020204" charset="-122"/>
              </a:rPr>
              <a:t>reducing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) їх до одного результату.</a:t>
            </a:r>
            <a:endParaRPr lang="en-US" altLang="en-US" sz="2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Назва відображає процес "редукції" даних: перетворення вхідних даних (стан + дія) </a:t>
            </a:r>
            <a:r>
              <a:rPr lang="uk-UA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на новий стан.</a:t>
            </a:r>
            <a:endParaRPr lang="en-US" altLang="en-US" sz="2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Випадки використання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Складна логіка стану: Коли стан компонента або програми має кілька взаємопов'язаних значень, і оновлення залежать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від поточного стану (наприклад,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форма з безліччю полів      та валідацією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Багатокрокові дії: Управління послідовними діями, наприклад,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покроковий візард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(багатоетапна форма), де кожна дія змінює стан передбачуваним чином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Глобальний стан: У зв'язку з useContext редюсер допомагає керувати станом, що поділяється між декількома компонентами (наприклад,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тема </a:t>
            </a: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додатку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: світла/темна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Налагодження та тестування: Редюсери, як чисті функції,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легко тестувати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, оскільки вони передбачувані та не мають побічних ефектів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5410" y="6395720"/>
            <a:ext cx="8999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https://gist.github.com/sunmeat/9fa7ca42f785a682a3a7da9093f2c15d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Ще випадки використання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Синхронізація даних: Коли потрібно синхронізувати стан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між кількома компонентами, наприклад,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у додатку для спільної роботи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(real-time collaboration)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Управління послідовними станами для анімацій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де кожна дія (наприклад, "старт", "пауза", "завершення") змінює стан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 іграх, де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стан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(наприклад, окуляри, рівень, здоров'я)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оновлюється залежно від дій гравця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Управління асинхронними операціями: У зв'язці з useEffect редюсери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допомагають керувати станами завантаження, успіху або помилки при роботі з API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Коли потрібно розділити логіку управління станом на незалежні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редюсери для різних модулів програми (наприклад, кошик, профіль, каталог)) 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https://gist.github.com/sunmeat/f662a255b36a31fc8844e4dc953e75f1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0170" y="6395720"/>
            <a:ext cx="89706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https://gist.github.com/sunmeat/c2fee1abc49277b19c12374455b9ea7c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Context?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React Context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– це механізм, який дозволяє передавати дані (наприклад, стан, функції) через дерево компонентів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без необхідності передавати вручну пропси на кожному рівні. Він корисний для глобальних даних, таких як теми, дані автентифікації або налаштування програми.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Основні компоненти: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React.createContext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створює об'єкт контексту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 компонентами Provider та Consumer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Provider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компонент, що надає значення контексту всім дочірнім компонентам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Consumer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чи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useContext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використовуються для доступу до значення контексту в компоненті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4140" y="6395720"/>
            <a:ext cx="89566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https://react.dev/reference/react/createContext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Коли потрібен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Context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62915" y="1430655"/>
            <a:ext cx="816292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глобального стану, до якого повинні мати доступ кілька компонентів (наприклад, тема чи дані користувача)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Щоб уникнути зайвого перекидання пропсів (prop drilling) через проміжні компоненти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Часто комбінується з використанням Reducer або useState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для управління глобальним станом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Обмеження та рекомендації: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Оновлення контексту викликають повторний рендеринг всіх компонентів-споживачів, це може вплинути на швидкість відображення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Рекомендується уникати використання контексту для даних, що часто змінюються; для складних випадків використовується Redux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різних завдань використовують різні контексти (наприклад,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один для теми, інший для даних користувача), це мінімізує рендери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Хук useContext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Хук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useContext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спрощує доступ до значень контексту у функціональних компонентах, усуваючи необхідність використання компонента Consumer.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const value = useContext(Context);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Context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- об'єкт контексту, створений за допомогою React.createContext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value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- поточне значення, надане найближчим Provider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над компонентом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Коли використовувати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useContext: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доступу до глобального стану або функцій у глибоко вкладених компонентах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спрощення коду порівняно з використанням компонента Consumer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Часто використовується з використанням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useReducer для управління глобальним станом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useContext: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теми</a:t>
            </a:r>
            <a:endParaRPr lang="ru-RU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https://gist.github.com/sunmeat/f17ed59300f3600af50168a5b4f29af4</a:t>
            </a:r>
            <a:endParaRPr lang="en-US" altLang="en-US" sz="3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useContext: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автентифікація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https://gist.github.com/sunmeat/dbf4b63ef9875b5de38758b5cc0dcacc</a:t>
            </a:r>
            <a:endParaRPr lang="en-US" altLang="en-US" sz="3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ea typeface="Microsoft YaHei" panose="020B0503020204020204" charset="-122"/>
              </a:rPr>
              <a:t>Застосувати useReducer + useContext </a:t>
            </a:r>
            <a:r>
              <a:rPr lang="uk-UA" altLang="en-US" sz="32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3200" dirty="0" err="1">
                <a:solidFill>
                  <a:schemeClr val="tx1"/>
                </a:solidFill>
                <a:ea typeface="Microsoft YaHei" panose="020B0503020204020204" charset="-122"/>
              </a:rPr>
              <a:t>для керування станом авт</a:t>
            </a:r>
            <a:r>
              <a:rPr lang="uk-UA" altLang="en-US" sz="3200" dirty="0" err="1">
                <a:solidFill>
                  <a:schemeClr val="tx1"/>
                </a:solidFill>
                <a:ea typeface="Microsoft YaHei" panose="020B0503020204020204" charset="-122"/>
              </a:rPr>
              <a:t>ентифікації.</a:t>
            </a:r>
            <a:endParaRPr lang="uk-UA" altLang="en-US" sz="3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https://materials.itstep.org/content/b35bff46-f757-4795-b86f-6350363c5435/uk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https://materials.itstep.org/content/304deef8-f378-4a9d-8a55-4643bbf38580/uk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160F757-93B6-4994-8DDA-D47E10255CC1}"/>
</file>

<file path=customXml/itemProps2.xml><?xml version="1.0" encoding="utf-8"?>
<ds:datastoreItem xmlns:ds="http://schemas.openxmlformats.org/officeDocument/2006/customXml" ds:itemID="{B363F177-A878-4200-9A02-3254660857BB}"/>
</file>

<file path=customXml/itemProps3.xml><?xml version="1.0" encoding="utf-8"?>
<ds:datastoreItem xmlns:ds="http://schemas.openxmlformats.org/officeDocument/2006/customXml" ds:itemID="{4EF79212-1FD3-45A1-9FD8-6D947C3C6E4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10084</Words>
  <Application>WPS Presentation</Application>
  <PresentationFormat/>
  <Paragraphs>196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76</cp:revision>
  <dcterms:created xsi:type="dcterms:W3CDTF">2005-09-22T16:26:00Z</dcterms:created>
  <dcterms:modified xsi:type="dcterms:W3CDTF">2026-06-17T13:13:21Z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