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ommentAuthors.xml" ContentType="application/vnd.openxmlformats-officedocument.presentationml.commentAuthor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256" r:id="rId4"/>
    <p:sldId id="257" r:id="rId6"/>
    <p:sldId id="592" r:id="rId7"/>
    <p:sldId id="678" r:id="rId8"/>
    <p:sldId id="679" r:id="rId9"/>
    <p:sldId id="680" r:id="rId10"/>
    <p:sldId id="681" r:id="rId11"/>
    <p:sldId id="682" r:id="rId12"/>
    <p:sldId id="683" r:id="rId13"/>
    <p:sldId id="684" r:id="rId14"/>
    <p:sldId id="685" r:id="rId15"/>
    <p:sldId id="686" r:id="rId16"/>
    <p:sldId id="687" r:id="rId17"/>
    <p:sldId id="688" r:id="rId18"/>
    <p:sldId id="689" r:id="rId19"/>
    <p:sldId id="694" r:id="rId20"/>
    <p:sldId id="695" r:id="rId21"/>
    <p:sldId id="690" r:id="rId22"/>
    <p:sldId id="691" r:id="rId23"/>
    <p:sldId id="288" r:id="rId24"/>
  </p:sldIdLst>
  <p:sldSz cx="9144000" cy="6858000" type="screen4x3"/>
  <p:notesSz cx="6858000" cy="9144000"/>
  <p:defaultTextStyle>
    <a:defPPr>
      <a:defRPr lang="en-GB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Microsoft YaHei" panose="020B0503020204020204" charset="-122"/>
        <a:cs typeface="+mn-cs"/>
      </a:defRPr>
    </a:lvl1pPr>
    <a:lvl2pPr marL="742950" lvl="1" indent="-28575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2pPr>
    <a:lvl3pPr marL="1143000" lvl="2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3pPr>
    <a:lvl4pPr marL="1600200" lvl="3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4pPr>
    <a:lvl5pPr marL="2057400" lvl="4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5pPr>
    <a:lvl6pPr marL="2286000" lvl="5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6pPr>
    <a:lvl7pPr marL="2743200" lvl="6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7pPr>
    <a:lvl8pPr marL="3200400" lvl="7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8pPr>
    <a:lvl9pPr marL="3657600" lvl="8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3" userDrawn="1">
          <p15:clr>
            <a:srgbClr val="A4A3A4"/>
          </p15:clr>
        </p15:guide>
        <p15:guide id="2" pos="286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-780" y="-84"/>
      </p:cViewPr>
      <p:guideLst>
        <p:guide orient="horz" pos="2293"/>
        <p:guide pos="2861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26" Type="http://schemas.openxmlformats.org/officeDocument/2006/relationships/viewProps" Target="viewProps.xml"/><Relationship Id="rId18" Type="http://schemas.openxmlformats.org/officeDocument/2006/relationships/slide" Target="slides/slide14.xml"/><Relationship Id="rId13" Type="http://schemas.openxmlformats.org/officeDocument/2006/relationships/slide" Target="slides/slide9.xml"/><Relationship Id="rId3" Type="http://schemas.openxmlformats.org/officeDocument/2006/relationships/slideMaster" Target="slideMasters/slideMaster2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25" Type="http://schemas.openxmlformats.org/officeDocument/2006/relationships/presProps" Target="presProps.xml"/><Relationship Id="rId17" Type="http://schemas.openxmlformats.org/officeDocument/2006/relationships/slide" Target="slides/slide13.xml"/><Relationship Id="rId12" Type="http://schemas.openxmlformats.org/officeDocument/2006/relationships/slide" Target="slides/slide8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6" Type="http://schemas.openxmlformats.org/officeDocument/2006/relationships/slide" Target="slides/slide12.xml"/><Relationship Id="rId29" Type="http://schemas.openxmlformats.org/officeDocument/2006/relationships/customXml" Target="../customXml/item1.xml"/><Relationship Id="rId6" Type="http://schemas.openxmlformats.org/officeDocument/2006/relationships/slide" Target="slides/slide2.xml"/><Relationship Id="rId24" Type="http://schemas.openxmlformats.org/officeDocument/2006/relationships/slide" Target="slides/slide20.xml"/><Relationship Id="rId11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8" Type="http://schemas.openxmlformats.org/officeDocument/2006/relationships/commentAuthors" Target="commentAuthors.xml"/><Relationship Id="rId23" Type="http://schemas.openxmlformats.org/officeDocument/2006/relationships/slide" Target="slides/slide19.xml"/><Relationship Id="rId15" Type="http://schemas.openxmlformats.org/officeDocument/2006/relationships/slide" Target="slides/slide11.xml"/><Relationship Id="rId19" Type="http://schemas.openxmlformats.org/officeDocument/2006/relationships/slide" Target="slides/slide15.xml"/><Relationship Id="rId10" Type="http://schemas.openxmlformats.org/officeDocument/2006/relationships/slide" Target="slides/slide6.xml"/><Relationship Id="rId31" Type="http://schemas.openxmlformats.org/officeDocument/2006/relationships/customXml" Target="../customXml/item3.xml"/><Relationship Id="rId9" Type="http://schemas.openxmlformats.org/officeDocument/2006/relationships/slide" Target="slides/slide5.xml"/><Relationship Id="rId4" Type="http://schemas.openxmlformats.org/officeDocument/2006/relationships/slide" Target="slides/slide1.xml"/><Relationship Id="rId27" Type="http://schemas.openxmlformats.org/officeDocument/2006/relationships/tableStyles" Target="tableStyles.xml"/><Relationship Id="rId22" Type="http://schemas.openxmlformats.org/officeDocument/2006/relationships/slide" Target="slides/slide18.xml"/><Relationship Id="rId14" Type="http://schemas.openxmlformats.org/officeDocument/2006/relationships/slide" Target="slides/slide10.xml"/><Relationship Id="rId30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ounded Rectangle 3072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099" name="Rounded Rectangle 3073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0" name="Text Box 3074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1" name="Text Box 3075"/>
          <p:cNvSpPr txBox="1"/>
          <p:nvPr/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2" name="Slide Image Placeholder 3076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68825" cy="3425825"/>
          </a:xfrm>
          <a:prstGeom prst="rect">
            <a:avLst/>
          </a:prstGeom>
          <a:noFill/>
          <a:ln w="936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3" name="Text Placeholder 3077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endParaRPr lang="en-GB"/>
          </a:p>
        </p:txBody>
      </p:sp>
      <p:sp>
        <p:nvSpPr>
          <p:cNvPr id="4104" name="Text Box 3078"/>
          <p:cNvSpPr txBox="1"/>
          <p:nvPr/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80" name="Slide Number Placeholder 3079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 eaLnBrk="1" fontAlgn="base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strike="noStrike" noProof="1" dirty="0" err="1">
                <a:latin typeface="Times New Roman" panose="02020603050405020304" pitchFamily="16" charset="0"/>
                <a:ea typeface="Arial Unicode MS" charset="-122"/>
                <a:cs typeface="+mn-cs"/>
              </a:rPr>
            </a:fld>
            <a:endParaRPr lang="ru-RU" altLang="x-none" sz="1200" strike="noStrike" noProof="1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1pPr>
    <a:lvl2pPr marL="742950" lvl="1" indent="-28575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2pPr>
    <a:lvl3pPr marL="1143000" lvl="2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3pPr>
    <a:lvl4pPr marL="1600200" lvl="3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4pPr>
    <a:lvl5pPr marL="2057400" lvl="4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5pPr>
    <a:lvl6pPr marL="2286000" lvl="5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6pPr>
    <a:lvl7pPr marL="2743200" lvl="6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7pPr>
    <a:lvl8pPr marL="3200400" lvl="7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8pPr>
    <a:lvl9pPr marL="3657600" lvl="8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6147" name="Slide Image Placeholder 38912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6148" name="Text Placeholder 38913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8195" name="Slide Image Placeholder 39936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8196" name="Text Placeholder 39937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830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98307" name="Slide Image Placeholder 71680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98308" name="Text Placeholder 71681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4"/>
          <p:cNvGrpSpPr/>
          <p:nvPr/>
        </p:nvGrpSpPr>
        <p:grpSpPr>
          <a:xfrm>
            <a:off x="0" y="152400"/>
            <a:ext cx="8683625" cy="6092825"/>
            <a:chOff x="0" y="96"/>
            <a:chExt cx="5470" cy="3838"/>
          </a:xfrm>
        </p:grpSpPr>
        <p:sp>
          <p:nvSpPr>
            <p:cNvPr id="1027" name="Rounded Rectangle 1025"/>
            <p:cNvSpPr/>
            <p:nvPr/>
          </p:nvSpPr>
          <p:spPr>
            <a:xfrm>
              <a:off x="240" y="336"/>
              <a:ext cx="5230" cy="3598"/>
            </a:xfrm>
            <a:prstGeom prst="roundRect">
              <a:avLst>
                <a:gd name="adj" fmla="val 1372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28" name="Freeform 1026"/>
            <p:cNvSpPr/>
            <p:nvPr/>
          </p:nvSpPr>
          <p:spPr>
            <a:xfrm>
              <a:off x="0" y="96"/>
              <a:ext cx="5374" cy="7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2"/>
                </a:cxn>
              </a:cxnLst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29" name="Straight Connector 1027"/>
            <p:cNvSpPr/>
            <p:nvPr/>
          </p:nvSpPr>
          <p:spPr>
            <a:xfrm>
              <a:off x="0" y="768"/>
              <a:ext cx="5086" cy="0"/>
            </a:xfrm>
            <a:prstGeom prst="line">
              <a:avLst/>
            </a:prstGeom>
            <a:ln w="381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30" name="Title 1028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1031" name="Text Placeholder 1029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1032" name="Text Box 1030"/>
          <p:cNvSpPr txBox="1"/>
          <p:nvPr/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33" name="Text Box 10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1032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>
              <a:buFontTx/>
              <a:defRPr/>
            </a:lvl1pPr>
          </a:lstStyle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Group 2048"/>
          <p:cNvGrpSpPr/>
          <p:nvPr/>
        </p:nvGrpSpPr>
        <p:grpSpPr>
          <a:xfrm>
            <a:off x="0" y="927100"/>
            <a:ext cx="8988425" cy="4492625"/>
            <a:chOff x="0" y="584"/>
            <a:chExt cx="5662" cy="2830"/>
          </a:xfrm>
        </p:grpSpPr>
        <p:sp>
          <p:nvSpPr>
            <p:cNvPr id="2051" name="Rounded Rectangle 2049"/>
            <p:cNvSpPr/>
            <p:nvPr/>
          </p:nvSpPr>
          <p:spPr>
            <a:xfrm>
              <a:off x="432" y="1304"/>
              <a:ext cx="4654" cy="2110"/>
            </a:xfrm>
            <a:prstGeom prst="roundRect">
              <a:avLst>
                <a:gd name="adj" fmla="val 1666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2" name="Rectangles 2050"/>
            <p:cNvSpPr/>
            <p:nvPr/>
          </p:nvSpPr>
          <p:spPr>
            <a:xfrm>
              <a:off x="144" y="584"/>
              <a:ext cx="4510" cy="622"/>
            </a:xfrm>
            <a:prstGeom prst="rect">
              <a:avLst/>
            </a:prstGeom>
            <a:solidFill>
              <a:srgbClr val="FFFFFF"/>
            </a:solidFill>
            <a:ln w="5724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3" name="Freeform 2051"/>
            <p:cNvSpPr/>
            <p:nvPr/>
          </p:nvSpPr>
          <p:spPr>
            <a:xfrm>
              <a:off x="0" y="872"/>
              <a:ext cx="5662" cy="11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8537909" y="0"/>
                </a:cxn>
                <a:cxn ang="0">
                  <a:pos x="198785821" y="20342807"/>
                </a:cxn>
                <a:cxn ang="0">
                  <a:pos x="178577890" y="40617799"/>
                </a:cxn>
                <a:cxn ang="0">
                  <a:pos x="0" y="40617799"/>
                </a:cxn>
              </a:cxnLst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4" name="Straight Connector 2052"/>
            <p:cNvSpPr/>
            <p:nvPr/>
          </p:nvSpPr>
          <p:spPr>
            <a:xfrm>
              <a:off x="0" y="1928"/>
              <a:ext cx="5230" cy="0"/>
            </a:xfrm>
            <a:prstGeom prst="line">
              <a:avLst/>
            </a:prstGeom>
            <a:ln w="507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55" name="Title 2053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2056" name="Text Placeholder 2054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2057" name="Text Box 2055"/>
          <p:cNvSpPr txBox="1"/>
          <p:nvPr/>
        </p:nvSpPr>
        <p:spPr>
          <a:xfrm>
            <a:off x="457200" y="6248400"/>
            <a:ext cx="2133600" cy="471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58" name="Text Box 2056"/>
          <p:cNvSpPr txBox="1"/>
          <p:nvPr/>
        </p:nvSpPr>
        <p:spPr>
          <a:xfrm>
            <a:off x="3124200" y="62531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2057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68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 algn="r">
              <a:buFontTx/>
              <a:defRPr sz="1200">
                <a:latin typeface="Arial Black" panose="020B0A04020102020204" pitchFamily="32" charset="0"/>
                <a:ea typeface="Arial Unicode MS" charset="-122"/>
              </a:defRPr>
            </a:lvl1pPr>
          </a:lstStyle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444e2025745e84679c8d8b53a7de3292&#13;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9f7005818d5d69b495fefc29771601c8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db49747833de341eb3a0e022f65eaf0a&#13;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hyperlink" Target="https://gist.github.com/sunmeat/69928361e5087fef422234cf55344542&#13;" TargetMode="Externa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materials.itstep.org/content/63a814dd-3e3a-4281-85b1-6c5ab033cb5a/uk&#13;" TargetMode="External"/><Relationship Id="rId1" Type="http://schemas.openxmlformats.org/officeDocument/2006/relationships/hyperlink" Target="https://materials.itstep.org/content/7d55fb7e-ae9e-4d09-a0d2-804ca5517b35/uk&#13;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Text Box 4096"/>
          <p:cNvSpPr txBox="1"/>
          <p:nvPr/>
        </p:nvSpPr>
        <p:spPr>
          <a:xfrm>
            <a:off x="228600" y="1427163"/>
            <a:ext cx="8077200" cy="16097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Class Components</a:t>
            </a:r>
            <a:endParaRPr lang="en-US" sz="5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123" name="Rectangles 4097"/>
          <p:cNvSpPr/>
          <p:nvPr/>
        </p:nvSpPr>
        <p:spPr>
          <a:xfrm>
            <a:off x="5867400" y="44450"/>
            <a:ext cx="3280410" cy="36957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O</a:t>
            </a:r>
            <a:r>
              <a:rPr lang="ru-RU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лександр Загоруйко © 20</a:t>
            </a:r>
            <a:r>
              <a:rPr lang="en-US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2</a:t>
            </a: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6</a:t>
            </a:r>
            <a:endParaRPr lang="uk-UA" altLang="ru-RU" dirty="0" err="1">
              <a:solidFill>
                <a:srgbClr val="F7F7F7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 descr="118367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" y="3361690"/>
            <a:ext cx="3439795" cy="3439795"/>
          </a:xfrm>
          <a:prstGeom prst="rect">
            <a:avLst/>
          </a:prstGeom>
        </p:spPr>
      </p:pic>
      <p:pic>
        <p:nvPicPr>
          <p:cNvPr id="2" name="Picture 1" descr="phases-2d2987875c6143f9134076b9bffb088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990" y="4152265"/>
            <a:ext cx="5788660" cy="267462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План презентац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ії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- </a:t>
            </a:r>
            <a:r>
              <a:rPr lang="ru-RU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пар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Text Box 5121"/>
          <p:cNvSpPr txBox="1"/>
          <p:nvPr/>
        </p:nvSpPr>
        <p:spPr>
          <a:xfrm>
            <a:off x="476885" y="140398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Що таке класові компоненти?</a:t>
            </a:r>
            <a:endParaRPr lang="en-US" altLang="en-US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Відмінності класових </a:t>
            </a:r>
            <a:r>
              <a:rPr lang="uk-UA" altLang="en-US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                              </a:t>
            </a:r>
            <a:r>
              <a:rPr lang="en-US" altLang="en-US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та функціональних компонент</a:t>
            </a:r>
            <a:endParaRPr lang="en-US" altLang="en-US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Робота зі станом у класових компонентах</a:t>
            </a:r>
            <a:endParaRPr lang="en-US" altLang="en-US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Життєвий цикл класових компонент</a:t>
            </a:r>
            <a:endParaRPr lang="en-US" altLang="en-US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Методи обробки подій життєвого циклу</a:t>
            </a:r>
            <a:endParaRPr lang="en-US" altLang="en-US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Практичні приклади використання</a:t>
            </a:r>
            <a:endParaRPr lang="en-US" altLang="en-US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Класов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 компонент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У React існує два основних типи компонентів: класові компоненти та функціональні компоненти. </a:t>
            </a:r>
            <a:r>
              <a:rPr lang="uk-UA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   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З появою хуків (React Hooks) у версії 16.8 функціональні компоненти стали кращим вибором для більшості розробників, але класові компоненти, як і раніше, використовуються у певних сценаріях, особливо в legacy-коді. У цій презентації будуть детально розглянуті класові компоненти, їх відмінності від функціональних, керування станом, життєвий цикл, методи обробки подій </a:t>
            </a:r>
            <a:r>
              <a:rPr lang="uk-UA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       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та актуальність використання.</a:t>
            </a:r>
            <a:endParaRPr lang="en-US" altLang="en-US" sz="25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4200" dirty="0" err="1">
                <a:solidFill>
                  <a:srgbClr val="FFFFFF"/>
                </a:solidFill>
                <a:sym typeface="+mn-ea"/>
              </a:rPr>
              <a:t>Класов</a:t>
            </a:r>
            <a:r>
              <a:rPr lang="uk-UA" altLang="en-US" sz="4200" dirty="0" err="1">
                <a:solidFill>
                  <a:srgbClr val="FFFFFF"/>
                </a:solidFill>
                <a:sym typeface="+mn-ea"/>
              </a:rPr>
              <a:t>і</a:t>
            </a:r>
            <a:r>
              <a:rPr lang="ru-RU" altLang="en-US" sz="4200" dirty="0" err="1">
                <a:solidFill>
                  <a:srgbClr val="FFFFFF"/>
                </a:solidFill>
                <a:sym typeface="+mn-ea"/>
              </a:rPr>
              <a:t> компонент</a:t>
            </a: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и</a:t>
            </a:r>
            <a:endParaRPr lang="ru-RU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Класові компоненти React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— це компоненти, створені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за допомогою синтаксису класів ES6, які успадковуються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від React.Component. Вони надають вбудовані можливості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для управління станом та життєвим циклом компонента, що робить їх придатними для складних додатків, що потребують детального контролю за поведінкою компонента.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import React, { Component } from 'react';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class MyComponent extends Component {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  render() {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    return &lt;div&gt;Hello, World!&lt;/div&gt;;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  }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}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dirty="0" err="1">
                <a:solidFill>
                  <a:schemeClr val="bg1"/>
                </a:solidFill>
                <a:ea typeface="Microsoft YaHei" panose="020B0503020204020204" charset="-122"/>
                <a:sym typeface="+mn-ea"/>
              </a:rPr>
              <a:t>Відмінності класових компонентів </a:t>
            </a:r>
            <a:r>
              <a:rPr lang="uk-UA" altLang="en-US" sz="3200" dirty="0" err="1">
                <a:solidFill>
                  <a:schemeClr val="bg1"/>
                </a:solidFill>
                <a:ea typeface="Microsoft YaHei" panose="020B0503020204020204" charset="-122"/>
                <a:sym typeface="+mn-ea"/>
              </a:rPr>
              <a:t>        </a:t>
            </a:r>
            <a:r>
              <a:rPr lang="en-US" altLang="en-US" sz="3200" dirty="0" err="1">
                <a:solidFill>
                  <a:schemeClr val="bg1"/>
                </a:solidFill>
                <a:ea typeface="Microsoft YaHei" panose="020B0503020204020204" charset="-122"/>
                <a:sym typeface="+mn-ea"/>
              </a:rPr>
              <a:t>від функціональних</a:t>
            </a:r>
            <a:endParaRPr lang="en-US" altLang="en-US" sz="32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Класові компоненти мають метод </a:t>
            </a: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render()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, який є обов'язковим і повертає JSX для відображення інтерфейсу. Вони також підтримують локальний стан через </a:t>
            </a: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this.state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і методи життєвого циклу, такі як </a:t>
            </a: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componentDidMount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, </a:t>
            </a: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componentDidUpdate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і </a:t>
            </a: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componentWillUnmount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.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Особливості класових компонентів: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Використовують синтаксис ES6-класів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Успадковані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від React.Component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Вимагають методу render() для повернення JSX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Використовують це для доступу до пропсів, стану і методів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35255" y="6395720"/>
            <a:ext cx="889698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1" tooltip="" action="ppaction://hlinkfile"/>
              </a:rPr>
              <a:t>https://gist.github.com/sunmeat/444e2025745e84679c8d8b53a7de3292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chemeClr val="bg1"/>
                </a:solidFill>
                <a:sym typeface="+mn-ea"/>
              </a:rPr>
              <a:t>Керування станом</a:t>
            </a:r>
            <a:endParaRPr lang="uk-UA" altLang="en-US" sz="42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u="sng" dirty="0" err="1">
                <a:solidFill>
                  <a:schemeClr val="tx1"/>
                </a:solidFill>
                <a:ea typeface="Microsoft YaHei" panose="020B0503020204020204" charset="-122"/>
              </a:rPr>
              <a:t>Класові компоненти:</a:t>
            </a:r>
            <a:endParaRPr lang="en-US" altLang="en-US" sz="1800" u="sng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Стан зберігається в this.state і оновлюється через this.setState()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Ініціалізація стану відбувається у конструкторі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 constructor(props) {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       super(props);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lvl="1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this.state = { count: 0 };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lvl="1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this.setState({ count: this.state.count + 1 });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u="sng" dirty="0" err="1">
                <a:solidFill>
                  <a:schemeClr val="tx1"/>
                </a:solidFill>
                <a:ea typeface="Microsoft YaHei" panose="020B0503020204020204" charset="-122"/>
              </a:rPr>
              <a:t>Функціональні компоненти:</a:t>
            </a:r>
            <a:endParaRPr lang="en-US" altLang="en-US" sz="1800" u="sng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Стан керується за допомогою хука useState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Множинні стани можуть бути створені за допомогою кількох викликів useState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indent="4572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const [count, setCount] = useState(0);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indent="4572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setCount(count + 1);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Пор</a:t>
            </a:r>
            <a:r>
              <a:rPr lang="uk-UA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івняння ж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иттєвих циклів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u="sng" dirty="0" err="1">
                <a:solidFill>
                  <a:schemeClr val="tx1"/>
                </a:solidFill>
                <a:ea typeface="Microsoft YaHei" panose="020B0503020204020204" charset="-122"/>
              </a:rPr>
              <a:t>Класові компоненти:</a:t>
            </a:r>
            <a:endParaRPr lang="en-US" altLang="en-US" sz="1900" u="sng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Мають вбудовані методи життєвого циклу, такі як componentDidMount, componentDidUpdate, componentWillUnmount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Дозволяють виконувати дії на певних етапах життя компонента (монтування, оновлення, розмонтування)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u="sng" dirty="0" err="1">
                <a:solidFill>
                  <a:schemeClr val="tx1"/>
                </a:solidFill>
                <a:ea typeface="Microsoft YaHei" panose="020B0503020204020204" charset="-122"/>
              </a:rPr>
              <a:t>Функціональні компоненти:</a:t>
            </a:r>
            <a:endParaRPr lang="en-US" altLang="en-US" sz="1900" u="sng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Використовують хук useEffect для емуляції життєвого циклу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Один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метод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useEffect може замінити кілька методів життєвого циклу, але вимагає обережності з залежностями, щоб уникнути нескінченних циклів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https://gist.github.com/sunmeat/9f7005818d5d69b495fefc29771601c8</a:t>
            </a:r>
            <a:endParaRPr lang="en-US" altLang="en-US" sz="25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5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Обробка подій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u="sng" dirty="0" err="1">
                <a:solidFill>
                  <a:schemeClr val="tx1"/>
                </a:solidFill>
                <a:ea typeface="Microsoft YaHei" panose="020B0503020204020204" charset="-122"/>
              </a:rPr>
              <a:t>Класові компоненти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- методи для обробки подій зазвичай визначаються всередині класу і вимагають прив'язки (bind) у конструкторі, щоб this вказував на екземпляр класу.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class ClassComponent extends React.Component {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 constructor(props) {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   super(props);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   this.handleClick = </a:t>
            </a: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this.handleClick.bind(this);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 }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 handleClick() {</a:t>
            </a:r>
            <a:r>
              <a:rPr lang="ru-RU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console.log('Button clicked');</a:t>
            </a:r>
            <a:r>
              <a:rPr lang="ru-RU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}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}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u="sng" dirty="0" err="1">
                <a:solidFill>
                  <a:schemeClr val="tx1"/>
                </a:solidFill>
                <a:ea typeface="Microsoft YaHei" panose="020B0503020204020204" charset="-122"/>
              </a:rPr>
              <a:t>Функціональні компоненти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- обробники подій визначаються як звичайні функції або стрілочні функції, без необхідності прив'язки this.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5565" y="6395720"/>
            <a:ext cx="88944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1" tooltip="" action="ppaction://hlinkfile"/>
              </a:rPr>
              <a:t>https://gist.github.com/sunmeat/db49747833de341eb3a0e022f65eaf0a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chemeClr val="bg1"/>
                </a:solidFill>
                <a:sym typeface="+mn-ea"/>
              </a:rPr>
              <a:t>Продуктивність</a:t>
            </a:r>
            <a:endParaRPr lang="uk-UA" altLang="en-US" sz="42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u="sng" dirty="0" err="1">
                <a:solidFill>
                  <a:schemeClr val="tx1"/>
                </a:solidFill>
                <a:ea typeface="Microsoft YaHei" panose="020B0503020204020204" charset="-122"/>
              </a:rPr>
              <a:t>Класові компоненти:</a:t>
            </a:r>
            <a:endParaRPr lang="en-US" altLang="en-US" sz="1600" u="sng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Можуть бути менш продуктивними через необхідність створення екземплярів класу та обробки this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Вимагають більше коду для реалізації аналогічної функціональності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Підтримують успадкування через extends, що може призвести до складних </a:t>
            </a:r>
            <a:r>
              <a:rPr lang="uk-UA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та заплутаних ієрархій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Складніше тестувати через залежність від методів життєвого циклу і this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Вимагають імітації життєвого циклу </a:t>
            </a:r>
            <a:r>
              <a:rPr lang="uk-UA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на</a:t>
            </a: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 тестах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u="sng" dirty="0" err="1">
                <a:solidFill>
                  <a:schemeClr val="tx1"/>
                </a:solidFill>
                <a:ea typeface="Microsoft YaHei" panose="020B0503020204020204" charset="-122"/>
              </a:rPr>
              <a:t>Функціональні компоненти:</a:t>
            </a:r>
            <a:endParaRPr lang="en-US" altLang="en-US" sz="1600" u="sng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Легше оптимізувати для запобігання непотрібним рендерам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Менше накладних витрат, оскільки це просто функції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Використовують композицію (через props та хуки), що вважається кращою практикою, оскільки спрощує перевикористання логіки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Легше тестувати, оскільки вони є чистими функціями, що залежать тільки </a:t>
            </a:r>
            <a:r>
              <a:rPr lang="uk-UA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      </a:t>
            </a: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від параметрів вхідних (props)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Стан класових компонент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Стан (state) у класових компонентах - це об'єкт, який зберігає дані,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що впливають на рендеринг компонента. В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ін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ініціалізується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у конструкторі та оновлюється за допомогою методу this.setState().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Метод this.setState() викликає повторний рендеринг компонент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и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           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та використовується для оновлення стану. Він асинхронний і може приймати функцію для безпечного оновлення на основі попереднього стану: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this.setState((prevState) =&gt; ({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  count: prevState.count + 1</a:t>
            </a:r>
            <a:r>
              <a:rPr lang="ru-RU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}));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Стан не повинен змінюватись безпосередньо (this.state.count = 5 –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це помилка). Можна передати callback в setState, який виконається після оновлення стану: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this.setState({ count: this.state.count + 1 }, () =&gt; {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  console.log('State updated:', this.state.count);</a:t>
            </a:r>
            <a:r>
              <a:rPr lang="ru-RU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});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ЖЦ КК</a:t>
            </a:r>
            <a:endParaRPr lang="ru-RU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Життєвий цикл компонента React складається з трьох основних фаз: монтування, оновлення і розмонтування. Класові компоненти надають методи виконання коду кожному етапі.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1. Монтування (Mounting)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Коли компонент створюється та додається до DOM: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constructor()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: ініціалізація стану та прив'язка методів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static getDerivedStateFromProps(props, state)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: метод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для синхронізації стану з пропсами (рідко використовується)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render()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: повертає JSX для рендерингу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componentDidMount()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: викликається після вставки компонента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 DOM. Підходить для завантаження даних або налаштування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підписок</a:t>
            </a:r>
            <a:endParaRPr lang="uk-UA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4200" dirty="0" err="1">
                <a:solidFill>
                  <a:srgbClr val="FFFFFF"/>
                </a:solidFill>
                <a:sym typeface="+mn-ea"/>
              </a:rPr>
              <a:t>ЖЦ КК</a:t>
            </a:r>
            <a:endParaRPr lang="ru-RU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2. Оновлення (Updating)</a:t>
            </a:r>
            <a:endParaRPr lang="en-US" altLang="en-US" sz="21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Коли компонент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а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перемальовується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через зміни у пропсах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стані: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static getDerivedStateFromProps(props, state)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: оновлює стан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на основі нових пропсів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shouldComponentUpdate(nextProps, nextState)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: визначає,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чи потрібно перерендерувати компонент (для оптимізації)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render()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: повторний рендеринг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componentDidUpdate(prevProps, prevState)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: викликається після оновлення DOM, використовується для виконання побічних ефектів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4200" dirty="0" err="1">
                <a:solidFill>
                  <a:srgbClr val="FFFFFF"/>
                </a:solidFill>
                <a:sym typeface="+mn-ea"/>
              </a:rPr>
              <a:t>ЖЦ КК</a:t>
            </a:r>
            <a:endParaRPr lang="ru-RU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3. Розмонтування (Unmounting)</a:t>
            </a:r>
            <a:endParaRPr lang="en-US" altLang="en-US" sz="21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Коли компонент видаляється з DOM: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componentWillUnmount()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: викликається перед видаленням компонента, що використовується для очищення ресурсів (таймери,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підписки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)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4. Обробка помилок</a:t>
            </a:r>
            <a:endParaRPr lang="en-US" altLang="en-US" sz="21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static getDerivedStateFromError(error)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: оновлює стан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при помилці в дочірніх компонентах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componentDidCatch(error, info)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: логує помилки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Актуал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ь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н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сть </a:t>
            </a: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КК в %</a:t>
            </a:r>
            <a:endParaRPr lang="ru-RU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Станом на </a:t>
            </a:r>
            <a:r>
              <a:rPr lang="uk-UA" sz="2300" dirty="0" err="1">
                <a:solidFill>
                  <a:schemeClr val="tx1"/>
                </a:solidFill>
                <a:ea typeface="Microsoft YaHei" panose="020B0503020204020204" charset="-122"/>
              </a:rPr>
              <a:t>липень 2026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року функціональні компоненти </a:t>
            </a:r>
            <a:r>
              <a:rPr lang="uk-UA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з хуками домінують у нових React-проектах завдяки їх простоті, продуктивності та підтримці композиції.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Згідно з даними спільноти та опитувань розробників (наприклад, State of JS та опитування Stack Overflow):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Функціональні компоненти: ~85–90% нових проектів використовують функціональні компоненти із хуками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Класові компоненти: ~10–15% коду у нових проектах, але їхня частка </a:t>
            </a:r>
            <a:r>
              <a:rPr lang="uk-UA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значно 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вища у legacy-коді (~30–40% </a:t>
            </a:r>
            <a:r>
              <a:rPr lang="uk-UA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  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у про</a:t>
            </a:r>
            <a:r>
              <a:rPr lang="uk-UA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є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ктах, створених до 2019 року)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Важливість КК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Класові компоненти залишаються актуальними у таких випадках: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Legacy-код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: багато існуючих React-програм, створених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до появи хуків (до 2019 року), використовують класові компоненти. Підтримка та оновлення таких проектів потребу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є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знання класів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Error Boundaries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: функціональні компоненти не підтримують Error Boundaries, тому класові компоненти необхідні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   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для обробки помилок у дочірніх компонентах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Інші бібліотеки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: деякі бібліотеки (наприклад, старі версії Redux або специфічні UI-бібліотеки) можуть залежати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саме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від класових компонентів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Уподобання команди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: команди, які звикли до об'єктно-орієнтованого програмування, можуть віддавати перевагу класовим компонентам за їх структурований підхід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chemeClr val="bg1"/>
                </a:solidFill>
                <a:sym typeface="+mn-ea"/>
              </a:rPr>
              <a:t>Error Boundaries</a:t>
            </a:r>
            <a:endParaRPr lang="en-US" altLang="en-US" sz="42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Error Boundary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- це спеціальний компонент у React,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який перехоплює помилки JavaScript, що виникають у дочірніх компонентах під час рендерингу, і запобігає "краху" всієї програми. Він дозволяє відображати резервний UI (наприклад, повідомлення про помилку) замість зламаного компонента. Error Boundary працює тільки з класовими компонентами,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що реалізують методи static getDerivedStateFromError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або componentDidCatch. Хуки, такі як useEffect, не можуть перехоплювати помилки, тому для функціональних компонентів потрібні інші підходи.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Приклад використання: обертання частини програми в Error Boundary для показу користувачеві повідомлення про помилку під час збою.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4200" dirty="0" err="1">
                <a:solidFill>
                  <a:schemeClr val="bg1"/>
                </a:solidFill>
                <a:sym typeface="+mn-ea"/>
              </a:rPr>
              <a:t>При</a:t>
            </a:r>
            <a:r>
              <a:rPr lang="uk-UA" altLang="en-US" sz="4200" dirty="0" err="1">
                <a:solidFill>
                  <a:schemeClr val="bg1"/>
                </a:solidFill>
                <a:sym typeface="+mn-ea"/>
              </a:rPr>
              <a:t>клад на</a:t>
            </a:r>
            <a:r>
              <a:rPr lang="ru-RU" altLang="en-US" sz="4200" dirty="0" err="1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en-US" sz="4200" dirty="0" err="1">
                <a:solidFill>
                  <a:schemeClr val="bg1"/>
                </a:solidFill>
                <a:sym typeface="+mn-ea"/>
              </a:rPr>
              <a:t>Error Boundar</a:t>
            </a:r>
            <a:r>
              <a:rPr lang="ru-RU" altLang="en-US" sz="4200" dirty="0" err="1">
                <a:solidFill>
                  <a:schemeClr val="bg1"/>
                </a:solidFill>
                <a:sym typeface="+mn-ea"/>
              </a:rPr>
              <a:t>у</a:t>
            </a:r>
            <a:endParaRPr lang="ru-RU" altLang="en-US" sz="42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65976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class ErrorBoundary extends React.Component {</a:t>
            </a:r>
            <a:endParaRPr lang="en-US" altLang="en-US" sz="21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  state = { hasError: false };</a:t>
            </a:r>
            <a:endParaRPr lang="en-US" altLang="en-US" sz="21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  static getDerivedStateFromError(error) {</a:t>
            </a:r>
            <a:endParaRPr lang="en-US" altLang="en-US" sz="21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    return { hasError: true };</a:t>
            </a:r>
            <a:endParaRPr lang="en-US" altLang="en-US" sz="21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  }</a:t>
            </a:r>
            <a:endParaRPr lang="en-US" altLang="en-US" sz="21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  render() {</a:t>
            </a:r>
            <a:endParaRPr lang="en-US" altLang="en-US" sz="21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    if (this.state.hasError) </a:t>
            </a:r>
            <a:endParaRPr lang="en-US" altLang="en-US" sz="21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      return &lt;h1&gt;</a:t>
            </a:r>
            <a:r>
              <a:rPr lang="uk-UA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Щось пішло не так</a:t>
            </a: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.&lt;/h1&gt;;</a:t>
            </a:r>
            <a:endParaRPr lang="en-US" altLang="en-US" sz="21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    else return this.props.children;</a:t>
            </a:r>
            <a:endParaRPr lang="en-US" altLang="en-US" sz="21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  }</a:t>
            </a:r>
            <a:endParaRPr lang="en-US" altLang="en-US" sz="21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}</a:t>
            </a:r>
            <a:endParaRPr lang="en-US" altLang="en-US" sz="21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Тенденц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ії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Коли без класових компонентів не обійтися: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Error Boundaries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: це єдиний спосіб перехоплювати помилки у дочірніх компонентах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Складні legacy-проекти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: якщо проект використовує класові компоненти, їхнє переписування на функціональні може бути невиправдано витратним.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Специфічні випадки життєвого циклу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: у поодиноких випадках, 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коли потрібний точний контроль над методами життєвого циклу (наприклад, shouldComponentUpdate для оптимізації), класові компоненти можуть бути кращими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React-команда активно просуває функціональні компоненти та хуки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           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як стандарт для нових проектів. Класові компоненти не застаріли 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  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та підтримуються для зворотної сумісності, але їх використання у нових проектах скорочується. У довгостроковій перспективі (до 2027 рок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у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) очікується, що частка класових компонентів у нових про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є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ктах впаде до 5% або навіть менше.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нтернет-магазин на КК</a:t>
            </a:r>
            <a:endParaRPr lang="ru-RU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https://gist.github.com/sunmeat/69928361e5087fef422234cf55344542</a:t>
            </a:r>
            <a:endParaRPr lang="en-US" altLang="en-US" sz="25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8590" y="2303780"/>
            <a:ext cx="9530715" cy="45580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7282" name="Text Box 3686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  <a:sym typeface="+mn-ea"/>
              </a:rPr>
              <a:t>ДЗ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97283" name="Text Box 36865"/>
          <p:cNvSpPr txBox="1"/>
          <p:nvPr/>
        </p:nvSpPr>
        <p:spPr>
          <a:xfrm>
            <a:off x="534988" y="141287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latin typeface="Arial" panose="020B0604020202020204" pitchFamily="34" charset="0"/>
                <a:hlinkClick r:id="rId1" tooltip="" action="ppaction://hlinkfile"/>
              </a:rPr>
              <a:t>https://materials.itstep.org/content/7d55fb7e-ae9e-4d09-a0d2-804ca5517b35/uk</a:t>
            </a: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latin typeface="Arial" panose="020B0604020202020204" pitchFamily="34" charset="0"/>
                <a:hlinkClick r:id="rId2" tooltip="" action="ppaction://hlinkfile"/>
              </a:rPr>
              <a:t>https://materials.itstep.org/content/63a814dd-3e3a-4281-85b1-6c5ab033cb5a/uk</a:t>
            </a: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B973167729B9844A7328B341F515C98" ma:contentTypeVersion="12" ma:contentTypeDescription="Создание документа." ma:contentTypeScope="" ma:versionID="d6ee7b10c34e512e5b0e393e1ebaa933">
  <xsd:schema xmlns:xsd="http://www.w3.org/2001/XMLSchema" xmlns:xs="http://www.w3.org/2001/XMLSchema" xmlns:p="http://schemas.microsoft.com/office/2006/metadata/properties" xmlns:ns2="d6ce6581-db8d-4dc6-8601-0a8e8076c593" xmlns:ns3="bbbe7e71-a692-48df-be9d-e5dc64190325" targetNamespace="http://schemas.microsoft.com/office/2006/metadata/properties" ma:root="true" ma:fieldsID="0b92462fc06dbb24bfa1325724e44fec" ns2:_="" ns3:_="">
    <xsd:import namespace="d6ce6581-db8d-4dc6-8601-0a8e8076c593"/>
    <xsd:import namespace="bbbe7e71-a692-48df-be9d-e5dc641903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ce6581-db8d-4dc6-8601-0a8e8076c5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168b2bcd-3960-4df8-afb5-1b38f07337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e7e71-a692-48df-be9d-e5dc641903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2df2618-9916-4c02-9aa1-42dcc332f6bf}" ma:internalName="TaxCatchAll" ma:showField="CatchAllData" ma:web="bbbe7e71-a692-48df-be9d-e5dc641903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be7e71-a692-48df-be9d-e5dc64190325" xsi:nil="true"/>
    <lcf76f155ced4ddcb4097134ff3c332f xmlns="d6ce6581-db8d-4dc6-8601-0a8e8076c59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3DD86BE-B204-4E9A-815A-078606DFC8FB}"/>
</file>

<file path=customXml/itemProps2.xml><?xml version="1.0" encoding="utf-8"?>
<ds:datastoreItem xmlns:ds="http://schemas.openxmlformats.org/officeDocument/2006/customXml" ds:itemID="{4DFD3E2C-FF3A-46FB-8F48-5B74FC792312}"/>
</file>

<file path=customXml/itemProps3.xml><?xml version="1.0" encoding="utf-8"?>
<ds:datastoreItem xmlns:ds="http://schemas.openxmlformats.org/officeDocument/2006/customXml" ds:itemID="{3BD9E7EC-ED1D-41F1-86FD-FEDEB969F054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9820</Words>
  <Application>WPS Presentation</Application>
  <PresentationFormat/>
  <Paragraphs>190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Arial</vt:lpstr>
      <vt:lpstr>SimSun</vt:lpstr>
      <vt:lpstr>Wingdings</vt:lpstr>
      <vt:lpstr>Times New Roman</vt:lpstr>
      <vt:lpstr>Microsoft YaHei</vt:lpstr>
      <vt:lpstr>Arial Black</vt:lpstr>
      <vt:lpstr>Arial Unicode MS</vt:lpstr>
      <vt:lpstr>Arial Unicode MS</vt:lpstr>
      <vt:lpstr/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Александр Загор�</cp:lastModifiedBy>
  <cp:revision>77</cp:revision>
  <dcterms:created xsi:type="dcterms:W3CDTF">2005-09-22T16:26:00Z</dcterms:created>
  <dcterms:modified xsi:type="dcterms:W3CDTF">2026-06-19T14:01:52Z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88202296253F431A9DC5B73F9C110873_12</vt:lpwstr>
  </property>
  <property fmtid="{D5CDD505-2E9C-101B-9397-08002B2CF9AE}" pid="3" name="KSOProductBuildVer">
    <vt:lpwstr>1033-12.1.0.26880</vt:lpwstr>
  </property>
  <property fmtid="{D5CDD505-2E9C-101B-9397-08002B2CF9AE}" pid="4" name="ContentTypeId">
    <vt:lpwstr>0x010100CB973167729B9844A7328B341F515C98</vt:lpwstr>
  </property>
</Properties>
</file>