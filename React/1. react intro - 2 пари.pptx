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6"/>
  </p:notesMasterIdLst>
  <p:sldIdLst>
    <p:sldId id="256" r:id="rId5"/>
    <p:sldId id="257" r:id="rId7"/>
    <p:sldId id="258" r:id="rId8"/>
    <p:sldId id="349" r:id="rId9"/>
    <p:sldId id="625" r:id="rId10"/>
    <p:sldId id="295" r:id="rId11"/>
    <p:sldId id="307" r:id="rId12"/>
    <p:sldId id="560" r:id="rId13"/>
    <p:sldId id="484" r:id="rId14"/>
    <p:sldId id="485" r:id="rId15"/>
    <p:sldId id="296" r:id="rId16"/>
    <p:sldId id="309" r:id="rId17"/>
    <p:sldId id="297" r:id="rId18"/>
    <p:sldId id="311" r:id="rId19"/>
    <p:sldId id="582" r:id="rId20"/>
    <p:sldId id="629" r:id="rId21"/>
    <p:sldId id="561" r:id="rId22"/>
    <p:sldId id="299" r:id="rId23"/>
    <p:sldId id="300" r:id="rId24"/>
    <p:sldId id="301" r:id="rId25"/>
    <p:sldId id="304" r:id="rId26"/>
    <p:sldId id="562" r:id="rId27"/>
    <p:sldId id="483" r:id="rId28"/>
    <p:sldId id="520" r:id="rId29"/>
    <p:sldId id="588" r:id="rId30"/>
    <p:sldId id="589" r:id="rId31"/>
    <p:sldId id="590" r:id="rId32"/>
    <p:sldId id="593" r:id="rId33"/>
    <p:sldId id="594" r:id="rId34"/>
    <p:sldId id="595" r:id="rId35"/>
    <p:sldId id="596" r:id="rId36"/>
    <p:sldId id="597" r:id="rId37"/>
    <p:sldId id="598" r:id="rId38"/>
    <p:sldId id="599" r:id="rId39"/>
    <p:sldId id="600" r:id="rId40"/>
    <p:sldId id="601" r:id="rId41"/>
    <p:sldId id="602" r:id="rId42"/>
    <p:sldId id="603" r:id="rId43"/>
    <p:sldId id="628" r:id="rId44"/>
    <p:sldId id="486" r:id="rId45"/>
    <p:sldId id="487" r:id="rId46"/>
    <p:sldId id="537" r:id="rId47"/>
    <p:sldId id="626" r:id="rId48"/>
    <p:sldId id="538" r:id="rId49"/>
    <p:sldId id="539" r:id="rId50"/>
    <p:sldId id="604" r:id="rId51"/>
    <p:sldId id="622" r:id="rId52"/>
    <p:sldId id="605" r:id="rId53"/>
    <p:sldId id="606" r:id="rId54"/>
    <p:sldId id="610" r:id="rId55"/>
    <p:sldId id="613" r:id="rId56"/>
    <p:sldId id="614" r:id="rId57"/>
    <p:sldId id="615" r:id="rId58"/>
    <p:sldId id="541" r:id="rId59"/>
    <p:sldId id="489" r:id="rId60"/>
    <p:sldId id="517" r:id="rId61"/>
    <p:sldId id="526" r:id="rId62"/>
    <p:sldId id="490" r:id="rId63"/>
    <p:sldId id="491" r:id="rId64"/>
    <p:sldId id="492" r:id="rId65"/>
    <p:sldId id="493" r:id="rId66"/>
    <p:sldId id="494" r:id="rId67"/>
    <p:sldId id="607" r:id="rId68"/>
    <p:sldId id="608" r:id="rId69"/>
    <p:sldId id="574" r:id="rId70"/>
    <p:sldId id="575" r:id="rId71"/>
    <p:sldId id="576" r:id="rId72"/>
    <p:sldId id="577" r:id="rId73"/>
    <p:sldId id="578" r:id="rId74"/>
    <p:sldId id="533" r:id="rId75"/>
    <p:sldId id="519" r:id="rId76"/>
    <p:sldId id="534" r:id="rId77"/>
    <p:sldId id="535" r:id="rId78"/>
    <p:sldId id="536" r:id="rId79"/>
    <p:sldId id="497" r:id="rId80"/>
    <p:sldId id="544" r:id="rId81"/>
    <p:sldId id="564" r:id="rId82"/>
    <p:sldId id="623" r:id="rId83"/>
    <p:sldId id="624" r:id="rId84"/>
    <p:sldId id="498" r:id="rId85"/>
    <p:sldId id="540" r:id="rId86"/>
    <p:sldId id="583" r:id="rId87"/>
    <p:sldId id="499" r:id="rId88"/>
    <p:sldId id="584" r:id="rId89"/>
    <p:sldId id="500" r:id="rId90"/>
    <p:sldId id="585" r:id="rId91"/>
    <p:sldId id="501" r:id="rId92"/>
    <p:sldId id="502" r:id="rId93"/>
    <p:sldId id="586" r:id="rId94"/>
    <p:sldId id="609" r:id="rId95"/>
    <p:sldId id="503" r:id="rId96"/>
    <p:sldId id="507" r:id="rId97"/>
    <p:sldId id="611" r:id="rId98"/>
    <p:sldId id="612" r:id="rId99"/>
    <p:sldId id="508" r:id="rId100"/>
    <p:sldId id="617" r:id="rId101"/>
    <p:sldId id="288" r:id="rId102"/>
    <p:sldId id="289" r:id="rId103"/>
    <p:sldId id="618" r:id="rId104"/>
    <p:sldId id="619" r:id="rId105"/>
    <p:sldId id="620" r:id="rId106"/>
    <p:sldId id="621" r:id="rId107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58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89" Type="http://schemas.openxmlformats.org/officeDocument/2006/relationships/slide" Target="slides/slide84.xml"/><Relationship Id="rId84" Type="http://schemas.openxmlformats.org/officeDocument/2006/relationships/slide" Target="slides/slide79.xml"/><Relationship Id="rId68" Type="http://schemas.openxmlformats.org/officeDocument/2006/relationships/slide" Target="slides/slide63.xml"/><Relationship Id="rId63" Type="http://schemas.openxmlformats.org/officeDocument/2006/relationships/slide" Target="slides/slide58.xml"/><Relationship Id="rId47" Type="http://schemas.openxmlformats.org/officeDocument/2006/relationships/slide" Target="slides/slide42.xml"/><Relationship Id="rId42" Type="http://schemas.openxmlformats.org/officeDocument/2006/relationships/slide" Target="slides/slide37.xml"/><Relationship Id="rId21" Type="http://schemas.openxmlformats.org/officeDocument/2006/relationships/slide" Target="slides/slide16.xml"/><Relationship Id="rId112" Type="http://schemas.openxmlformats.org/officeDocument/2006/relationships/customXml" Target="../customXml/item2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79" Type="http://schemas.openxmlformats.org/officeDocument/2006/relationships/slide" Target="slides/slide74.xml"/><Relationship Id="rId74" Type="http://schemas.openxmlformats.org/officeDocument/2006/relationships/slide" Target="slides/slide69.xml"/><Relationship Id="rId58" Type="http://schemas.openxmlformats.org/officeDocument/2006/relationships/slide" Target="slides/slide53.xml"/><Relationship Id="rId53" Type="http://schemas.openxmlformats.org/officeDocument/2006/relationships/slide" Target="slides/slide48.xml"/><Relationship Id="rId37" Type="http://schemas.openxmlformats.org/officeDocument/2006/relationships/slide" Target="slides/slide32.xml"/><Relationship Id="rId32" Type="http://schemas.openxmlformats.org/officeDocument/2006/relationships/slide" Target="slides/slide27.xml"/><Relationship Id="rId11" Type="http://schemas.openxmlformats.org/officeDocument/2006/relationships/slide" Target="slides/slide6.xml"/><Relationship Id="rId102" Type="http://schemas.openxmlformats.org/officeDocument/2006/relationships/slide" Target="slides/slide97.xml"/><Relationship Id="rId95" Type="http://schemas.openxmlformats.org/officeDocument/2006/relationships/slide" Target="slides/slide90.xml"/><Relationship Id="rId90" Type="http://schemas.openxmlformats.org/officeDocument/2006/relationships/slide" Target="slides/slide85.xml"/><Relationship Id="rId5" Type="http://schemas.openxmlformats.org/officeDocument/2006/relationships/slide" Target="slides/slide1.xml"/><Relationship Id="rId69" Type="http://schemas.openxmlformats.org/officeDocument/2006/relationships/slide" Target="slides/slide64.xml"/><Relationship Id="rId64" Type="http://schemas.openxmlformats.org/officeDocument/2006/relationships/slide" Target="slides/slide59.xml"/><Relationship Id="rId48" Type="http://schemas.openxmlformats.org/officeDocument/2006/relationships/slide" Target="slides/slide43.xml"/><Relationship Id="rId43" Type="http://schemas.openxmlformats.org/officeDocument/2006/relationships/slide" Target="slides/slide38.xml"/><Relationship Id="rId27" Type="http://schemas.openxmlformats.org/officeDocument/2006/relationships/slide" Target="slides/slide22.xml"/><Relationship Id="rId22" Type="http://schemas.openxmlformats.org/officeDocument/2006/relationships/slide" Target="slides/slide17.xml"/><Relationship Id="rId113" Type="http://schemas.openxmlformats.org/officeDocument/2006/relationships/customXml" Target="../customXml/item3.xml"/><Relationship Id="rId85" Type="http://schemas.openxmlformats.org/officeDocument/2006/relationships/slide" Target="slides/slide80.xml"/><Relationship Id="rId80" Type="http://schemas.openxmlformats.org/officeDocument/2006/relationships/slide" Target="slides/slide75.xml"/><Relationship Id="rId59" Type="http://schemas.openxmlformats.org/officeDocument/2006/relationships/slide" Target="slides/slide54.xml"/><Relationship Id="rId38" Type="http://schemas.openxmlformats.org/officeDocument/2006/relationships/slide" Target="slides/slide33.xml"/><Relationship Id="rId33" Type="http://schemas.openxmlformats.org/officeDocument/2006/relationships/slide" Target="slides/slide28.xml"/><Relationship Id="rId17" Type="http://schemas.openxmlformats.org/officeDocument/2006/relationships/slide" Target="slides/slide12.xml"/><Relationship Id="rId12" Type="http://schemas.openxmlformats.org/officeDocument/2006/relationships/slide" Target="slides/slide7.xml"/><Relationship Id="rId108" Type="http://schemas.openxmlformats.org/officeDocument/2006/relationships/presProps" Target="presProps.xml"/><Relationship Id="rId103" Type="http://schemas.openxmlformats.org/officeDocument/2006/relationships/slide" Target="slides/slide98.xml"/><Relationship Id="rId96" Type="http://schemas.openxmlformats.org/officeDocument/2006/relationships/slide" Target="slides/slide91.xml"/><Relationship Id="rId91" Type="http://schemas.openxmlformats.org/officeDocument/2006/relationships/slide" Target="slides/slide86.xml"/><Relationship Id="rId75" Type="http://schemas.openxmlformats.org/officeDocument/2006/relationships/slide" Target="slides/slide70.xml"/><Relationship Id="rId70" Type="http://schemas.openxmlformats.org/officeDocument/2006/relationships/slide" Target="slides/slide65.xml"/><Relationship Id="rId54" Type="http://schemas.openxmlformats.org/officeDocument/2006/relationships/slide" Target="slides/slide49.xml"/><Relationship Id="rId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57" Type="http://schemas.openxmlformats.org/officeDocument/2006/relationships/slide" Target="slides/slide52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8" Type="http://schemas.openxmlformats.org/officeDocument/2006/relationships/slide" Target="slides/slide23.xml"/><Relationship Id="rId23" Type="http://schemas.openxmlformats.org/officeDocument/2006/relationships/slide" Target="slides/slide18.xml"/><Relationship Id="rId15" Type="http://schemas.openxmlformats.org/officeDocument/2006/relationships/slide" Target="slides/slide10.xml"/><Relationship Id="rId106" Type="http://schemas.openxmlformats.org/officeDocument/2006/relationships/slide" Target="slides/slide101.xml"/><Relationship Id="rId99" Type="http://schemas.openxmlformats.org/officeDocument/2006/relationships/slide" Target="slides/slide94.xml"/><Relationship Id="rId94" Type="http://schemas.openxmlformats.org/officeDocument/2006/relationships/slide" Target="slides/slide89.xml"/><Relationship Id="rId86" Type="http://schemas.openxmlformats.org/officeDocument/2006/relationships/slide" Target="slides/slide81.xml"/><Relationship Id="rId81" Type="http://schemas.openxmlformats.org/officeDocument/2006/relationships/slide" Target="slides/slide76.xml"/><Relationship Id="rId78" Type="http://schemas.openxmlformats.org/officeDocument/2006/relationships/slide" Target="slides/slide73.xml"/><Relationship Id="rId73" Type="http://schemas.openxmlformats.org/officeDocument/2006/relationships/slide" Target="slides/slide68.xml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52" Type="http://schemas.openxmlformats.org/officeDocument/2006/relationships/slide" Target="slides/slide47.xml"/><Relationship Id="rId44" Type="http://schemas.openxmlformats.org/officeDocument/2006/relationships/slide" Target="slides/slide39.xml"/><Relationship Id="rId31" Type="http://schemas.openxmlformats.org/officeDocument/2006/relationships/slide" Target="slides/slide26.xml"/><Relationship Id="rId101" Type="http://schemas.openxmlformats.org/officeDocument/2006/relationships/slide" Target="slides/slide9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18" Type="http://schemas.openxmlformats.org/officeDocument/2006/relationships/slide" Target="slides/slide13.xml"/><Relationship Id="rId13" Type="http://schemas.openxmlformats.org/officeDocument/2006/relationships/slide" Target="slides/slide8.xml"/><Relationship Id="rId109" Type="http://schemas.openxmlformats.org/officeDocument/2006/relationships/viewProps" Target="viewProps.xml"/><Relationship Id="rId97" Type="http://schemas.openxmlformats.org/officeDocument/2006/relationships/slide" Target="slides/slide92.xml"/><Relationship Id="rId76" Type="http://schemas.openxmlformats.org/officeDocument/2006/relationships/slide" Target="slides/slide71.xml"/><Relationship Id="rId55" Type="http://schemas.openxmlformats.org/officeDocument/2006/relationships/slide" Target="slides/slide50.xml"/><Relationship Id="rId50" Type="http://schemas.openxmlformats.org/officeDocument/2006/relationships/slide" Target="slides/slide45.xml"/><Relationship Id="rId34" Type="http://schemas.openxmlformats.org/officeDocument/2006/relationships/slide" Target="slides/slide29.xml"/><Relationship Id="rId104" Type="http://schemas.openxmlformats.org/officeDocument/2006/relationships/slide" Target="slides/slide99.xml"/><Relationship Id="rId92" Type="http://schemas.openxmlformats.org/officeDocument/2006/relationships/slide" Target="slides/slide87.xml"/><Relationship Id="rId71" Type="http://schemas.openxmlformats.org/officeDocument/2006/relationships/slide" Target="slides/slide66.xml"/><Relationship Id="rId7" Type="http://schemas.openxmlformats.org/officeDocument/2006/relationships/slide" Target="slides/slide2.xml"/><Relationship Id="rId29" Type="http://schemas.openxmlformats.org/officeDocument/2006/relationships/slide" Target="slides/slide24.xml"/><Relationship Id="rId2" Type="http://schemas.openxmlformats.org/officeDocument/2006/relationships/theme" Target="theme/theme1.xml"/><Relationship Id="rId87" Type="http://schemas.openxmlformats.org/officeDocument/2006/relationships/slide" Target="slides/slide82.xml"/><Relationship Id="rId66" Type="http://schemas.openxmlformats.org/officeDocument/2006/relationships/slide" Target="slides/slide61.xml"/><Relationship Id="rId45" Type="http://schemas.openxmlformats.org/officeDocument/2006/relationships/slide" Target="slides/slide40.xml"/><Relationship Id="rId40" Type="http://schemas.openxmlformats.org/officeDocument/2006/relationships/slide" Target="slides/slide35.xml"/><Relationship Id="rId24" Type="http://schemas.openxmlformats.org/officeDocument/2006/relationships/slide" Target="slides/slide19.xml"/><Relationship Id="rId110" Type="http://schemas.openxmlformats.org/officeDocument/2006/relationships/tableStyles" Target="tableStyles.xml"/><Relationship Id="rId82" Type="http://schemas.openxmlformats.org/officeDocument/2006/relationships/slide" Target="slides/slide77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77" Type="http://schemas.openxmlformats.org/officeDocument/2006/relationships/slide" Target="slides/slide72.xml"/><Relationship Id="rId56" Type="http://schemas.openxmlformats.org/officeDocument/2006/relationships/slide" Target="slides/slide51.xml"/><Relationship Id="rId35" Type="http://schemas.openxmlformats.org/officeDocument/2006/relationships/slide" Target="slides/slide30.xml"/><Relationship Id="rId30" Type="http://schemas.openxmlformats.org/officeDocument/2006/relationships/slide" Target="slides/slide25.xml"/><Relationship Id="rId14" Type="http://schemas.openxmlformats.org/officeDocument/2006/relationships/slide" Target="slides/slide9.xml"/><Relationship Id="rId105" Type="http://schemas.openxmlformats.org/officeDocument/2006/relationships/slide" Target="slides/slide100.xml"/><Relationship Id="rId100" Type="http://schemas.openxmlformats.org/officeDocument/2006/relationships/slide" Target="slides/slide95.xml"/><Relationship Id="rId98" Type="http://schemas.openxmlformats.org/officeDocument/2006/relationships/slide" Target="slides/slide93.xml"/><Relationship Id="rId93" Type="http://schemas.openxmlformats.org/officeDocument/2006/relationships/slide" Target="slides/slide88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2.xml"/><Relationship Id="rId67" Type="http://schemas.openxmlformats.org/officeDocument/2006/relationships/slide" Target="slides/slide62.xml"/><Relationship Id="rId46" Type="http://schemas.openxmlformats.org/officeDocument/2006/relationships/slide" Target="slides/slide41.xml"/><Relationship Id="rId25" Type="http://schemas.openxmlformats.org/officeDocument/2006/relationships/slide" Target="slides/slide20.xml"/><Relationship Id="rId88" Type="http://schemas.openxmlformats.org/officeDocument/2006/relationships/slide" Target="slides/slide83.xml"/><Relationship Id="rId83" Type="http://schemas.openxmlformats.org/officeDocument/2006/relationships/slide" Target="slides/slide78.xml"/><Relationship Id="rId62" Type="http://schemas.openxmlformats.org/officeDocument/2006/relationships/slide" Target="slides/slide57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111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4513" name="Slide Image Placeholder 6451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14" name="Text Placeholder 6451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4513" name="Slide Image Placeholder 6451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514" name="Text Placeholder 6451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5537" name="Slide Image Placeholder 65536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5538" name="Text Placeholder 65537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5537" name="Slide Image Placeholder 65536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5538" name="Text Placeholder 65537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5537" name="Slide Image Placeholder 65536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5538" name="Text Placeholder 65537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5537" name="Slide Image Placeholder 65536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5538" name="Text Placeholder 65537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5537" name="Slide Image Placeholder 65536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5538" name="Text Placeholder 65537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7585" name="Slide Image Placeholder 67584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7586" name="Text Placeholder 67585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8609" name="Slide Image Placeholder 6860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8610" name="Text Placeholder 6860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9633" name="Slide Image Placeholder 6963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9634" name="Text Placeholder 6963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72d1f2d6e_2_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72d1f2d6e_2_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 sz="1800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hyperlink" Target="https://itvdn.com/ua/video/react-essential-ua&#13;" TargetMode="External"/><Relationship Id="rId6" Type="http://schemas.openxmlformats.org/officeDocument/2006/relationships/hyperlink" Target="https://devhints.io/react&#13;" TargetMode="External"/><Relationship Id="rId5" Type="http://schemas.openxmlformats.org/officeDocument/2006/relationships/hyperlink" Target="https://www.youtube.com/watch?v=ORHEXyN-ktE&#13;" TargetMode="External"/><Relationship Id="rId4" Type="http://schemas.openxmlformats.org/officeDocument/2006/relationships/hyperlink" Target="https://www.youtube.com/watch?v=-k8w0x-rp80&#13;" TargetMode="External"/><Relationship Id="rId3" Type="http://schemas.openxmlformats.org/officeDocument/2006/relationships/hyperlink" Target="https://react.dev/learn&#13;" TargetMode="External"/><Relationship Id="rId2" Type="http://schemas.openxmlformats.org/officeDocument/2006/relationships/hyperlink" Target="https://w3schoolsua.github.io/react/index.html#gsc.tab=0&#13;" TargetMode="External"/><Relationship Id="rId1" Type="http://schemas.openxmlformats.org/officeDocument/2006/relationships/hyperlink" Target="https://it-incubator.io/free-courses/front-end/samurai-way/reactjs_lesson1&#13;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testprovider.com/ru/search-certificate/tp32990380&#13;" TargetMode="Externa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hyperlink" Target="https://it-incubator.io/free-courses/front-end/samurai-way/reactjs_lesson5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facebook/react/releases?page=1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it-incubator.io/free-courses/front-end/samurai-way/reactjs_lesson2&#13;" TargetMode="Externa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react.dev/learn/editor-setup&#13;" TargetMode="External"/><Relationship Id="rId4" Type="http://schemas.openxmlformats.org/officeDocument/2006/relationships/hyperlink" Target="https://stackblitz.com/&#13;" TargetMode="External"/><Relationship Id="rId3" Type="http://schemas.openxmlformats.org/officeDocument/2006/relationships/hyperlink" Target="https://codesandbox.io/" TargetMode="External"/><Relationship Id="rId2" Type="http://schemas.openxmlformats.org/officeDocument/2006/relationships/hyperlink" Target="https://www.jetbrains.com/webstorm/download" TargetMode="External"/><Relationship Id="rId1" Type="http://schemas.openxmlformats.org/officeDocument/2006/relationships/hyperlink" Target="https://code.visualstudio.com/download" TargetMode="Externa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jsfiddle.net/boilerplate/react-jsx" TargetMode="External"/><Relationship Id="rId2" Type="http://schemas.openxmlformats.org/officeDocument/2006/relationships/hyperlink" Target="https://playcode.io/react" TargetMode="External"/><Relationship Id="rId1" Type="http://schemas.openxmlformats.org/officeDocument/2006/relationships/hyperlink" Target="https://replit.com/new" TargetMode="Externa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it-incubator.io/free-courses/front-end/samurai-way/reactjs_lesson3&#13;" TargetMode="Externa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hyperlink" Target="https://nodejs.org/en/download%20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facebook/create-react-app&#13;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react.dev/learn/creating-a-react-app&#13;" TargetMode="External"/><Relationship Id="rId4" Type="http://schemas.openxmlformats.org/officeDocument/2006/relationships/image" Target="../media/image9.png"/><Relationship Id="rId3" Type="http://schemas.openxmlformats.org/officeDocument/2006/relationships/hyperlink" Target="https://react.dev/blog/2025/02/14/sunsetting-create-react-app#deprecating-create-react-app&#13;" TargetMode="External"/><Relationship Id="rId2" Type="http://schemas.openxmlformats.org/officeDocument/2006/relationships/hyperlink" Target="https://react.dev/learn/installation#should-i-use-create-react-app&#13;" TargetMode="External"/><Relationship Id="rId1" Type="http://schemas.openxmlformats.org/officeDocument/2006/relationships/hyperlink" Target="https://github.com/facebook/create-react-app&#13;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hyperlink" Target="https://vite.dev/guide/&#13;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ru.react.dev/learn#components&#13;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26e321283a864c61a8a463cf924b5c00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ac53b7f2b19c3fa74dcda5d63e464e0f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4837f76e0be00fe97b1e0c734582ab08&#13;" TargetMode="External"/><Relationship Id="rId1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it-incubator.io/free-courses/front-end/samurai-way/reactjs_lesson6&#13;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6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4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06c1ed1df2c7319af096ceabb412d4b8&#13;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ru.legacy.reactjs.org/docs/reconciliation.html&#13;" TargetMode="Externa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5cbbf0d68d2cf925d3985af34b191994&#13;" TargetMode="Externa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hyperlink" Target="https://gist.github.com/sunmeat/df1d9ab569a38e0be16bc538f4d6f186&#13;" TargetMode="Externa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3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it-incubator.io/free-courses/front-end/samurai-way/reactjs_lesson13&#13;" TargetMode="External"/><Relationship Id="rId1" Type="http://schemas.openxmlformats.org/officeDocument/2006/relationships/image" Target="../media/image36.png"/></Relationships>
</file>

<file path=ppt/slides/_rels/slide9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4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app.netlify.com/sites/sunmeat/configuration/general&#13;" TargetMode="Externa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6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medium.com/nuances-of-programming/%D0%BF%D1%80%D0%BE%D0%B5%D0%BA%D1%82%D0%B8%D1%80%D0%BE%D0%B2%D0%B0%D0%BD%D0%B8%D0%B5-%D0%B0%D1%80%D1%85%D0%B8%D1%82%D0%B5%D0%BA%D1%82%D1%83%D1%80%D1%8B-%D0%BF%D0%BE-react-%D0%BB%D1%83%D1%87%D1%88%D0%B8%D0%B5-%D0%BF" TargetMode="External"/><Relationship Id="rId3" Type="http://schemas.openxmlformats.org/officeDocument/2006/relationships/hyperlink" Target="https://habr.com/ru/companies/doubletapp/articles/870236/&#13;" TargetMode="External"/><Relationship Id="rId2" Type="http://schemas.openxmlformats.org/officeDocument/2006/relationships/hyperlink" Target="https://habr.com/ru/articles/726354/&#13;" TargetMode="External"/><Relationship Id="rId1" Type="http://schemas.openxmlformats.org/officeDocument/2006/relationships/hyperlink" Target="https://foxminded.ua/ru/arkhitektura-react-prilozheniya/&#13;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materials.itstep.org/content/f8a86995-e239-45db-b1c0-892e52d667ca/uk&#13;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materials.itstep.org/content/78e403af-2bdb-4437-8f93-37b1532896ba/uk&#13;" TargetMode="Externa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10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2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github.com/sunmeat/storage/blob/main/video/result%20react.mp4&#13;" TargetMode="External"/><Relationship Id="rId2" Type="http://schemas.openxmlformats.org/officeDocument/2006/relationships/hyperlink" Target="https://github.com/sunmeat/storage/blob/main/video/task%204-result.mp4&#13;" TargetMode="External"/><Relationship Id="rId1" Type="http://schemas.openxmlformats.org/officeDocument/2006/relationships/hyperlink" Target="https://github.com/sunmeat/storage/blob/main/video/task%203-result.mp4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React Introduction</a:t>
            </a:r>
            <a:endParaRPr lang="ru-RU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O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en-US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055" y="3708400"/>
            <a:ext cx="5313680" cy="30486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React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Цілі та завдання React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Анатомія React-додатка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Налаштування середовища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Redux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JSX і Virtual DOM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Онлайн-редактори для React (Repl.it, CodePen, CodeSandbox та інші)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Компоненти: види та відмінності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Програма курс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у</a:t>
            </a:r>
            <a:r>
              <a:rPr lang="ru-RU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- 30 пар</a:t>
            </a:r>
            <a:endParaRPr lang="ru-RU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</a:rPr>
              <a:t>Вступ до React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</a:rPr>
              <a:t>Функціональні компоненти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</a:rPr>
              <a:t>Форми та списки даних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</a:rPr>
              <a:t>Умовний рендеринг і стилі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</a:rPr>
              <a:t>Фрагменти, портали та Refs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</a:rPr>
              <a:t>Побічні ефекти та Context API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</a:rPr>
              <a:t>Взаємодія з сервером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</a:rPr>
              <a:t>Тестування та класові компоненти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100" dirty="0" err="1">
                <a:solidFill>
                  <a:srgbClr val="000000"/>
                </a:solidFill>
                <a:latin typeface="Arial" panose="020B0604020202020204" pitchFamily="34" charset="0"/>
              </a:rPr>
              <a:t>Роутинг і Redux</a:t>
            </a:r>
            <a:endParaRPr lang="en-US" altLang="en-US" sz="3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Курси та корисні сайти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latin typeface="Arial" panose="020B0604020202020204" pitchFamily="34" charset="0"/>
                <a:hlinkClick r:id="rId1" action="ppaction://hlinkfile"/>
              </a:rPr>
              <a:t>https://it-incubator.io/free-courses/front-end/samurai-way/reactjs_lesson1</a:t>
            </a: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latin typeface="Arial" panose="020B0604020202020204" pitchFamily="34" charset="0"/>
                <a:hlinkClick r:id="rId2" action="ppaction://hlinkfile"/>
              </a:rPr>
              <a:t>https://w3schoolsua.github.io/react/index.html#gsc.tab=0</a:t>
            </a: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FF0000"/>
                </a:solidFill>
                <a:latin typeface="Arial" panose="020B0604020202020204" pitchFamily="34" charset="0"/>
                <a:hlinkClick r:id="rId3" action="ppaction://hlinkfile"/>
              </a:rPr>
              <a:t>https://react.dev/learn</a:t>
            </a:r>
            <a:endParaRPr lang="en-US" altLang="en-US" sz="2400" b="1" dirty="0" err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latin typeface="Arial" panose="020B0604020202020204" pitchFamily="34" charset="0"/>
                <a:hlinkClick r:id="rId4" action="ppaction://hlinkfile"/>
              </a:rPr>
              <a:t>https://www.youtube.com/watch?v=-k8w0x-rp80</a:t>
            </a: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latin typeface="Arial" panose="020B0604020202020204" pitchFamily="34" charset="0"/>
                <a:hlinkClick r:id="rId5" action="ppaction://hlinkfile"/>
              </a:rPr>
              <a:t>https://www.youtube.com/watch?v=ORHEXyN-ktE</a:t>
            </a: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latin typeface="Arial" panose="020B0604020202020204" pitchFamily="34" charset="0"/>
                <a:hlinkClick r:id="rId6" action="ppaction://hlinkfile"/>
              </a:rPr>
              <a:t>https://devhints.io/react</a:t>
            </a: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latin typeface="Arial" panose="020B0604020202020204" pitchFamily="34" charset="0"/>
                <a:hlinkClick r:id="rId7" action="ppaction://hlinkfile"/>
              </a:rPr>
              <a:t>https://itvdn.com/ua/video/react-essential-ua</a:t>
            </a: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Сертиф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кат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</a:t>
            </a:r>
            <a:r>
              <a:rPr lang="ru-RU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лександра :)</a:t>
            </a:r>
            <a:endParaRPr lang="ru-RU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8863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555" y="1430655"/>
            <a:ext cx="6947535" cy="47834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0325" y="6351270"/>
            <a:ext cx="9015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action="ppaction://hlinkfile"/>
              </a:rPr>
              <a:t>https://testprovider.com/ru/search-certificate/tp32990380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Трохи історії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8863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 початку 2010-х років веб-розробка переживала бурхливе зростання. Сайти ставали дедалі складнішими, динамічнішими,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а разом із цим — усе важчими в обслуговуванні. JavaScript уже міцно зайняв своє місце в браузерах, але розробникам потрібно було щось більше, ніж просто сценарії —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був необхідний спосіб зручно керувати станом інтерфейсу та оновлювати лише потрібні його частини, не перезавантажуючи сторінку повністю.</a:t>
            </a:r>
            <a:endParaRPr lang="en-US" altLang="en-US" sz="19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Відповідь прийшла зсередини компанії Facebook. У 2013 році вони відкрили вихідний код бібліотеки React, яка одразу викликала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як інтерес, так і суперечки. Основна ідея — віртуальний DOM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і компонентний підхід — дозволила розробникам описувати інтерфейс декларативно, як функцію. Це дало не лише приріст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у продуктивності, але й спростило мислення: UI став легше сприйматися як набір логічних блоків.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Трохи історії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00380" y="1386205"/>
            <a:ext cx="81038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Скептики бурчали: "Компоненти — це нечитабельно",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але практика швидко показала: React спрощує життя.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За пару років React став стандартом де-факто, його впровадили в тисячі проєктів, від стартапів до корпорацій. З’явилися супутні технології, такі як Redux, Context API, React Router і Hooks — кожна з яких стала відповіддю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на реальні проблеми розробників.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Сьогодні React — це не просто бібліотека, це ціла екосистема. Але все починалося з бажання вирішити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одну просту проблему: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як оновити частину інтерфейсу, 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не витративши на це купу 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зайвого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час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у.</a:t>
            </a:r>
            <a:endParaRPr lang="uk-UA" altLang="en-US" sz="2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Хто використовує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endParaRPr lang="en-US" altLang="x-none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45795" y="1386205"/>
            <a:ext cx="795845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Meta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(Facebook) — розробник React.js, використовує його для стрічки новин Facebook та інших компонентів інтерфейсу. Також активно застосовує React Native у мобільних додатках, таких як Facebook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Ads Manager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Instagram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використовує React.js для вебінтерфейсу та React Native для мобільного додатка, включно з функціями геопозиціонування, API Google Карт і пошуком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Netflix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Walmart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використовує React Native для кросплатформної розробки мобільних додатків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Airbnb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застосовує React Native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Uber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використовує React Native у додатку UberEats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Tesla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застосовує React Native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Dropbox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застосовує React.js для розробки вебінтерфейсів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Yahoo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використовує React.js для своїх вебдодатків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BBC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застосовує React.js для розробки інтерфейсів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?</a:t>
            </a:r>
            <a:endParaRPr lang="ru-RU" altLang="x-none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8863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  <a:cs typeface="Arial" panose="020B0604020202020204" pitchFamily="34" charset="0"/>
              </a:rPr>
              <a:t>React (іноді React.js або ReactJS)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cs typeface="Arial" panose="020B0604020202020204" pitchFamily="34" charset="0"/>
              </a:rPr>
              <a:t>— це JavaScript-бібліотека з відкритим вихідним кодом, розроблена компанією Facebook (нині Meta) у 2013 році.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cs typeface="Arial" panose="020B0604020202020204" pitchFamily="34" charset="0"/>
              </a:rPr>
              <a:t>React не є фреймворком (на відміну від Angular, наприклад, який має більш жорстку структуру та набір інструментів, заздалегідь вбудованих у збірку).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cs typeface="Arial" panose="020B0604020202020204" pitchFamily="34" charset="0"/>
              </a:rPr>
              <a:t>Бібліотека React призначена для створення інтерактивних користувацьких інтерфейсів (UI), переважно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  <a:cs typeface="Arial" panose="020B0604020202020204" pitchFamily="34" charset="0"/>
              </a:rPr>
              <a:t>       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cs typeface="Arial" panose="020B0604020202020204" pitchFamily="34" charset="0"/>
              </a:rPr>
              <a:t>для односторінкових додатків (Single Page Applications, SPA). React дозволяє розробникам будувати складні інтерфейси, розбиваючи їх на модульні компоненти, які легко повторно використовувати та підтримувати.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Фреймворк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vs. </a:t>
            </a: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Бібліотека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115570" y="1386205"/>
            <a:ext cx="85363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000"/>
              <a:buFont typeface="Arial" panose="020B0604020202020204" pitchFamily="34" charset="0"/>
              <a:buChar char="•"/>
            </a:pPr>
            <a:r>
              <a:rPr lang="en-US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Бібліотека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— це набір готових об’єктів і методів (функціональностей), щодо яких програміст сам вирішує, де і як їх використовувати </a:t>
            </a:r>
            <a:r>
              <a:rPr lang="uk-UA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при написанні коду своєї програми.</a:t>
            </a:r>
            <a:endParaRPr lang="en-US" altLang="en-US" sz="19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000"/>
              <a:buFont typeface="Arial" panose="020B0604020202020204" pitchFamily="34" charset="0"/>
              <a:buChar char="•"/>
            </a:pPr>
            <a:r>
              <a:rPr lang="en-US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Фреймворк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(каркас, структура) — це готовий код, що визначає структуру програмної системи і є глобальною основою для створення технічно складних проєктів. Його застосування прискорює та спрощує написання коду, підказуючи програмісту, що йому необхідно.</a:t>
            </a:r>
            <a:endParaRPr lang="en-US" altLang="en-US" sz="19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000"/>
              <a:buFont typeface="Arial" panose="020B0604020202020204" pitchFamily="34" charset="0"/>
              <a:buChar char="•"/>
            </a:pPr>
            <a:r>
              <a:rPr lang="en-US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Фреймворк і бібліотека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— це готовий написаний код, який вирішує типові завдання, не відволікаючи програміста на його створення.</a:t>
            </a:r>
            <a:endParaRPr lang="en-US" altLang="en-US" sz="19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000"/>
              <a:buFont typeface="Arial" panose="020B0604020202020204" pitchFamily="34" charset="0"/>
              <a:buChar char="•"/>
            </a:pPr>
            <a:r>
              <a:rPr lang="en-US" altLang="en-US" sz="19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Різниця між бібліотекою та фреймворком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— фреймворк надає інтерфейс для написання програми, інтегруючи код, написаний програмістом, у </a:t>
            </a:r>
            <a:r>
              <a:rPr lang="uk-UA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напів-готовий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додаток, тоді як бібліотека пропонує функціональності, якими на власний розсуд розпоряджається програміст при написанні </a:t>
            </a:r>
            <a:r>
              <a:rPr lang="uk-UA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своєї </a:t>
            </a:r>
            <a:r>
              <a:rPr lang="en-US" altLang="en-US" sz="19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програми.</a:t>
            </a:r>
            <a:endParaRPr lang="en-US" altLang="en-US" sz="19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ext Box 716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Особливості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7170" name="Text Box 7169"/>
          <p:cNvSpPr txBox="1"/>
          <p:nvPr/>
        </p:nvSpPr>
        <p:spPr>
          <a:xfrm>
            <a:off x="471170" y="1386205"/>
            <a:ext cx="813308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Декларативний підхід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: замість прямого керування DOM, React дозволяє описувати, як має виглядати інтерфейс, а бібліотека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сама оновлює DOM при зміні даних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Компонентно-орієнтована розробка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: інтерфейс поділяється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 незалежні повторно використовувані компоненти, кожен з яких керує своїм станом і рендерингом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Односпрямований потік даних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: дані передаються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від батьківських компонентів до дочірніх через пропси (props),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що спрощує відстеження змін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Використання Virtual DOM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(віртуальної об’єктної моделі документа) замість RealDOM (справжнього або реального DOM), оскільки маніпуляції з RealDOM </a:t>
            </a:r>
            <a:r>
              <a:rPr lang="en-US" altLang="en-US" sz="1900" u="sng" dirty="0" err="1">
                <a:solidFill>
                  <a:srgbClr val="000000"/>
                </a:solidFill>
                <a:ea typeface="Microsoft YaHei" panose="020B0503020204020204" charset="-122"/>
              </a:rPr>
              <a:t>є витратними з точки зору продуктивності</a:t>
            </a:r>
            <a:endParaRPr lang="en-US" altLang="en-US" sz="1900" u="sng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React використовується у веброзробці (ReactDOM), мобільній розробці (React Native) і навіть для серверного рендерингу (Next.js).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ext Box 716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Цілі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7170" name="Text Box 7169"/>
          <p:cNvSpPr txBox="1"/>
          <p:nvPr/>
        </p:nvSpPr>
        <p:spPr>
          <a:xfrm>
            <a:off x="471170" y="1386205"/>
            <a:ext cx="813308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Спрощення розробки складних UI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: React допомагає створювати масштабовані інтерфейси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за допомогою компонентів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Підвищення продуктивності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: Virtual DOM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і алгоритми узгодження (reconciliation) мінімізують витрати на оновлення інтерфейсу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Забезпечення повторного використання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: Компоненти можна використовувати в різних частинах додатка або навіть у різних проєктах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Покращення підтримки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: Велика спільнота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та екосистема бібліотек роблять React універсальним інструментом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Завдання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8194" name="Text Box 8193"/>
          <p:cNvSpPr txBox="1"/>
          <p:nvPr/>
        </p:nvSpPr>
        <p:spPr>
          <a:xfrm>
            <a:off x="455930" y="1430655"/>
            <a:ext cx="79305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Створення динамічних інтерфейсів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React дозволяє швидко реагувати на дії користувача (наприклад, введення даних, кліки)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Керування станом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React надає механізми (наприклад,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хуки або Redux) для роботи з даними додатка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Забезпечення кросплатформності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React Native дозволяє використовувати React для розробки мобільних додатків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Підтримка серверного рендерингу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React підходить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для SEO-оптимізованих додатків через фреймворки,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такі як Next.js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Інтеграція з іншими технологіями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React легко інтегрується з бібліотеками для маршрутизації (React Router), керування станом (Redux, MobX) та стилізації (Styled Components,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CSS-модулі)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React </a:t>
            </a:r>
            <a:r>
              <a:rPr lang="uk-UA" altLang="x-none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у</a:t>
            </a:r>
            <a:r>
              <a:rPr lang="uk-UA" altLang="x-none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 2026 році</a:t>
            </a:r>
            <a:endParaRPr lang="uk-UA" altLang="x-none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8194" name="Text Box 8193"/>
          <p:cNvSpPr txBox="1"/>
          <p:nvPr/>
        </p:nvSpPr>
        <p:spPr>
          <a:xfrm>
            <a:off x="544830" y="1430655"/>
            <a:ext cx="805942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червень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202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6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р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оку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React — це одна з найпопулярніших JavaScript-бібліотек для створення користувацьких інтерфейсів, розроблена Meta. Вона використовується для побудови односторінкових додатків (SPA), дозволяючи розробникам ефективно керувати станом і відображенням компонентів.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React працює з віртуальним DOM, який мінімізує кількість операцій з реальним DOM і підвищує продуктивність додатків. Компонентна архітектура дозволяє створювати повторно використовувані та незалежні елементи інтерфейсу.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Бібліотека активно розвивається, інтегрується з сучасними інструментами, такими як Redux, React Router, і підтримує нововведення мови JavaScript, включно з хуками, контекстами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та серверним рендерингом (SSR).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Про </a:t>
            </a:r>
            <a:r>
              <a:rPr lang="en-US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SPA</a:t>
            </a:r>
            <a:endParaRPr 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8194" name="Text Box 8193"/>
          <p:cNvSpPr txBox="1"/>
          <p:nvPr/>
        </p:nvSpPr>
        <p:spPr>
          <a:xfrm>
            <a:off x="544830" y="1430655"/>
            <a:ext cx="805942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https://it-incubator.io/free-courses/front-end/samurai-way/reactjs_lesson5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Снимок экрана 2025-05-10 1453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670" y="1853565"/>
            <a:ext cx="4615815" cy="50622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867525" y="5048885"/>
            <a:ext cx="1563370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600" b="1" i="0">
                <a:solidFill>
                  <a:srgbClr val="202122"/>
                </a:solidFill>
                <a:ea typeface="sans-serif"/>
                <a:cs typeface="Arial" panose="020B0604020202020204" pitchFamily="34" charset="0"/>
              </a:rPr>
              <a:t>A</a:t>
            </a:r>
            <a:r>
              <a:rPr sz="1600" b="0" i="0">
                <a:solidFill>
                  <a:srgbClr val="202122"/>
                </a:solidFill>
                <a:ea typeface="sans-serif"/>
                <a:cs typeface="Arial" panose="020B0604020202020204" pitchFamily="34" charset="0"/>
              </a:rPr>
              <a:t>synchronous</a:t>
            </a:r>
            <a:endParaRPr sz="1600" b="0" i="0">
              <a:solidFill>
                <a:srgbClr val="202122"/>
              </a:solidFill>
              <a:ea typeface="sans-serif"/>
              <a:cs typeface="Arial" panose="020B0604020202020204" pitchFamily="34" charset="0"/>
            </a:endParaRPr>
          </a:p>
          <a:p>
            <a:pPr marL="0" indent="0"/>
            <a:r>
              <a:rPr sz="1600" b="1" i="0">
                <a:solidFill>
                  <a:srgbClr val="202122"/>
                </a:solidFill>
                <a:ea typeface="sans-serif"/>
                <a:cs typeface="Arial" panose="020B0604020202020204" pitchFamily="34" charset="0"/>
              </a:rPr>
              <a:t>J</a:t>
            </a:r>
            <a:r>
              <a:rPr sz="1600" b="0" i="0">
                <a:solidFill>
                  <a:srgbClr val="202122"/>
                </a:solidFill>
                <a:ea typeface="sans-serif"/>
                <a:cs typeface="Arial" panose="020B0604020202020204" pitchFamily="34" charset="0"/>
              </a:rPr>
              <a:t>avaScript</a:t>
            </a:r>
            <a:endParaRPr sz="1600" b="0" i="0">
              <a:solidFill>
                <a:srgbClr val="202122"/>
              </a:solidFill>
              <a:ea typeface="sans-serif"/>
              <a:cs typeface="Arial" panose="020B0604020202020204" pitchFamily="34" charset="0"/>
            </a:endParaRPr>
          </a:p>
          <a:p>
            <a:pPr marL="0" indent="0"/>
            <a:r>
              <a:rPr sz="1600" b="1" i="0">
                <a:solidFill>
                  <a:srgbClr val="202122"/>
                </a:solidFill>
                <a:ea typeface="sans-serif"/>
                <a:cs typeface="Arial" panose="020B0604020202020204" pitchFamily="34" charset="0"/>
              </a:rPr>
              <a:t>A</a:t>
            </a:r>
            <a:r>
              <a:rPr sz="1600" b="0" i="0">
                <a:solidFill>
                  <a:srgbClr val="202122"/>
                </a:solidFill>
                <a:ea typeface="sans-serif"/>
                <a:cs typeface="Arial" panose="020B0604020202020204" pitchFamily="34" charset="0"/>
              </a:rPr>
              <a:t>nd</a:t>
            </a:r>
            <a:endParaRPr sz="1600" b="0" i="0">
              <a:solidFill>
                <a:srgbClr val="202122"/>
              </a:solidFill>
              <a:ea typeface="sans-serif"/>
              <a:cs typeface="Arial" panose="020B0604020202020204" pitchFamily="34" charset="0"/>
            </a:endParaRPr>
          </a:p>
          <a:p>
            <a:pPr marL="0" indent="0"/>
            <a:r>
              <a:rPr sz="1600" b="1" i="0">
                <a:solidFill>
                  <a:srgbClr val="202122"/>
                </a:solidFill>
                <a:ea typeface="sans-serif"/>
                <a:cs typeface="Arial" panose="020B0604020202020204" pitchFamily="34" charset="0"/>
              </a:rPr>
              <a:t>X</a:t>
            </a:r>
            <a:r>
              <a:rPr sz="1600" b="0" i="0">
                <a:solidFill>
                  <a:srgbClr val="202122"/>
                </a:solidFill>
                <a:ea typeface="sans-serif"/>
                <a:cs typeface="Arial" panose="020B0604020202020204" pitchFamily="34" charset="0"/>
              </a:rPr>
              <a:t>ML</a:t>
            </a:r>
            <a:endParaRPr sz="1600" b="0" i="0">
              <a:solidFill>
                <a:srgbClr val="202122"/>
              </a:solidFill>
              <a:ea typeface="sans-serif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22440" y="3293745"/>
            <a:ext cx="176466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500" b="1" dirty="0" err="1">
                <a:solidFill>
                  <a:srgbClr val="FF0000"/>
                </a:solidFill>
                <a:sym typeface="+mn-ea"/>
              </a:rPr>
              <a:t>SPA</a:t>
            </a:r>
            <a:endParaRPr lang="en-US" altLang="en-US" sz="1500" b="1" dirty="0" err="1">
              <a:solidFill>
                <a:srgbClr val="FF0000"/>
              </a:solidFill>
              <a:sym typeface="+mn-ea"/>
            </a:endParaRPr>
          </a:p>
          <a:p>
            <a:pPr algn="ctr"/>
            <a:r>
              <a:rPr lang="en-US" altLang="en-US" sz="1500" b="1" dirty="0" err="1">
                <a:solidFill>
                  <a:srgbClr val="FF0000"/>
                </a:solidFill>
                <a:sym typeface="+mn-ea"/>
              </a:rPr>
              <a:t>!=</a:t>
            </a:r>
            <a:endParaRPr lang="en-US" altLang="en-US" sz="1500" b="1" dirty="0" err="1">
              <a:solidFill>
                <a:srgbClr val="FF0000"/>
              </a:solidFill>
              <a:sym typeface="+mn-ea"/>
            </a:endParaRPr>
          </a:p>
          <a:p>
            <a:pPr algn="ctr"/>
            <a:r>
              <a:rPr lang="en-US" altLang="en-US" sz="1500" b="1" dirty="0" err="1">
                <a:solidFill>
                  <a:srgbClr val="FF0000"/>
                </a:solidFill>
                <a:sym typeface="+mn-ea"/>
              </a:rPr>
              <a:t>Landing Page !!!</a:t>
            </a:r>
            <a:endParaRPr lang="en-US" altLang="en-US" sz="1500" b="1" dirty="0" err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517515" y="5859780"/>
            <a:ext cx="457200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uk-UA" altLang="en-US" sz="1700" b="1" dirty="0" err="1">
                <a:solidFill>
                  <a:srgbClr val="0070C0"/>
                </a:solidFill>
                <a:sym typeface="+mn-ea"/>
              </a:rPr>
              <a:t>как </a:t>
            </a:r>
            <a:r>
              <a:rPr lang="en-US" altLang="en-US" sz="1700" b="1" dirty="0" err="1">
                <a:solidFill>
                  <a:srgbClr val="0070C0"/>
                </a:solidFill>
                <a:sym typeface="+mn-ea"/>
              </a:rPr>
              <a:t>API</a:t>
            </a:r>
            <a:endParaRPr lang="en-US" altLang="en-US" sz="1700" b="1" dirty="0" err="1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SPA vs Landing Page</a:t>
            </a:r>
            <a:endParaRPr 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8194" name="Text Box 8193"/>
          <p:cNvSpPr txBox="1"/>
          <p:nvPr/>
        </p:nvSpPr>
        <p:spPr>
          <a:xfrm>
            <a:off x="544830" y="1386205"/>
            <a:ext cx="805942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SPA (Single Page Application)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— це повноцінний вебзастосунок, який працює як окрема програма в браузері та оновлює контент без перезавантаження сторінки. Такі рішення мають складну логіку, інтеграцію з API, авторизацію, особисті кабінети та динамічний контент. SPA зазвичай розробляють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 React, Vue або Angular для CRM-систем, dashboard’ів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чи сервісів на кшталт Gmail або Notion.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Landing Page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— це односторінковий сайт, створений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для презентації продукту, продажу або збору заявок. Він має просту структуру, мінімум логіки та зазвичай веде користувача до однієї цільової дії: купити, зареєструватися або залишити заявку. Landing Page швидше та дешевше розробляється, краще підходить для реклами й часто створюється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 HTML/CSS,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конструкторах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Webflow / Tilda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тощо.</a:t>
            </a:r>
            <a:endParaRPr lang="uk-UA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Альтернатив</a:t>
            </a:r>
            <a:r>
              <a:rPr lang="uk-UA" altLang="ru-RU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и</a:t>
            </a:r>
            <a:r>
              <a:rPr lang="ru-RU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 </a:t>
            </a:r>
            <a:r>
              <a:rPr lang="en-US" sz="4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React</a:t>
            </a:r>
            <a:endParaRPr 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8194" name="Text Box 8193"/>
          <p:cNvSpPr txBox="1"/>
          <p:nvPr/>
        </p:nvSpPr>
        <p:spPr>
          <a:xfrm>
            <a:off x="544830" y="1386205"/>
            <a:ext cx="805942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Vue.js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— прогресивний JavaScript-фреймворк, відомий своєю легкістю інтеграції, простотою вивчення та меншим розміром бандла порівняно з React. Використовує віртуальний DOM,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як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і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React, але пропонує простішу синтаксичну модель і вбудовані функції, такі як реактивне зв’язування даних (Alibaba, Xiaomi, GitLab, Adobe)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Angular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повноцінний фреймворк від Google, заснований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 TypeScript, з двостороннім зв’язуванням даних і реальним DOM. Підходить для великих, складних додатків завдяки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суворій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структурі та вбудованим інструментам, таким як CLI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та керування залежностями (Google, Microsoft, IBM, Forbes)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Svelte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(The New York Times, Spotify)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Preact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легковагова альтернатива React (3 КБ)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Ember.js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— (LinkedIn, Apple, Heroku)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Переваги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10242" name="Text Box 10241"/>
          <p:cNvSpPr txBox="1"/>
          <p:nvPr/>
        </p:nvSpPr>
        <p:spPr>
          <a:xfrm>
            <a:off x="471170" y="1430655"/>
            <a:ext cx="813308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Створення інтерактивного інтерфейсу, що реагує на зміни даних без перезавантаження сторінки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Керування станом додатка та передача даних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між компонентами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Повторне використання компонентів у різних частинах інтерфейсу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Оптимізація продуктивності за рахунок використання віртуального DOM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Спрощення структури проєкту завдяки компонентному підходу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Реалізація динамічної маршрутизації (переходів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між сторінками)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Спрощення роботи із зовнішніми даними та API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Підвищення читабельності та масштабованості коду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за допомогою хуків і декларативного стилю розробки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Text Box 112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Недоліки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React</a:t>
            </a:r>
            <a:endParaRPr lang="ru-RU" altLang="x-none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11266" name="Text Box 11265"/>
          <p:cNvSpPr txBox="1"/>
          <p:nvPr/>
        </p:nvSpPr>
        <p:spPr>
          <a:xfrm>
            <a:off x="485140" y="1386205"/>
            <a:ext cx="81191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React не надає прямого доступу до файлової системи клієнта </a:t>
            </a:r>
            <a:r>
              <a:rPr lang="ru-RU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або сервера (усі операції з файлами потребують додаткових технологій — File API, Node.js тощо)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Неможливо напряму працювати з базами даних — взаємодія завжди здійснюється через серверні інтерфейси (наприклад, REST API</a:t>
            </a:r>
            <a:r>
              <a:rPr lang="ru-RU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/ GraphQL / Firebase)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React — це бібліотека для створення інтерфейсів,                              а не повноцінний фреймворк, тому для вирішення багатьох завдань доводиться підключати додаткові інструменти (маршрутизація, керування станом, тестування тощо)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React-додатки працюють у браузері, тому не можуть напряму звертатися до API операційної системи або керувати пам’яттю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Продуктивність може знижуватися при неправильній роботі               зі станом або при надмірн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ій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перемал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ьовці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компонентів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4805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Часті оновлення та зміни екосистеми вимагають постійного вивчення нових підходів і інструментів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Text Box 122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Верс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12290" name="Text Box 12289"/>
          <p:cNvSpPr txBox="1"/>
          <p:nvPr/>
        </p:nvSpPr>
        <p:spPr>
          <a:xfrm>
            <a:off x="471170" y="1430655"/>
            <a:ext cx="813308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4630" indent="-214630" defTabSz="457200">
              <a:spcBef>
                <a:spcPts val="800"/>
              </a:spcBef>
              <a:buSzPct val="45000"/>
              <a:buFont typeface="Wingdings" panose="05000000000000000000" pitchFamily="2" charset="2"/>
              <a:buChar char=""/>
              <a:tabLst>
                <a:tab pos="214630" algn="l"/>
                <a:tab pos="671830" algn="l"/>
                <a:tab pos="1129030" algn="l"/>
                <a:tab pos="1586230" algn="l"/>
                <a:tab pos="2043430" algn="l"/>
                <a:tab pos="2500630" algn="l"/>
                <a:tab pos="2957830" algn="l"/>
                <a:tab pos="3415030" algn="l"/>
                <a:tab pos="3872230" algn="l"/>
                <a:tab pos="4329430" algn="l"/>
                <a:tab pos="4786630" algn="l"/>
                <a:tab pos="5243830" algn="l"/>
                <a:tab pos="5701030" algn="l"/>
                <a:tab pos="6158230" algn="l"/>
                <a:tab pos="6615430" algn="l"/>
                <a:tab pos="7072630" algn="l"/>
                <a:tab pos="7529830" algn="l"/>
                <a:tab pos="7987030" algn="l"/>
                <a:tab pos="8444230" algn="l"/>
                <a:tab pos="8901430" algn="l"/>
                <a:tab pos="93586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React 0.3 (29 травня 2013) — перша публічна версія, що представила концепції компонентів і віртуального DOM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14630" indent="-214630" defTabSz="457200">
              <a:spcBef>
                <a:spcPts val="800"/>
              </a:spcBef>
              <a:buSzPct val="45000"/>
              <a:buFont typeface="Wingdings" panose="05000000000000000000" pitchFamily="2" charset="2"/>
              <a:buChar char=""/>
              <a:tabLst>
                <a:tab pos="214630" algn="l"/>
                <a:tab pos="671830" algn="l"/>
                <a:tab pos="1129030" algn="l"/>
                <a:tab pos="1586230" algn="l"/>
                <a:tab pos="2043430" algn="l"/>
                <a:tab pos="2500630" algn="l"/>
                <a:tab pos="2957830" algn="l"/>
                <a:tab pos="3415030" algn="l"/>
                <a:tab pos="3872230" algn="l"/>
                <a:tab pos="4329430" algn="l"/>
                <a:tab pos="4786630" algn="l"/>
                <a:tab pos="5243830" algn="l"/>
                <a:tab pos="5701030" algn="l"/>
                <a:tab pos="6158230" algn="l"/>
                <a:tab pos="6615430" algn="l"/>
                <a:tab pos="7072630" algn="l"/>
                <a:tab pos="7529830" algn="l"/>
                <a:tab pos="7987030" algn="l"/>
                <a:tab pos="8444230" algn="l"/>
                <a:tab pos="8901430" algn="l"/>
                <a:tab pos="93586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React 0.9 (серпень 2013) — додана підтримка форм і покращена робота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 подіями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14630" indent="-214630" defTabSz="457200">
              <a:spcBef>
                <a:spcPts val="800"/>
              </a:spcBef>
              <a:buSzPct val="45000"/>
              <a:buFont typeface="Wingdings" panose="05000000000000000000" pitchFamily="2" charset="2"/>
              <a:buChar char=""/>
              <a:tabLst>
                <a:tab pos="214630" algn="l"/>
                <a:tab pos="671830" algn="l"/>
                <a:tab pos="1129030" algn="l"/>
                <a:tab pos="1586230" algn="l"/>
                <a:tab pos="2043430" algn="l"/>
                <a:tab pos="2500630" algn="l"/>
                <a:tab pos="2957830" algn="l"/>
                <a:tab pos="3415030" algn="l"/>
                <a:tab pos="3872230" algn="l"/>
                <a:tab pos="4329430" algn="l"/>
                <a:tab pos="4786630" algn="l"/>
                <a:tab pos="5243830" algn="l"/>
                <a:tab pos="5701030" algn="l"/>
                <a:tab pos="6158230" algn="l"/>
                <a:tab pos="6615430" algn="l"/>
                <a:tab pos="7072630" algn="l"/>
                <a:tab pos="7529830" algn="l"/>
                <a:tab pos="7987030" algn="l"/>
                <a:tab pos="8444230" algn="l"/>
                <a:tab pos="8901430" algn="l"/>
                <a:tab pos="93586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React 0.14 (жовтень 2015) — ReactDOM відокремлено від React,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що зробило API більш модульним;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введена підтримка функціональних компонентів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14630" indent="-214630" defTabSz="457200">
              <a:spcBef>
                <a:spcPts val="800"/>
              </a:spcBef>
              <a:buSzPct val="45000"/>
              <a:buFont typeface="Wingdings" panose="05000000000000000000" pitchFamily="2" charset="2"/>
              <a:buChar char=""/>
              <a:tabLst>
                <a:tab pos="214630" algn="l"/>
                <a:tab pos="671830" algn="l"/>
                <a:tab pos="1129030" algn="l"/>
                <a:tab pos="1586230" algn="l"/>
                <a:tab pos="2043430" algn="l"/>
                <a:tab pos="2500630" algn="l"/>
                <a:tab pos="2957830" algn="l"/>
                <a:tab pos="3415030" algn="l"/>
                <a:tab pos="3872230" algn="l"/>
                <a:tab pos="4329430" algn="l"/>
                <a:tab pos="4786630" algn="l"/>
                <a:tab pos="5243830" algn="l"/>
                <a:tab pos="5701030" algn="l"/>
                <a:tab pos="6158230" algn="l"/>
                <a:tab pos="6615430" algn="l"/>
                <a:tab pos="7072630" algn="l"/>
                <a:tab pos="7529830" algn="l"/>
                <a:tab pos="7987030" algn="l"/>
                <a:tab pos="8444230" algn="l"/>
                <a:tab pos="8901430" algn="l"/>
                <a:tab pos="93586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React 15.0 (квітень 2016) — перехід на новий механізм рендерингу, покращення обробки подій і помилок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14630" indent="-214630" defTabSz="457200">
              <a:spcBef>
                <a:spcPts val="800"/>
              </a:spcBef>
              <a:buSzPct val="45000"/>
              <a:buFont typeface="Wingdings" panose="05000000000000000000" pitchFamily="2" charset="2"/>
              <a:buChar char=""/>
              <a:tabLst>
                <a:tab pos="214630" algn="l"/>
                <a:tab pos="671830" algn="l"/>
                <a:tab pos="1129030" algn="l"/>
                <a:tab pos="1586230" algn="l"/>
                <a:tab pos="2043430" algn="l"/>
                <a:tab pos="2500630" algn="l"/>
                <a:tab pos="2957830" algn="l"/>
                <a:tab pos="3415030" algn="l"/>
                <a:tab pos="3872230" algn="l"/>
                <a:tab pos="4329430" algn="l"/>
                <a:tab pos="4786630" algn="l"/>
                <a:tab pos="5243830" algn="l"/>
                <a:tab pos="5701030" algn="l"/>
                <a:tab pos="6158230" algn="l"/>
                <a:tab pos="6615430" algn="l"/>
                <a:tab pos="7072630" algn="l"/>
                <a:tab pos="7529830" algn="l"/>
                <a:tab pos="7987030" algn="l"/>
                <a:tab pos="8444230" algn="l"/>
                <a:tab pos="8901430" algn="l"/>
                <a:tab pos="935863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React 16.8 (лютий 2019) — введено хуки (useState, useEffect тощо), що значно спростило роботу зі станом у функціональних компонентах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14630" indent="-214630" defTabSz="457200">
              <a:spcBef>
                <a:spcPts val="800"/>
              </a:spcBef>
              <a:buSzPct val="45000"/>
              <a:buFont typeface="Wingdings" panose="05000000000000000000" pitchFamily="2" charset="2"/>
              <a:buChar char=""/>
              <a:tabLst>
                <a:tab pos="214630" algn="l"/>
                <a:tab pos="671830" algn="l"/>
                <a:tab pos="1129030" algn="l"/>
                <a:tab pos="1586230" algn="l"/>
                <a:tab pos="2043430" algn="l"/>
                <a:tab pos="2500630" algn="l"/>
                <a:tab pos="2957830" algn="l"/>
                <a:tab pos="3415030" algn="l"/>
                <a:tab pos="3872230" algn="l"/>
                <a:tab pos="4329430" algn="l"/>
                <a:tab pos="4786630" algn="l"/>
                <a:tab pos="5243830" algn="l"/>
                <a:tab pos="5701030" algn="l"/>
                <a:tab pos="6158230" algn="l"/>
                <a:tab pos="6615430" algn="l"/>
                <a:tab pos="7072630" algn="l"/>
                <a:tab pos="7529830" algn="l"/>
                <a:tab pos="7987030" algn="l"/>
                <a:tab pos="8444230" algn="l"/>
                <a:tab pos="8901430" algn="l"/>
                <a:tab pos="935863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React 19.2.</a:t>
            </a:r>
            <a:r>
              <a:rPr lang="en-US" altLang="uk-UA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7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(1 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червня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202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6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) — остання версія на поточний момент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SzPct val="45000"/>
              <a:tabLst>
                <a:tab pos="214630" algn="l"/>
                <a:tab pos="671830" algn="l"/>
                <a:tab pos="1129030" algn="l"/>
                <a:tab pos="1586230" algn="l"/>
                <a:tab pos="2043430" algn="l"/>
                <a:tab pos="2500630" algn="l"/>
                <a:tab pos="2957830" algn="l"/>
                <a:tab pos="3415030" algn="l"/>
                <a:tab pos="3872230" algn="l"/>
                <a:tab pos="4329430" algn="l"/>
                <a:tab pos="4786630" algn="l"/>
                <a:tab pos="5243830" algn="l"/>
                <a:tab pos="5701030" algn="l"/>
                <a:tab pos="6158230" algn="l"/>
                <a:tab pos="6615430" algn="l"/>
                <a:tab pos="7072630" algn="l"/>
                <a:tab pos="7529830" algn="l"/>
                <a:tab pos="7987030" algn="l"/>
                <a:tab pos="8444230" algn="l"/>
                <a:tab pos="8901430" algn="l"/>
                <a:tab pos="9358630" algn="l"/>
              </a:tabLst>
            </a:pP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https://github.com/facebook/react/releases?page=1</a:t>
            </a:r>
            <a:endParaRPr lang="en-US" altLang="en-US" sz="18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14630" indent="-214630" defTabSz="457200">
              <a:spcBef>
                <a:spcPts val="800"/>
              </a:spcBef>
              <a:buSzPct val="45000"/>
              <a:buFont typeface="Wingdings" panose="05000000000000000000" pitchFamily="2" charset="2"/>
              <a:buChar char=""/>
              <a:tabLst>
                <a:tab pos="214630" algn="l"/>
                <a:tab pos="671830" algn="l"/>
                <a:tab pos="1129030" algn="l"/>
                <a:tab pos="1586230" algn="l"/>
                <a:tab pos="2043430" algn="l"/>
                <a:tab pos="2500630" algn="l"/>
                <a:tab pos="2957830" algn="l"/>
                <a:tab pos="3415030" algn="l"/>
                <a:tab pos="3872230" algn="l"/>
                <a:tab pos="4329430" algn="l"/>
                <a:tab pos="4786630" algn="l"/>
                <a:tab pos="5243830" algn="l"/>
                <a:tab pos="5701030" algn="l"/>
                <a:tab pos="6158230" algn="l"/>
                <a:tab pos="6615430" algn="l"/>
                <a:tab pos="7072630" algn="l"/>
                <a:tab pos="7529830" algn="l"/>
                <a:tab pos="7987030" algn="l"/>
                <a:tab pos="8444230" algn="l"/>
                <a:tab pos="8901430" algn="l"/>
                <a:tab pos="9358630" algn="l"/>
              </a:tabLst>
            </a:pPr>
            <a:endParaRPr lang="en-US" altLang="en-US" sz="18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бота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з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417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На відміну від класичного JavaScript, де скрипти часто пишуться прямо в HTML-файлах, у React створюються повноцінні компонентні додатки з використанням JSX (розширення синтаксису JavaScript). Розробка ведеться в окремих файлах,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як правило, з використанням модульної структури та збирачів, таких як Vite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або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Webpack.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Для написання коду на React знадобиться: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Редактор коду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Браузер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— Google Chrome, Safari, Firefox або будь-який інший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із підтримкою DevTools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Node.js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 npm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— для запуску серверів розробки та керування залежностями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Термінал/командний рядок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— для запуску скриптів і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					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керування проєктом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Навіщо на фронті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Node.js</a:t>
            </a: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?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React.js, будучи фронтенд-бібліотекою, все ж використовує Node.js і npm для керування залежностями, збирання проєктів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і запуску локального сервера розробки. Локальний сервер розробки потрібен для емуляції реального серверного середовища на комп’ютері розробника, що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дозволяє тестувати React-додатки в браузері з автоматичним перезавантаженням при зміні коду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. Він забезпечує швидку обробку JavaScript, CSS та інших ресурсів, а також підтримує функції, такі як гаряче перезавантаження (hot reloading),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для прискорення розробки.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Node.js забезпечує середовище для виконання JavaScript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поза браузером, а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npm дозволяє встановлювати додаткові бібліотеки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, крім React, і керувати пакетами проєкту. Це спрощує розробку, тестування та розгортання сучасних вебдодатків.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720" y="6395720"/>
            <a:ext cx="90011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action="ppaction://hlinkfile"/>
              </a:rPr>
              <a:t>https://it-incubator.io/free-courses/front-end/samurai-way/reactjs_lesson2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Редактор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коду для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Visual Studio Code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— потужний, безкоштовний редактор із великою кількістю розширень: </a:t>
            </a:r>
            <a:r>
              <a:rPr lang="en-US" altLang="en-US" sz="2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https://code.visualstudio.com/download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WebStorm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— комерційна IDE від JetBrains, орієнтована на веброзробку на JavaScript / TypeScript: </a:t>
            </a:r>
            <a:r>
              <a:rPr lang="en-US" altLang="en-US" sz="2200" b="1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https://www.jetbrains.com/webstorm/download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CodeSandbox — онлайн-редактор, ідеальний для React-проєктів, підтримує компоненти, npm-пакети та серверну логіку: </a:t>
            </a:r>
            <a:r>
              <a:rPr lang="en-US" altLang="en-US" sz="2200" b="1" dirty="0" err="1">
                <a:solidFill>
                  <a:srgbClr val="0070C0"/>
                </a:solidFill>
                <a:ea typeface="Microsoft YaHei" panose="020B0503020204020204" charset="-122"/>
                <a:hlinkClick r:id="rId3" action="ppaction://hlinkfile"/>
              </a:rPr>
              <a:t>https://codesandbox.io/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StackBlitz — миттєвий запуск React-додатків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із підтримкою Vite і Next.js: </a:t>
            </a:r>
            <a:r>
              <a:rPr lang="en-US" altLang="en-US" sz="2200" b="1" dirty="0" err="1">
                <a:solidFill>
                  <a:srgbClr val="0070C0"/>
                </a:solidFill>
                <a:ea typeface="Microsoft YaHei" panose="020B0503020204020204" charset="-122"/>
                <a:hlinkClick r:id="rId4" action="ppaction://hlinkfile"/>
              </a:rPr>
              <a:t>https://stackblitz.com/</a:t>
            </a:r>
            <a:endParaRPr lang="en-US" altLang="en-US" sz="2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5" action="ppaction://hlinkfile"/>
              </a:rPr>
              <a:t>https://react.dev/learn/editor-setup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Ще 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онлайн редактор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Replit — онлайн-платформа для спільної розробки десятками мов, включно з JavaScript. Підтримує серверну логіку, консоль, бази даних: </a:t>
            </a:r>
            <a:r>
              <a:rPr lang="en-US" altLang="en-US" sz="2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https://replit.com/new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PlayCode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— ще один онлайн-редактор із підтримкою React: </a:t>
            </a:r>
            <a:r>
              <a:rPr lang="en-US" altLang="en-US" sz="2200" b="1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https://playcode.io/react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JSFiddle — мінімалістичне середовище для тестування та обміну фрагментами HTML/CSS/JS-коду: </a:t>
            </a:r>
            <a:r>
              <a:rPr lang="en-US" altLang="en-US" sz="2200" b="1" dirty="0" err="1">
                <a:solidFill>
                  <a:srgbClr val="0070C0"/>
                </a:solidFill>
                <a:ea typeface="Microsoft YaHei" panose="020B0503020204020204" charset="-122"/>
                <a:hlinkClick r:id="rId3" action="ppaction://hlinkfile"/>
              </a:rPr>
              <a:t>https://jsfiddle.net/boilerplate/react-jsx</a:t>
            </a:r>
            <a:endParaRPr lang="en-US" altLang="en-US" sz="2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про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є</a:t>
            </a: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кту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*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b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Create React App</a:t>
            </a:r>
            <a:r>
              <a:rPr lang="en-US" altLang="en-US" sz="21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— в минулому </a:t>
            </a:r>
            <a:r>
              <a:rPr lang="uk-UA" altLang="en-US" sz="21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це був</a:t>
            </a:r>
            <a:r>
              <a:rPr lang="en-US" altLang="en-US" sz="21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класичний інструмент для створення нового додатка на React. Переконайтеся, </a:t>
            </a:r>
            <a:r>
              <a:rPr lang="uk-UA" altLang="en-US" sz="21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     </a:t>
            </a:r>
            <a:r>
              <a:rPr lang="en-US" altLang="en-US" sz="21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що встановлено Node.js (node -v) і npm (npm -v).</a:t>
            </a:r>
            <a:endParaRPr lang="en-US" altLang="en-US" sz="2100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100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100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Якщо ні, то завантажте Node.js </a:t>
            </a:r>
            <a:r>
              <a:rPr lang="en-US" altLang="en-US" sz="2100">
                <a:solidFill>
                  <a:srgbClr val="0070C0"/>
                </a:solidFill>
                <a:cs typeface="Arial" panose="020B0604020202020204" pitchFamily="34" charset="0"/>
                <a:sym typeface="+mn-ea"/>
                <a:hlinkClick r:id="rId1" action="ppaction://hlinkfile"/>
              </a:rPr>
              <a:t>https://nodejs.org/en/download</a:t>
            </a:r>
            <a:r>
              <a:rPr lang="uk-UA" altLang="en-US" sz="2100">
                <a:solidFill>
                  <a:srgbClr val="0070C0"/>
                </a:solidFill>
                <a:cs typeface="Arial" panose="020B0604020202020204" pitchFamily="34" charset="0"/>
                <a:sym typeface="+mn-ea"/>
                <a:hlinkClick r:id="rId1" action="ppaction://hlinkfile"/>
              </a:rPr>
              <a:t> </a:t>
            </a:r>
            <a:r>
              <a:rPr lang="en-US" altLang="en-US" sz="21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При під час інсталяції Node.js npm інсталюється автоматично — це стандарт. Якщо ні, то</a:t>
            </a:r>
            <a:r>
              <a:rPr lang="uk-UA" altLang="en-US" sz="21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2100" b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npm install -g npm</a:t>
            </a:r>
            <a:endParaRPr lang="en-US" altLang="en-US" sz="2100" b="1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100" b="1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altLang="en-US" sz="2100" b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Заходимо в </a:t>
            </a:r>
            <a:r>
              <a:rPr lang="en-US" altLang="en-US" sz="2100" b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VS Code</a:t>
            </a:r>
            <a:r>
              <a:rPr lang="uk-UA" altLang="en-US" sz="2100" b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, </a:t>
            </a:r>
            <a:r>
              <a:rPr lang="uk-UA" sz="2100" b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відкриваємо </a:t>
            </a:r>
            <a:r>
              <a:rPr lang="en-US" altLang="ru-RU" sz="2100" b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Terminal:</a:t>
            </a:r>
            <a:endParaRPr lang="en-US" altLang="en-US" sz="2100" b="1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100" b="1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100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1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2483485"/>
            <a:ext cx="2495550" cy="485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445" y="2508885"/>
            <a:ext cx="2409825" cy="504825"/>
          </a:xfrm>
          <a:prstGeom prst="rect">
            <a:avLst/>
          </a:prstGeom>
        </p:spPr>
      </p:pic>
      <p:pic>
        <p:nvPicPr>
          <p:cNvPr id="4" name="Picture 3" descr="Снимок экрана 2025-05-09 1509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95" y="4824095"/>
            <a:ext cx="7896860" cy="19615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90575" y="4013835"/>
            <a:ext cx="9105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0070C0"/>
                </a:solidFill>
                <a:hlinkClick r:id="rId5" action="ppaction://hlinkfile"/>
              </a:rPr>
              <a:t>https://it-incubator.io/free-courses/front-end/samurai-way/reactjs_lesson3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sym typeface="+mn-ea"/>
              </a:rPr>
              <a:t>Створення про</a:t>
            </a:r>
            <a:r>
              <a:rPr lang="uk-UA" altLang="uk-UA" sz="4200" dirty="0" err="1">
                <a:solidFill>
                  <a:srgbClr val="FFFFFF"/>
                </a:solidFill>
                <a:sym typeface="+mn-ea"/>
              </a:rPr>
              <a:t>є</a:t>
            </a:r>
            <a:r>
              <a:rPr lang="ru-RU" altLang="uk-UA" sz="4200" dirty="0" err="1">
                <a:solidFill>
                  <a:srgbClr val="FFFFFF"/>
                </a:solidFill>
                <a:sym typeface="+mn-ea"/>
              </a:rPr>
              <a:t>кту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React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*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2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Встановлюємо </a:t>
            </a:r>
            <a:r>
              <a:rPr lang="ru-RU" altLang="uk-UA" sz="22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глобально</a:t>
            </a:r>
            <a:r>
              <a:rPr lang="uk-UA" altLang="en-US" sz="22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збирач фронтенду</a:t>
            </a:r>
            <a:r>
              <a:rPr lang="uk-UA" altLang="en-US" sz="22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              </a:t>
            </a:r>
            <a:r>
              <a:rPr lang="en-US" altLang="en-US" sz="2200" b="1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create-react-app (CRA)</a:t>
            </a:r>
            <a:r>
              <a:rPr lang="en-US" altLang="en-US" sz="220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4A86E8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npm install -g create-react-app</a:t>
            </a:r>
            <a:endParaRPr lang="en-US" sz="2200" b="1">
              <a:solidFill>
                <a:srgbClr val="4A86E8"/>
              </a:solidFill>
              <a:highlight>
                <a:schemeClr val="lt1"/>
              </a:highlight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b="1">
              <a:solidFill>
                <a:srgbClr val="4A86E8"/>
              </a:solidFill>
              <a:highlight>
                <a:schemeClr val="lt1"/>
              </a:highlight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Створюємо </a:t>
            </a:r>
            <a:r>
              <a:rPr lang="ru-RU" altLang="en-US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папку на </a:t>
            </a:r>
            <a:r>
              <a:rPr lang="uk-UA" altLang="ru-RU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робочому </a:t>
            </a:r>
            <a:r>
              <a:rPr lang="ru-RU" altLang="en-US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стол</a:t>
            </a:r>
            <a:r>
              <a:rPr lang="uk-UA" altLang="ru-RU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і</a:t>
            </a:r>
            <a:r>
              <a:rPr lang="ru-RU" altLang="en-US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, переходим</a:t>
            </a:r>
            <a:r>
              <a:rPr lang="uk-UA" altLang="ru-RU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о</a:t>
            </a:r>
            <a:r>
              <a:rPr lang="ru-RU" altLang="en-US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 в не</a:t>
            </a:r>
            <a:r>
              <a:rPr lang="uk-UA" altLang="ru-RU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ї</a:t>
            </a:r>
            <a:r>
              <a:rPr lang="ru-RU" altLang="en-US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:</a:t>
            </a:r>
            <a:endParaRPr lang="ru-RU" altLang="en-US" sz="2200">
              <a:solidFill>
                <a:schemeClr val="tx1"/>
              </a:solidFill>
              <a:highlight>
                <a:schemeClr val="lt1"/>
              </a:highlight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>
                <a:solidFill>
                  <a:srgbClr val="4A86E8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cd 'C:\Users\Alex\Desktop\vscode react'</a:t>
            </a:r>
            <a:endParaRPr lang="en-US" altLang="en-US" sz="2200" b="1">
              <a:solidFill>
                <a:srgbClr val="4A86E8"/>
              </a:solidFill>
              <a:highlight>
                <a:schemeClr val="lt1"/>
              </a:highlight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4A86E8"/>
              </a:solidFill>
              <a:highlight>
                <a:schemeClr val="lt1"/>
              </a:highlight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200">
                <a:solidFill>
                  <a:schemeClr val="tx1"/>
                </a:solidFill>
                <a:highlight>
                  <a:schemeClr val="lt1"/>
                </a:highlight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Створюємо </a:t>
            </a:r>
            <a:r>
              <a:rPr lang="uk-UA" altLang="ru-RU" sz="2200">
                <a:solidFill>
                  <a:schemeClr val="tx1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перший </a:t>
            </a:r>
            <a:r>
              <a:rPr lang="ru-RU" sz="2200">
                <a:solidFill>
                  <a:schemeClr val="tx1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про</a:t>
            </a:r>
            <a:r>
              <a:rPr lang="uk-UA" altLang="ru-RU" sz="2200">
                <a:solidFill>
                  <a:schemeClr val="tx1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є</a:t>
            </a:r>
            <a:r>
              <a:rPr lang="ru-RU" sz="2200">
                <a:solidFill>
                  <a:schemeClr val="tx1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кт:</a:t>
            </a:r>
            <a:endParaRPr lang="ru-RU" sz="2200">
              <a:solidFill>
                <a:schemeClr val="tx1"/>
              </a:solidFill>
              <a:highlight>
                <a:schemeClr val="lt1"/>
              </a:highlight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FF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npx create-react-app my-app</a:t>
            </a:r>
            <a:endParaRPr lang="en-US" sz="2200">
              <a:solidFill>
                <a:srgbClr val="0000FF"/>
              </a:solidFill>
              <a:highlight>
                <a:schemeClr val="lt1"/>
              </a:highlight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>
              <a:solidFill>
                <a:srgbClr val="0000FF"/>
              </a:solidFill>
              <a:highlight>
                <a:schemeClr val="lt1"/>
              </a:highlight>
              <a:cs typeface="Arial" panose="020B0604020202020204" pitchFamily="3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2200">
                <a:solidFill>
                  <a:schemeClr val="tx1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Набира</a:t>
            </a:r>
            <a:r>
              <a:rPr lang="uk-UA" altLang="ru-RU" sz="2200">
                <a:solidFill>
                  <a:schemeClr val="tx1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є</a:t>
            </a:r>
            <a:r>
              <a:rPr lang="ru-RU" altLang="en-US" sz="2200">
                <a:solidFill>
                  <a:schemeClr val="tx1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м</a:t>
            </a:r>
            <a:r>
              <a:rPr lang="uk-UA" altLang="ru-RU" sz="2200">
                <a:solidFill>
                  <a:schemeClr val="tx1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о</a:t>
            </a:r>
            <a:r>
              <a:rPr lang="ru-RU" altLang="en-US" sz="2200">
                <a:solidFill>
                  <a:schemeClr val="tx1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:</a:t>
            </a:r>
            <a:endParaRPr sz="2200">
              <a:solidFill>
                <a:schemeClr val="tx1"/>
              </a:solidFill>
              <a:highlight>
                <a:schemeClr val="lt1"/>
              </a:highlight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FF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cd my-app</a:t>
            </a:r>
            <a:endParaRPr sz="2200">
              <a:solidFill>
                <a:srgbClr val="CC0000"/>
              </a:solidFill>
              <a:highlight>
                <a:schemeClr val="lt1"/>
              </a:highlight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FF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npm start </a:t>
            </a:r>
            <a:endParaRPr sz="2200">
              <a:solidFill>
                <a:srgbClr val="0000FF"/>
              </a:solidFill>
              <a:highlight>
                <a:schemeClr val="lt1"/>
              </a:highlight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10" y="6395720"/>
            <a:ext cx="91401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action="ppaction://hlinkfile"/>
              </a:rPr>
              <a:t>https://github.com/facebook/create-react-app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210" y="1764030"/>
            <a:ext cx="9174480" cy="45364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Create React App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Create React App (CRA)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— колись був офіційним інструментом 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від команди React для створення додатків.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Він використовує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Webpack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(інструмент для збірки модулів) і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Babel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збірки              та трансформації коду, надаючи готове середовище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 коробки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CRA автоматично налаштовує Webpack, Babel, ESLint (інструмент  для статичного аналізу коду, який використовується для пошуку          і усунення потенційних помилок, поліпшення якості коду і дотримання код-стилю) та інші інструменти, що було ідеально для новачків,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які не хочуть розбиратися в конфігурації.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u="sng" dirty="0" err="1">
                <a:solidFill>
                  <a:schemeClr val="tx1"/>
                </a:solidFill>
                <a:ea typeface="Microsoft YaHei" panose="020B0503020204020204" charset="-122"/>
              </a:rPr>
              <a:t>Більшість туторіалів, курсів і документації досі використовують саме його, будьте до цього готові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. Однак, є й альтернативи CRA,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і, на щастя, вони не складніші в налаштуванні, а структура про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кту якщо і зміниться, то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зовсім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незначно.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CRA is deprecated...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:(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rgbClr val="0070C0"/>
                </a:solidFill>
                <a:sym typeface="+mn-ea"/>
                <a:hlinkClick r:id="rId1" action="ppaction://hlinkfile"/>
              </a:rPr>
              <a:t>https://github.com/facebook/create-react-app</a:t>
            </a:r>
            <a:endParaRPr lang="en-US" altLang="en-US" sz="2000" b="1">
              <a:solidFill>
                <a:srgbClr val="0070C0"/>
              </a:solidFill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https://react.dev/learn/installation#should-i-use-create-react-app</a:t>
            </a:r>
            <a:endParaRPr lang="en-US" altLang="en-US" sz="20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rgbClr val="0070C0"/>
                </a:solidFill>
                <a:ea typeface="Microsoft YaHei" panose="020B0503020204020204" charset="-122"/>
                <a:hlinkClick r:id="rId3" action="ppaction://hlinkfile"/>
              </a:rPr>
              <a:t>https://react.dev/blog/2025/02/14/sunsetting-create-react-app#deprecating-create-react-app</a:t>
            </a:r>
            <a:endParaRPr lang="en-US" altLang="en-US" sz="2000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980" y="2753995"/>
            <a:ext cx="6712585" cy="293243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0" y="5734050"/>
            <a:ext cx="9165590" cy="685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5" action="ppaction://hlinkfile"/>
              </a:rPr>
              <a:t>https://react.dev/learn/creating-a-react-app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Нов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 збирачі фронтенду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Станом на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червень 2026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року Create React App (CRA) морально застарів і не рекомендується для створення нових React-застосунків. Замість CRA розробники використовують сучасні інструменти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та фреймворки, які пропонують кращу продуктивність, гнучкість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і підтримку серверного рендерингу (SSR), статичної генерації сайтів (SSG) та інших актуальних функцій.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Ось основні альтернативи для створення базового React-застосунку: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Vite + React — найкращий вибір для базового застосунку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Next.js — для масштабованих і SEO-орієнтованих застосунків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Remix — для сучасних інтерактивних застосунків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Astro — для контент-орієнтованих сайтів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Parcel — для мінімальної конфігурації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Vite + React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Vite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(french word for "quick")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важається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неофіційним наступником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CRA завдяки своїй швидкості, легкості та простоті налаштування.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Він використовує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esbuild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блискавичної збірки та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Hot Module Replacement (HMR)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що значно прискорює розробку порівняно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 Webpack, який застосовувався в CRA.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Швидкий запуск dev-сервера та збірка завдяки esbuild і Rollup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(це збирач модулів — бандлер, як і Webpack)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TypeScript, JSX і CSS-модулів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 коробки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Підходить для створення односторінкових застосунків (SPA)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 клієнтським рендерингом (CSR), але також підтримує SSR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як опцію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Мінімальна конфігурація, що робить його ідеальним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початківців і невеликих проєктів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4295" y="6399530"/>
            <a:ext cx="89871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action="ppaction://hlinkfile"/>
              </a:rPr>
              <a:t>https://vite.dev/guide/</a:t>
            </a:r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3" name="Picture 2" descr="Vitejs-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455" y="4918075"/>
            <a:ext cx="2011680" cy="19843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esbuild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Vite використовує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esbuild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— надшвидкий компілятор на Go, який: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транспілює JS/TS/JSX/TSX,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робить це в десятки разів швидше, ніж Babel,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справляється з більшістю завдань, включно з JSX-перетворенням.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Babel можна додати вручну, якщо потрібні специфічні трансформації, наприклад: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кастомні плагіни,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трансформація нестандартного синтаксису,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старих браузерів (IE11 і нижче :))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Порівняння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CRA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та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Vite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Create-react-app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і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Vite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можна назвати інструментами для збірки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та налаштування React-застосунків або засобами для створення застосунків. Обидва вони слугують для того, щоб спростити процес початку роботи з проєктами на React, але роблять це по-різному.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Ось як їх можна класифікувати: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 для створення застосунків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(Boilerplate tools) — вони надають готову структуру проєкту, щоб розробник міг одразу почати писати код без потреби займатися налаштуванням збірки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Системи для збірки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(Build tools) — засоби, що спрощують процес збірки, стиснення й оптимізації коду для продакшн-середовища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 для конфігурації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(Configuration tools) — в обох випадках ці інструменти приховують складність конфігурації таких речей,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як Webpack, Babel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тощо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, і надають зручний інтерфейс для розробки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Порівняння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CRA 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та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Vite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Основна відмінність між ними полягає в методі роботи: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create-react-app — більш традиційний (і вже офіційно застарілий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!!!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) інструмент із готовою конфігурацією,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який вимагає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процедури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"eject", якщо потрібно здійснити глибше налаштування.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Vite — сучасніший інструмент із фокусом на швидкості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та підтримці нових технологій, таких як ES-модулі.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Vite забезпечує швидку збірку та гаряче перезавантаження, що значно пришвидшує процес розробки.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Можна сказати, що обидва вони є стартовими середовищами для React-застосунків, але з різним підходом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до продуктивності та конфігурації.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Порівняння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CRA 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та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Vite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15" y="1538605"/>
            <a:ext cx="9249410" cy="48761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проєкта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+ Vite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У терміналі VS Code: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Виходимо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на робочий стіл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Створюємо проєкт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create vite@latest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Вводимо ім’я проєкту, наприклад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hellovite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фреймворк React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мову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JavaScript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(або TypeScript)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hellovite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(переходимо в папку проєкту)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install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(встановлюємо залежності)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run dev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 (запускаємо проєкт)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або навіть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npx vite --open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 descr="Снимок экрана 2025-05-09 1728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5120"/>
            <a:ext cx="9144000" cy="44672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Створення проєкту в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WebStorm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Ви як хочте, а я буду робити проекти в WebStorm :)</a:t>
            </a: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5-05-09 173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898650"/>
            <a:ext cx="8895080" cy="46907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6-12 1104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82750"/>
            <a:ext cx="9144000" cy="46482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Анатом</a:t>
            </a: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React-</a:t>
            </a: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додатку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65976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React-застосунок складається з кількох ключових елементів,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які взаємодіють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між собою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для створення інтерфейсу.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Основні елементи React-застосунку: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Компоненти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JSX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Віртуальний DOM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Стан (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State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Пропси (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Props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Події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Рендеринг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Маршрутизація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(за потреби)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Управління залежностями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Компоненти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React побудований на концепції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компонентів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— незалежних, багаторазових блоків коду, які описують, як має виглядати та поводитися користувацький інтерфейс (UI). Кожен компонент інкапсулює в собі розмітку (JSX), логіку (JS/TS) і, за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завичай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, стилі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CSS.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Компоненти можна уявити як будівельні цеглинки інтерфейсу: один компонент може бути кнопкою, інший — списком, третій — формою, і все це може вкладатися один в одного.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Компоненти можуть бути функціональними (на основі функцій) або класовими (на основі класів ES6+).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компонент &lt;Button /&gt; може відображати кнопку         з певним текстом та обробником подій.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356350"/>
            <a:ext cx="47478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0070C0"/>
                </a:solidFill>
                <a:highlight>
                  <a:srgbClr val="FFFF00"/>
                </a:highlight>
                <a:sym typeface="+mn-ea"/>
                <a:hlinkClick r:id="rId1" action="ppaction://hlinkfile"/>
              </a:rPr>
              <a:t>https://ru.react.dev/learn#components</a:t>
            </a:r>
            <a:endParaRPr lang="en-US" altLang="en-US" b="1">
              <a:solidFill>
                <a:srgbClr val="0070C0"/>
              </a:solidFill>
              <a:highlight>
                <a:srgbClr val="FFFF00"/>
              </a:highlight>
              <a:sym typeface="+mn-ea"/>
              <a:hlinkClick r:id="rId1" action="ppaction://hlinkfile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Компонент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US" sz="2600" b="1" dirty="0" err="1">
                <a:solidFill>
                  <a:schemeClr val="tx1"/>
                </a:solidFill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Компонент </a:t>
            </a:r>
            <a:r>
              <a:rPr lang="en-US" altLang="en-US" sz="2600" dirty="0" err="1">
                <a:solidFill>
                  <a:schemeClr val="tx1"/>
                </a:solidFill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— це частина користувацького інтерфейсу, яка має власну логіку та зовнішній вигляд. Компонент може бути маленьким,            як кнопка, або великим, як ціла сторінка. </a:t>
            </a:r>
            <a:endParaRPr lang="en-US" altLang="en-US" sz="2600" dirty="0" err="1">
              <a:solidFill>
                <a:schemeClr val="tx1"/>
              </a:solidFill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altLang="en-US" sz="2600" b="1" dirty="0" err="1">
              <a:solidFill>
                <a:schemeClr val="tx1"/>
              </a:solidFill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US" sz="2600" b="1" dirty="0" err="1">
                <a:solidFill>
                  <a:schemeClr val="tx1"/>
                </a:solidFill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Композиція компонентів</a:t>
            </a:r>
            <a:endParaRPr lang="en-US" altLang="en-US" sz="2600" dirty="0" err="1">
              <a:solidFill>
                <a:schemeClr val="tx1"/>
              </a:solidFill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US" sz="2600" dirty="0" err="1">
                <a:solidFill>
                  <a:schemeClr val="tx1"/>
                </a:solidFill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Компоненти можуть посилатися на інші компоненти в DOM-дереві. Це дозволяє використовувати одну і ту ж абстракцію (компоненти) на будь-якому рівні нашого додатка.</a:t>
            </a:r>
            <a:endParaRPr lang="en-US" altLang="en-US" sz="2600" dirty="0" err="1">
              <a:solidFill>
                <a:schemeClr val="tx1"/>
              </a:solidFill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-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все є компонент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US" altLang="en-US" sz="2600" dirty="0" err="1">
              <a:solidFill>
                <a:schemeClr val="tx1"/>
              </a:solidFill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</p:txBody>
      </p:sp>
      <p:pic>
        <p:nvPicPr>
          <p:cNvPr id="2" name="Picture 1" descr="Без имени-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2250" y="1537335"/>
            <a:ext cx="9997440" cy="49987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Тип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компонент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15" y="1448435"/>
            <a:ext cx="9097645" cy="43211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Тип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компонент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575" y="1572260"/>
            <a:ext cx="9097645" cy="41224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5229225"/>
            <a:ext cx="7865745" cy="13430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21335" y="1448435"/>
            <a:ext cx="8002270" cy="4297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000" b="1" dirty="0" err="1">
                <a:solidFill>
                  <a:schemeClr val="tx1"/>
                </a:solidFill>
                <a:sym typeface="+mn-ea"/>
              </a:rPr>
              <a:t>Заходимо в файл </a:t>
            </a:r>
            <a:r>
              <a:rPr lang="en-US" altLang="uk-UA" sz="2000" b="1" dirty="0" err="1">
                <a:solidFill>
                  <a:schemeClr val="tx1"/>
                </a:solidFill>
                <a:sym typeface="+mn-ea"/>
              </a:rPr>
              <a:t>src/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App.jsx</a:t>
            </a:r>
            <a:endParaRPr lang="en-US" sz="2000" b="1" dirty="0" err="1">
              <a:solidFill>
                <a:schemeClr val="tx1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000" b="1" dirty="0" err="1">
                <a:solidFill>
                  <a:schemeClr val="tx1"/>
                </a:solidFill>
                <a:sym typeface="+mn-ea"/>
              </a:rPr>
              <a:t>Додаємо функціональни</a:t>
            </a:r>
            <a:r>
              <a:rPr lang="ru-RU" sz="2000" b="1" dirty="0" err="1">
                <a:solidFill>
                  <a:schemeClr val="tx1"/>
                </a:solidFill>
                <a:sym typeface="+mn-ea"/>
              </a:rPr>
              <a:t>й компонент</a:t>
            </a:r>
            <a:r>
              <a:rPr lang="uk-UA" altLang="ru-RU" sz="2000" b="1" dirty="0" err="1">
                <a:solidFill>
                  <a:schemeClr val="tx1"/>
                </a:solidFill>
                <a:sym typeface="+mn-ea"/>
              </a:rPr>
              <a:t> над </a:t>
            </a:r>
            <a:r>
              <a:rPr lang="en-US" altLang="ru-RU" sz="2000" b="1" dirty="0" err="1">
                <a:solidFill>
                  <a:schemeClr val="tx1"/>
                </a:solidFill>
                <a:sym typeface="+mn-ea"/>
              </a:rPr>
              <a:t>App</a:t>
            </a:r>
            <a:r>
              <a:rPr lang="uk-UA" altLang="ru-RU" sz="2000" b="1" dirty="0" err="1">
                <a:solidFill>
                  <a:schemeClr val="tx1"/>
                </a:solidFill>
                <a:sym typeface="+mn-ea"/>
              </a:rPr>
              <a:t>:</a:t>
            </a:r>
            <a:endParaRPr lang="uk-UA" altLang="ru-RU" sz="2000" b="1" dirty="0" err="1">
              <a:solidFill>
                <a:schemeClr val="tx1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function MyButton() {</a:t>
            </a:r>
            <a:endParaRPr lang="en-US" altLang="en-US" sz="2000" b="1" dirty="0" err="1">
              <a:solidFill>
                <a:srgbClr val="FF000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    return &lt;button&gt;Hello&lt;/button&gt;</a:t>
            </a:r>
            <a:endParaRPr lang="en-US" altLang="en-US" sz="2000" b="1" dirty="0" err="1">
              <a:solidFill>
                <a:srgbClr val="FF000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}</a:t>
            </a:r>
            <a:endParaRPr lang="en-US" altLang="en-US" sz="2000" b="1" dirty="0" err="1">
              <a:solidFill>
                <a:srgbClr val="FF0000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b="1" dirty="0" err="1">
                <a:solidFill>
                  <a:schemeClr val="tx1"/>
                </a:solidFill>
                <a:sym typeface="+mn-ea"/>
              </a:rPr>
              <a:t>Код на всякий випадок: </a:t>
            </a:r>
            <a:r>
              <a:rPr lang="en-US" altLang="en-US" sz="2000" b="1" dirty="0" err="1">
                <a:solidFill>
                  <a:srgbClr val="0070C0"/>
                </a:solidFill>
                <a:sym typeface="+mn-ea"/>
                <a:hlinkClick r:id="rId1" action="ppaction://hlinkfile"/>
              </a:rPr>
              <a:t>https://gist.github.com/sunmeat/26e321283a864c61a8a463cf924b5c00</a:t>
            </a:r>
            <a:endParaRPr lang="en-US" altLang="en-US" sz="2000" b="1" dirty="0" err="1">
              <a:solidFill>
                <a:srgbClr val="0070C0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b="1" dirty="0" err="1">
              <a:solidFill>
                <a:srgbClr val="0070C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b="1" dirty="0" err="1">
                <a:solidFill>
                  <a:schemeClr val="tx1"/>
                </a:solidFill>
                <a:sym typeface="+mn-ea"/>
              </a:rPr>
              <a:t>Чому кнопка така красива?</a:t>
            </a:r>
            <a:endParaRPr lang="uk-UA" altLang="en-US" sz="2000" b="1" dirty="0" err="1">
              <a:solidFill>
                <a:schemeClr val="tx1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000" b="1" dirty="0" err="1">
                <a:solidFill>
                  <a:schemeClr val="tx1"/>
                </a:solidFill>
                <a:sym typeface="+mn-ea"/>
              </a:rPr>
              <a:t>Тому що є </a:t>
            </a:r>
            <a:r>
              <a:rPr lang="ru-RU" altLang="uk-UA" sz="2000" b="1" dirty="0" err="1">
                <a:solidFill>
                  <a:schemeClr val="tx1"/>
                </a:solidFill>
                <a:sym typeface="+mn-ea"/>
              </a:rPr>
              <a:t>файл </a:t>
            </a:r>
            <a:r>
              <a:rPr lang="en-US" altLang="uk-UA" sz="2000" b="1" dirty="0" err="1">
                <a:solidFill>
                  <a:schemeClr val="tx1"/>
                </a:solidFill>
                <a:sym typeface="+mn-ea"/>
              </a:rPr>
              <a:t>index.css</a:t>
            </a:r>
            <a:r>
              <a:rPr lang="uk-UA" altLang="uk-UA" sz="2000" b="1" dirty="0" err="1">
                <a:solidFill>
                  <a:schemeClr val="tx1"/>
                </a:solidFill>
                <a:sym typeface="+mn-ea"/>
              </a:rPr>
              <a:t>, він підключається в </a:t>
            </a:r>
            <a:r>
              <a:rPr lang="en-US" altLang="uk-UA" sz="2000" b="1" dirty="0" err="1">
                <a:solidFill>
                  <a:schemeClr val="tx1"/>
                </a:solidFill>
                <a:sym typeface="+mn-ea"/>
              </a:rPr>
              <a:t>main.jsx</a:t>
            </a:r>
            <a:endParaRPr lang="en-US" altLang="uk-UA" sz="2000" b="1" dirty="0" err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css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підключається в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js?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32435" y="1403985"/>
            <a:ext cx="8128000" cy="4687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CSS підключається через import у JS-файлі, головним чином у сучасних модульних системах, таких як ES Modules, щоб:</a:t>
            </a:r>
            <a:endParaRPr lang="en-US" altLang="en-US" sz="1700" dirty="0" err="1">
              <a:solidFill>
                <a:schemeClr val="tx1"/>
              </a:solidFill>
              <a:sym typeface="+mn-ea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sym typeface="+mn-ea"/>
              </a:rPr>
              <a:t>Забезпечити модульність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: Імпорт CSS у JS дозволяє інкапсулювати стилі разом із компонентом, роблячи код більш організованим і багаторазовим. </a:t>
            </a:r>
            <a:r>
              <a:rPr lang="uk-UA" altLang="en-US" sz="1700" dirty="0" err="1">
                <a:solidFill>
                  <a:schemeClr val="tx1"/>
                </a:solidFill>
                <a:sym typeface="+mn-ea"/>
              </a:rPr>
              <a:t>  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У React чи інших фреймворках стилі </a:t>
            </a:r>
            <a:r>
              <a:rPr lang="uk-UA" altLang="en-US" sz="1700" dirty="0" err="1">
                <a:solidFill>
                  <a:schemeClr val="tx1"/>
                </a:solidFill>
                <a:sym typeface="+mn-ea"/>
              </a:rPr>
              <a:t>зазвичай 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прив’язані до конкретних компонентів.</a:t>
            </a:r>
            <a:endParaRPr lang="en-US" altLang="en-US" sz="1700" dirty="0" err="1">
              <a:solidFill>
                <a:schemeClr val="tx1"/>
              </a:solidFill>
              <a:sym typeface="+mn-ea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sym typeface="+mn-ea"/>
              </a:rPr>
              <a:t>Підтримка збирачів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: Збирачі на кшталт Webpack, Vite або Parcel обробляють import './style.css' і включають CSS у фінальний бандл. </a:t>
            </a:r>
            <a:r>
              <a:rPr lang="uk-UA" altLang="en-US" sz="1700" dirty="0" err="1">
                <a:solidFill>
                  <a:schemeClr val="tx1"/>
                </a:solidFill>
                <a:sym typeface="+mn-ea"/>
              </a:rPr>
              <a:t>          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Це дозволяє оптимізувати завантаження стилів, застосовувати PostCSS, мінімізацію або інші трансформації.</a:t>
            </a:r>
            <a:endParaRPr lang="en-US" altLang="en-US" sz="1700" dirty="0" err="1">
              <a:solidFill>
                <a:schemeClr val="tx1"/>
              </a:solidFill>
              <a:sym typeface="+mn-ea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sym typeface="+mn-ea"/>
              </a:rPr>
              <a:t>Динамічне завантаження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: Імпорт CSS через JS дає можливість завантажувати стилі динамічно (наприклад, тільки коли компонент рендериться), що корисно для оптимізації продуктивності.</a:t>
            </a:r>
            <a:endParaRPr lang="en-US" altLang="en-US" sz="1700" dirty="0" err="1">
              <a:solidFill>
                <a:schemeClr val="tx1"/>
              </a:solidFill>
              <a:sym typeface="+mn-ea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sym typeface="+mn-ea"/>
              </a:rPr>
              <a:t>Локальні стилі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 (Scoped CSS): У деяких випадках (наприклад, </a:t>
            </a:r>
            <a:r>
              <a:rPr lang="uk-UA" altLang="en-US" sz="1700" dirty="0" err="1">
                <a:solidFill>
                  <a:schemeClr val="tx1"/>
                </a:solidFill>
                <a:sym typeface="+mn-ea"/>
              </a:rPr>
              <a:t>                     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з</a:t>
            </a:r>
            <a:r>
              <a:rPr lang="uk-UA" altLang="en-US" sz="1700" dirty="0" err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CSS-модулями) імпорт CSS у JS дозволяє створювати локальні стилі, уникаючи конфліктів імен класів.</a:t>
            </a:r>
            <a:endParaRPr lang="en-US" altLang="en-US" sz="1700" dirty="0" err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21335" y="1448435"/>
            <a:ext cx="800227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000" b="1" dirty="0" err="1">
                <a:solidFill>
                  <a:schemeClr val="tx1"/>
                </a:solidFill>
                <a:sym typeface="+mn-ea"/>
              </a:rPr>
              <a:t>Заходимо в файл </a:t>
            </a:r>
            <a:r>
              <a:rPr lang="en-US" altLang="uk-UA" sz="2000" b="1" dirty="0" err="1">
                <a:solidFill>
                  <a:schemeClr val="tx1"/>
                </a:solidFill>
                <a:sym typeface="+mn-ea"/>
              </a:rPr>
              <a:t>src/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App.jsx</a:t>
            </a:r>
            <a:endParaRPr lang="en-US" sz="2000" b="1" dirty="0" err="1">
              <a:solidFill>
                <a:schemeClr val="tx1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000" b="1" dirty="0" err="1">
                <a:solidFill>
                  <a:schemeClr val="tx1"/>
                </a:solidFill>
                <a:sym typeface="+mn-ea"/>
              </a:rPr>
              <a:t>Додаємо класови</a:t>
            </a:r>
            <a:r>
              <a:rPr lang="ru-RU" sz="2000" b="1" dirty="0" err="1">
                <a:solidFill>
                  <a:schemeClr val="tx1"/>
                </a:solidFill>
                <a:sym typeface="+mn-ea"/>
              </a:rPr>
              <a:t>й компонент</a:t>
            </a:r>
            <a:r>
              <a:rPr lang="uk-UA" altLang="ru-RU" sz="2000" b="1" dirty="0" err="1">
                <a:solidFill>
                  <a:schemeClr val="tx1"/>
                </a:solidFill>
                <a:sym typeface="+mn-ea"/>
              </a:rPr>
              <a:t> над </a:t>
            </a:r>
            <a:r>
              <a:rPr lang="en-US" altLang="ru-RU" sz="2000" b="1" dirty="0" err="1">
                <a:solidFill>
                  <a:schemeClr val="tx1"/>
                </a:solidFill>
                <a:sym typeface="+mn-ea"/>
              </a:rPr>
              <a:t>App</a:t>
            </a:r>
            <a:r>
              <a:rPr lang="uk-UA" altLang="ru-RU" sz="2000" b="1" dirty="0" err="1">
                <a:solidFill>
                  <a:schemeClr val="tx1"/>
                </a:solidFill>
                <a:sym typeface="+mn-ea"/>
              </a:rPr>
              <a:t>:</a:t>
            </a:r>
            <a:endParaRPr lang="uk-UA" altLang="ru-RU" sz="2000" b="1" dirty="0" err="1">
              <a:solidFill>
                <a:schemeClr val="tx1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export class MyHeader extends React.Component {</a:t>
            </a:r>
            <a:endParaRPr lang="en-US" altLang="en-US" sz="2000" b="1" dirty="0" err="1">
              <a:solidFill>
                <a:srgbClr val="FF000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    render() {</a:t>
            </a:r>
            <a:endParaRPr lang="en-US" altLang="en-US" sz="2000" b="1" dirty="0" err="1">
              <a:solidFill>
                <a:srgbClr val="FF000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        return &lt;h1&gt;Hello</a:t>
            </a:r>
            <a:r>
              <a:rPr lang="ru-RU" altLang="en-US" sz="2000" b="1" dirty="0" err="1">
                <a:solidFill>
                  <a:srgbClr val="FF0000"/>
                </a:solidFill>
                <a:sym typeface="+mn-ea"/>
              </a:rPr>
              <a:t>, </a:t>
            </a: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P45</a:t>
            </a: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!&lt;/h1&gt;</a:t>
            </a:r>
            <a:endParaRPr lang="en-US" altLang="en-US" sz="2000" b="1" dirty="0" err="1">
              <a:solidFill>
                <a:srgbClr val="FF000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    }</a:t>
            </a:r>
            <a:endParaRPr lang="en-US" altLang="en-US" sz="2000" b="1" dirty="0" err="1">
              <a:solidFill>
                <a:srgbClr val="FF000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FF0000"/>
                </a:solidFill>
                <a:sym typeface="+mn-ea"/>
              </a:rPr>
              <a:t>}</a:t>
            </a:r>
            <a:endParaRPr lang="en-US" altLang="en-US" sz="2000" b="1" dirty="0" err="1">
              <a:solidFill>
                <a:srgbClr val="FF000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b="1" dirty="0" err="1">
              <a:solidFill>
                <a:srgbClr val="FF000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b="1" dirty="0" err="1">
                <a:solidFill>
                  <a:schemeClr val="tx1"/>
                </a:solidFill>
                <a:sym typeface="+mn-ea"/>
              </a:rPr>
              <a:t>Код на всякий випадок: </a:t>
            </a:r>
            <a:r>
              <a:rPr lang="en-US" altLang="en-US" sz="2000" b="1" dirty="0" err="1">
                <a:solidFill>
                  <a:srgbClr val="0070C0"/>
                </a:solidFill>
                <a:sym typeface="+mn-ea"/>
                <a:hlinkClick r:id="rId1" action="ppaction://hlinkfile"/>
              </a:rPr>
              <a:t>https://gist.github.com/sunmeat/ac53b7f2b19c3fa74dcda5d63e464e0f</a:t>
            </a:r>
            <a:endParaRPr lang="en-US" altLang="en-US" sz="2000" b="1" dirty="0" err="1">
              <a:solidFill>
                <a:srgbClr val="0070C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uk-UA" sz="2000" b="1" dirty="0" err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 чому різниця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76885" y="1403985"/>
            <a:ext cx="8002270" cy="4497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sym typeface="+mn-ea"/>
              </a:rPr>
              <a:t>Класові компоненти </a:t>
            </a:r>
            <a:r>
              <a:rPr lang="en-US" altLang="en-US" sz="2100" dirty="0" err="1">
                <a:solidFill>
                  <a:schemeClr val="tx1"/>
                </a:solidFill>
                <a:sym typeface="+mn-ea"/>
              </a:rPr>
              <a:t>— складніші, вимагають більше коду   і використовують this для роботи з даними, наприклад, </a:t>
            </a:r>
            <a:r>
              <a:rPr lang="uk-UA" altLang="en-US" sz="2100" dirty="0" err="1"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en-US" sz="2100" dirty="0" err="1">
                <a:solidFill>
                  <a:schemeClr val="tx1"/>
                </a:solidFill>
                <a:sym typeface="+mn-ea"/>
              </a:rPr>
              <a:t>для зберігання лічильника кліків</a:t>
            </a:r>
            <a:endParaRPr lang="en-US" altLang="en-US" sz="2100" dirty="0" err="1">
              <a:solidFill>
                <a:schemeClr val="tx1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sym typeface="+mn-ea"/>
              </a:rPr>
              <a:t>Функціональні компоненти</a:t>
            </a:r>
            <a:r>
              <a:rPr lang="en-US" altLang="en-US" sz="2100" dirty="0" err="1">
                <a:solidFill>
                  <a:schemeClr val="tx1"/>
                </a:solidFill>
                <a:sym typeface="+mn-ea"/>
              </a:rPr>
              <a:t> — це звичайні функції, </a:t>
            </a:r>
            <a:r>
              <a:rPr lang="uk-UA" altLang="en-US" sz="2100" dirty="0" err="1">
                <a:solidFill>
                  <a:schemeClr val="tx1"/>
                </a:solidFill>
                <a:sym typeface="+mn-ea"/>
              </a:rPr>
              <a:t>          </a:t>
            </a:r>
            <a:r>
              <a:rPr lang="en-US" altLang="en-US" sz="2100" dirty="0" err="1">
                <a:solidFill>
                  <a:schemeClr val="tx1"/>
                </a:solidFill>
                <a:sym typeface="+mn-ea"/>
              </a:rPr>
              <a:t>як в JavaScript. Вони простіші, коротші і використовують хуки (наприклад, useState), щоб робити те ж саме, </a:t>
            </a:r>
            <a:r>
              <a:rPr lang="uk-UA" altLang="en-US" sz="2100" dirty="0" err="1">
                <a:solidFill>
                  <a:schemeClr val="tx1"/>
                </a:solidFill>
                <a:sym typeface="+mn-ea"/>
              </a:rPr>
              <a:t>    </a:t>
            </a:r>
            <a:r>
              <a:rPr lang="en-US" altLang="uk-UA" sz="2100" dirty="0" err="1">
                <a:solidFill>
                  <a:schemeClr val="tx1"/>
                </a:solidFill>
                <a:sym typeface="+mn-ea"/>
              </a:rPr>
              <a:t>   </a:t>
            </a:r>
            <a:r>
              <a:rPr lang="uk-UA" altLang="en-US" sz="2100" dirty="0" err="1">
                <a:solidFill>
                  <a:schemeClr val="tx1"/>
                </a:solidFill>
                <a:sym typeface="+mn-ea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sym typeface="+mn-ea"/>
              </a:rPr>
              <a:t>що і класи</a:t>
            </a:r>
            <a:endParaRPr lang="en-US" altLang="en-US" sz="2100" dirty="0" err="1">
              <a:solidFill>
                <a:schemeClr val="tx1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sym typeface="+mn-ea"/>
              </a:rPr>
              <a:t>Функціональні компоненти легше писати і читати</a:t>
            </a:r>
            <a:r>
              <a:rPr lang="en-US" altLang="en-US" sz="2100" dirty="0" err="1">
                <a:solidFill>
                  <a:schemeClr val="tx1"/>
                </a:solidFill>
                <a:sym typeface="+mn-ea"/>
              </a:rPr>
              <a:t>, вони вимагають менше коду і рідше призводять до помилок.  </a:t>
            </a:r>
            <a:r>
              <a:rPr lang="uk-UA" altLang="en-US" sz="2100" dirty="0" err="1">
                <a:solidFill>
                  <a:schemeClr val="tx1"/>
                </a:solidFill>
                <a:sym typeface="+mn-ea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sym typeface="+mn-ea"/>
              </a:rPr>
              <a:t>Хуки зробили їх такими ж потужними, як класові,</a:t>
            </a:r>
            <a:r>
              <a:rPr lang="uk-UA" altLang="en-US" sz="2100" dirty="0" err="1">
                <a:solidFill>
                  <a:schemeClr val="tx1"/>
                </a:solidFill>
                <a:sym typeface="+mn-ea"/>
              </a:rPr>
              <a:t>                       </a:t>
            </a:r>
            <a:r>
              <a:rPr lang="en-US" altLang="en-US" sz="2100" dirty="0" err="1">
                <a:solidFill>
                  <a:schemeClr val="tx1"/>
                </a:solidFill>
                <a:sym typeface="+mn-ea"/>
              </a:rPr>
              <a:t>але зручнішими. Тому </a:t>
            </a:r>
            <a:r>
              <a:rPr lang="en-US" altLang="en-US" sz="2100" b="1" dirty="0" err="1">
                <a:solidFill>
                  <a:srgbClr val="FF0000"/>
                </a:solidFill>
                <a:sym typeface="+mn-ea"/>
              </a:rPr>
              <a:t>зараз майже всі пишуть                      на функціональних компонентах — це сучасний і простий спосіб створювати React-додатки.</a:t>
            </a:r>
            <a:endParaRPr lang="en-US" altLang="en-US" sz="2100" b="1" dirty="0" err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Функц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ональн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компонент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Функціональні компоненти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— це компоненти, написані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як JavaScript-функції. Вони з'явилися раніше за класові компоненти, але стали основним способом створення компонентів після введення хуків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в React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16.8.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 функціональних компонентів: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Простота і компактність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хуків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(useState, useEffect т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ощо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)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для управління станом і побічними ефектами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Легше тестувати і оптимізувати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Класов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компонент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— це компоненти, написані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як класи ES6, що успадковуються від React.Component. Вони були основним способом створення компонентів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до появи хуків.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 класових компонентів: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Використовують методи життєвого циклу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Мають вбудований стан через this.state і this.setState 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Більш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складний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синтаксис у порівнянні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з функціональними компонентами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825373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класового компоненту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import React from 'react';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class Counter extends React.Component {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state = { count: 0 };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handleClick = () =&gt; {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  this.setState({ count: this.state.count + 1 });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};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render() {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  return (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    &lt;div&gt;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      &lt;p&gt;</a:t>
            </a:r>
            <a:r>
              <a:rPr lang="uk-UA" sz="1500" b="1" dirty="0" err="1">
                <a:solidFill>
                  <a:schemeClr val="tx1"/>
                </a:solidFill>
                <a:ea typeface="Microsoft YaHei" panose="020B0503020204020204" charset="-122"/>
              </a:rPr>
              <a:t>Лічильник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: {this.state.count}&lt;/p&gt;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      &lt;button onClick={this.handleClick}&gt;</a:t>
            </a:r>
            <a:r>
              <a:rPr lang="uk-UA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Збільшити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&lt;/button&gt;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    &lt;/div&gt;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  );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 }}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825373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Порівняння ФК та КК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0" y="1673860"/>
            <a:ext cx="9232265" cy="40792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Композиц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 компонент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310" y="1448435"/>
            <a:ext cx="5901055" cy="39389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2385" y="5595620"/>
            <a:ext cx="90125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action="ppaction://hlinkfile"/>
              </a:rPr>
              <a:t>https://gist.github.com/sunmeat/4837f76e0be00fe97b1e0c734582ab08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JSX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JSX (JavaScript XML)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— це синтаксичний цукор, розширення синтаксису JavaScript, яке дозволяє писати код, схожий на HTML, безпосередньо всередині JavaScript. Використовується в React для опису інтерфейсу компонентів. JSX спрощує створення та читання структури UI і по суті створює елементи React.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Нагадує мову шаблонів, наділену потужністю JavaScript.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Браузер не розуміє JSX безпосередньо — він перетворюється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на React.createElement(...) під час збірки.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Наприклад, код: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const element = &lt;h1&gt;Привіт, світ!&lt;/h1&gt;;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перетворюється на: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const element = React.createElement('h1', null, 'Привіт, світ!');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Правила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JSX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Усі теги повинні бути закриті (наприклад, &lt;img /&gt;)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Атрибути пишуться в camelCase (наприклад, className замість class)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Вставка JavaScript-виразів виконується в {} (наприклад,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{2 + 2})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JSX-вирази повинні мати один кореневий елемент (можна використовувати &lt;Fragment&gt; або &lt;&gt;...&lt;/&gt; для групування)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Навіщо потрібен JSX?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Спрощує написання та читання коду для UI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Робить структуру компонентів більш інтуїтивною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Дозволяє комбінувати логіку та розмітку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085" y="6395720"/>
            <a:ext cx="90004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action="ppaction://hlinkfile"/>
              </a:rPr>
              <a:t>https://it-incubator.io/free-courses/front-end/samurai-way/reactjs_lesson6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Особливості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JSX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308610" y="1386205"/>
            <a:ext cx="825119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482600" lvl="0" indent="-3429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У JSX для встановлення класу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елемента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застосовується атрибут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className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,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 а не class (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бо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class — це зарезервоване слово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  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в JavaScript)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482600" lvl="0" indent="-3429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Атрибут style в якості значення приймає об'єкт JavaScript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482600" lvl="0" indent="-3429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У JSX використовується camelСase, тобто якщо потрібно визначити стильову властивість для шрифту, наприклад, властивість font-family, то відповідна властивість в об'єкті стилю буде називатися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fontFamily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, - дефіс відкидається, а наступна частина слова починається з великої літери.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691640" y="3698875"/>
            <a:ext cx="6483350" cy="32054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/>
          <p:cNvCxnSpPr/>
          <p:nvPr/>
        </p:nvCxnSpPr>
        <p:spPr>
          <a:xfrm flipV="1">
            <a:off x="3251200" y="5814060"/>
            <a:ext cx="1050925" cy="17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Транспайлери</a:t>
            </a:r>
            <a:r>
              <a:rPr lang="ru-RU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JSX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JS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esbuild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- блискавичний, мінімальні налаштування, написаний на Go, використовується в надшвидкому збирачі фронтенду та інструменті для розробки Vite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Babel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- написаний на JavaScript, дуже гнучкий, багата екосистема плагінів, але повільний, використовується в застарілому збирачі CRA (create-react-app)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swc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- написаний на Rust, швидший за Babel, </a:t>
            </a:r>
            <a:r>
              <a:rPr lang="uk-UA" altLang="en-US" sz="2400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гнучкий, підтримує різні плагіни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TypeScript (tsc)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sym typeface="+mn-ea"/>
              </a:rPr>
              <a:t>- для TypeScript, повільний, але надійний, без JSX-збірки (якщо не налаштувати)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транслятора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Різниця між компілятором, транспайлером і просто транслятором — тонка, але принципова.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Транслятор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(translator) — це загальне слово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для компіляторів, інтерпретаторів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і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транспайлерів.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Це будь-який інструмент, який перекладає вихідний код з однієї мови на іншу.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Наприклад: C → Assembly, Java → JVM байткод, TypeScript → JavaScript — все це трансляція.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тя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транспайлера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Слово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транспайлер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— це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trans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formation + com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piler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Він </a:t>
            </a:r>
            <a:r>
              <a:rPr lang="en-US" altLang="en-US" sz="2100" u="sng" dirty="0" err="1">
                <a:solidFill>
                  <a:schemeClr val="tx1"/>
                </a:solidFill>
                <a:ea typeface="Microsoft YaHei" panose="020B0503020204020204" charset="-122"/>
              </a:rPr>
              <a:t>перетворює одну мову в іншу дуже схожу, зазвичай </a:t>
            </a:r>
            <a:r>
              <a:rPr lang="uk-UA" altLang="en-US" sz="2100" u="sng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u="sng" dirty="0" err="1">
                <a:solidFill>
                  <a:schemeClr val="tx1"/>
                </a:solidFill>
                <a:ea typeface="Microsoft YaHei" panose="020B0503020204020204" charset="-122"/>
              </a:rPr>
              <a:t>на тому ж рівні абстракції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TypeScript → JavaScript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JSX → JS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ES6+ → ES5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Відмінність від звичайного компілятора: рівень абстракції практично не змінюється.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компілятора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Компілятор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— більш широке поняття. Він перекладає мову високого рівня на мову нижчого рівня (наприклад, байт-код або машинний код). Зазвичай втрачається частина структури, відбувається оптимізація. 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Приклади: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C++ → машинний код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Java → байт-код JVM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C# → проміжний код CRL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Rust → бінарний код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інтерпретатора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Інтерпретатор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— це теж вид транслятора, але з дуже специфічною роллю. Якщо коротко, то: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Інтерпретатор = транслятор + виконавець</a:t>
            </a:r>
            <a:r>
              <a:rPr lang="uk-UA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 коду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Він читає код, транслює по рядках і відразу виконує,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не створюючи окремого виконуваного файлу.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970" y="3203575"/>
            <a:ext cx="7726045" cy="36779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Babel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5640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Babel </a:t>
            </a:r>
            <a:r>
              <a:rPr lang="en-US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— це транспайлер JavaScript-коду, який:</a:t>
            </a:r>
            <a:endParaRPr lang="en-US" altLang="en-US" sz="21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перетворює новий синтаксис (ES6+, JSX тощо) у сумісний старий JavaScript</a:t>
            </a:r>
            <a:endParaRPr lang="en-US" altLang="en-US" sz="21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найчастіше використовується в проектах React </a:t>
            </a:r>
            <a:r>
              <a:rPr lang="uk-UA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                </a:t>
            </a:r>
            <a:r>
              <a:rPr lang="en-US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для перетворення JSX у звичайний JS. Секція "babel" визначає пресети — набори плагінів, які використовуються для роботи з React</a:t>
            </a:r>
            <a:endParaRPr lang="en-US" altLang="en-US" sz="21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у create-react-app він вже вбудований, його так просто </a:t>
            </a:r>
            <a:r>
              <a:rPr lang="uk-UA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      </a:t>
            </a:r>
            <a:r>
              <a:rPr lang="en-US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не побачити явно, якщо не "вийняти" конфігурацію командою npm run eject. Робити це необов’язково, до того ж буде надзвичайно складно повернути конфігурацію </a:t>
            </a:r>
            <a:r>
              <a:rPr lang="uk-UA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             </a:t>
            </a:r>
            <a:r>
              <a:rPr lang="en-US" altLang="en-US" sz="21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</a:rPr>
              <a:t>у звичайний стан, але спеціально для вашої групи я зробив скріншоти, щоб ви його побачили :)</a:t>
            </a:r>
            <a:endParaRPr lang="en-US" altLang="en-US" sz="21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831840" y="-216535"/>
            <a:ext cx="3731895" cy="2144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2" name="Content Placeholder 1" descr="Снимок экрана 2025-05-09 153327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-63500" y="141605"/>
            <a:ext cx="4493895" cy="1239520"/>
          </a:xfrm>
          <a:prstGeom prst="rect">
            <a:avLst/>
          </a:prstGeom>
        </p:spPr>
      </p:pic>
      <p:pic>
        <p:nvPicPr>
          <p:cNvPr id="3" name="Picture 2" descr="Снимок экрана 2025-05-09 1533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15" y="4337050"/>
            <a:ext cx="9277350" cy="2559050"/>
          </a:xfrm>
          <a:prstGeom prst="rect">
            <a:avLst/>
          </a:prstGeom>
        </p:spPr>
      </p:pic>
      <p:pic>
        <p:nvPicPr>
          <p:cNvPr id="5" name="Content Placeholder 4" descr="Снимок экрана 2025-05-09 153415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284980" y="98425"/>
            <a:ext cx="4842510" cy="1758950"/>
          </a:xfrm>
          <a:prstGeom prst="rect">
            <a:avLst/>
          </a:prstGeom>
        </p:spPr>
      </p:pic>
      <p:pic>
        <p:nvPicPr>
          <p:cNvPr id="7" name="Picture 6" descr="Снимок экрана 2025-05-09 1534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20" y="1403985"/>
            <a:ext cx="1845310" cy="2926080"/>
          </a:xfrm>
          <a:prstGeom prst="rect">
            <a:avLst/>
          </a:prstGeom>
        </p:spPr>
      </p:pic>
      <p:pic>
        <p:nvPicPr>
          <p:cNvPr id="8" name="Picture 7" descr="Снимок экрана 2025-05-09 1535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775" y="1974215"/>
            <a:ext cx="4566285" cy="230886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Virtual DOM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Virtual DOM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концепція, тісно пов'язана з JavaScript, особливо з сучасними фронтенд-фреймворками, такими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як React, Vue.js і деякими іншими бібліотеками.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Хоча Virtual DOM не є частиною стандартної специфікації DOM, він активно використовується в JavaScript для оптимізації роботи з реальним DOM.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Virtual DOM — це підхід, при якому створюється віртуальне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(в пам'яті) представлення реального DOM-дерева. Це свого роду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копія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DOM, яка зберігається у вигляді JavaScript-об'єктів. Virtual DOM дозволяє маніпулювати структурою сторінки більш ефективно, мінімізуючи прямі операції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з реальним DOM, які можуть бути повільними.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Особливості </a:t>
            </a: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Virtual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DOM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sym typeface="+mn-ea"/>
              </a:rPr>
              <a:t>Легкість</a:t>
            </a:r>
            <a:r>
              <a:rPr lang="en-US" altLang="en-US" sz="2000" dirty="0" err="1">
                <a:solidFill>
                  <a:srgbClr val="000000"/>
                </a:solidFill>
                <a:sym typeface="+mn-ea"/>
              </a:rPr>
              <a:t>: Віртуальне дерево складається з простих JavaScript-об’єктів, що робить його швидким для створення та зміни.</a:t>
            </a:r>
            <a:endParaRPr lang="en-US" altLang="en-US" sz="2000" dirty="0" err="1">
              <a:solidFill>
                <a:srgbClr val="000000"/>
              </a:solidFill>
              <a:sym typeface="+mn-ea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sym typeface="+mn-ea"/>
              </a:rPr>
              <a:t>Абстракція</a:t>
            </a:r>
            <a:r>
              <a:rPr lang="en-US" altLang="en-US" sz="2000" dirty="0" err="1">
                <a:solidFill>
                  <a:srgbClr val="000000"/>
                </a:solidFill>
                <a:sym typeface="+mn-ea"/>
              </a:rPr>
              <a:t>: Воно </a:t>
            </a:r>
            <a:r>
              <a:rPr lang="en-US" altLang="en-US" sz="2000" u="sng" dirty="0" err="1">
                <a:solidFill>
                  <a:srgbClr val="000000"/>
                </a:solidFill>
                <a:sym typeface="+mn-ea"/>
              </a:rPr>
              <a:t>ізолює розробника від прямої роботи </a:t>
            </a:r>
            <a:r>
              <a:rPr lang="uk-UA" altLang="en-US" sz="2000" u="sng" dirty="0" err="1">
                <a:solidFill>
                  <a:srgbClr val="000000"/>
                </a:solidFill>
                <a:sym typeface="+mn-ea"/>
              </a:rPr>
              <a:t>            </a:t>
            </a:r>
            <a:r>
              <a:rPr lang="en-US" altLang="en-US" sz="2000" u="sng" dirty="0" err="1">
                <a:solidFill>
                  <a:srgbClr val="000000"/>
                </a:solidFill>
                <a:sym typeface="+mn-ea"/>
              </a:rPr>
              <a:t>з реальним DOM, спрощуючи управління інтерфейсом.</a:t>
            </a:r>
            <a:endParaRPr lang="en-US" altLang="en-US" sz="2000" u="sng" dirty="0" err="1">
              <a:solidFill>
                <a:srgbClr val="000000"/>
              </a:solidFill>
              <a:sym typeface="+mn-ea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sym typeface="+mn-ea"/>
              </a:rPr>
              <a:t>Оптимізація</a:t>
            </a:r>
            <a:r>
              <a:rPr lang="en-US" altLang="en-US" sz="2000" dirty="0" err="1">
                <a:solidFill>
                  <a:srgbClr val="000000"/>
                </a:solidFill>
                <a:sym typeface="+mn-ea"/>
              </a:rPr>
              <a:t>: Virtual DOM використовується для обчислення мінімальних змін, які потрібно застосувати до реального DOM.</a:t>
            </a:r>
            <a:endParaRPr lang="en-US" altLang="en-US" sz="2000" dirty="0" err="1">
              <a:solidFill>
                <a:srgbClr val="000000"/>
              </a:solidFill>
              <a:sym typeface="+mn-ea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sym typeface="+mn-ea"/>
            </a:endParaRPr>
          </a:p>
          <a:p>
            <a:pPr defTabSz="457200"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sym typeface="+mn-ea"/>
              </a:rPr>
              <a:t>Коли застосунок (наприклад, React) рендерить інтерфейс, </a:t>
            </a:r>
            <a:r>
              <a:rPr lang="uk-UA" altLang="en-US" sz="2000" dirty="0" err="1">
                <a:solidFill>
                  <a:srgbClr val="000000"/>
                </a:solidFill>
                <a:sym typeface="+mn-ea"/>
              </a:rPr>
              <a:t>         </a:t>
            </a:r>
            <a:r>
              <a:rPr lang="en-US" altLang="en-US" sz="2000" dirty="0" err="1">
                <a:solidFill>
                  <a:srgbClr val="000000"/>
                </a:solidFill>
                <a:sym typeface="+mn-ea"/>
              </a:rPr>
              <a:t>він створює Virtual DOM — структуру JavaScript-об’єктів, </a:t>
            </a:r>
            <a:r>
              <a:rPr lang="uk-UA" altLang="en-US" sz="2000" dirty="0" err="1">
                <a:solidFill>
                  <a:srgbClr val="000000"/>
                </a:solidFill>
                <a:sym typeface="+mn-ea"/>
              </a:rPr>
              <a:t>           </a:t>
            </a:r>
            <a:r>
              <a:rPr lang="en-US" altLang="en-US" sz="2000" dirty="0" err="1">
                <a:solidFill>
                  <a:srgbClr val="000000"/>
                </a:solidFill>
                <a:sym typeface="+mn-ea"/>
              </a:rPr>
              <a:t>яка відображає поточний стан UI..</a:t>
            </a:r>
            <a:endParaRPr lang="en-US" altLang="en-US" sz="2000" dirty="0" err="1">
              <a:solidFill>
                <a:srgbClr val="000000"/>
              </a:solidFill>
              <a:sym typeface="+mn-ea"/>
            </a:endParaRPr>
          </a:p>
          <a:p>
            <a:pPr defTabSz="457200"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sym typeface="+mn-ea"/>
            </a:endParaRPr>
          </a:p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latin typeface="Arial" panose="020B0604020202020204" pitchFamily="34" charset="0"/>
                <a:hlinkClick r:id="rId1" action="ppaction://hlinkfile"/>
              </a:rPr>
              <a:t>https://gist.github.com/sunmeat/06c1ed1df2c7319af096ceabb412d4b8</a:t>
            </a: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sym typeface="+mn-ea"/>
              </a:rPr>
              <a:t>Суть робот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и</a:t>
            </a:r>
            <a:r>
              <a:rPr lang="ru-RU" altLang="uk-UA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en-US" altLang="uk-UA" sz="4200" dirty="0" err="1">
                <a:solidFill>
                  <a:srgbClr val="FFFFFF"/>
                </a:solidFill>
                <a:sym typeface="+mn-ea"/>
              </a:rPr>
              <a:t>Virtual DOM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51276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Коли дані в додатку змінюються (наприклад, користувач ввів текст або натиснув на кнопку), створюється нова версія Virtual DOM,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що відображає оновлений стан.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Фреймворк (наприклад, React) порівнює стару версію Virtual DOM з новою, щоб визначити, які частини змінилися. Цей процес називається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diffing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. Алгоритми порівняння оптимізовані,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щоб знаходити зміни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лише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 тих частинах дерева, які дійсно оновилися.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Після обчислення змін фреймворк застосовує мінімальний набір операцій до реального DOM, щоб синхронізувати його з Virtual DOM. Наприклад, змінюється тільки текст в одному елементі,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а не вся структура.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Real DOM</a:t>
            </a:r>
            <a:r>
              <a:rPr lang="ru-RU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vs. Virtual DOM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1287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Реальний DOM — це складна структура, і його зміни (додавання, видалення або оновлення вузлів) можуть бути ресурсомісткими з точки зору продуктивності. Наприклад: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Зміна одного елемента може викликати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перемальовку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reflow/repaint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) всієї сторінки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Багаторазові операції з DOM у циклі можуть сповільнити роботу застосунку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Virtual DOM вирішує ці проблеми: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Продуктивність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 замість багатьох прямих змін DOM виконується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одне оптимізоване оновлення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Спрощення розробки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18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розробник працює з декларативним кодом (описує, як має виглядати UI), а фреймворк сам вирішує, як оновити DOM;</a:t>
            </a:r>
            <a:endParaRPr lang="en-US" altLang="en-US" sz="1800" u="sng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Кросплатформеність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 Virtual DOM може використовуватися не тільки для браузерів, а й для інших середовищ (наприклад, React Native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мобільних застосунків)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Недо</a:t>
            </a:r>
            <a:r>
              <a:rPr lang="uk-UA" altLang="en-US" sz="4200" dirty="0" err="1">
                <a:solidFill>
                  <a:schemeClr val="bg1"/>
                </a:solidFill>
                <a:sym typeface="+mn-ea"/>
              </a:rPr>
              <a:t>ліки</a:t>
            </a: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 Virtual DOM</a:t>
            </a:r>
            <a:endParaRPr lang="en-US" altLang="en-US" sz="4200" dirty="0" err="1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Додаткова пам'ять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: Virtual DOM вимагає зберігання копії DOM в пам'яті, що може бути затратно 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дуже великих додатків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Складність алгоритмів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: Алгоритми порівняння (diffing) можуть бути складними і не завжди оптимальними для всіх випадків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Не завжди швидше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: Для невеликих додатків 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з мінімальними змінами прямі маніпуляції з DOM можуть бути швидшими, ніж використання Virtual DOM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Абстракція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: Розробник втрачає прямий контроль над DOM, покладаючись на фреймворк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Virtual DOM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Віртуальний DOM (VDOM) — це концепція програмування, в якій ідеальне або 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«віртуальне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» представлення користувацького інтерфейсу зберігається в пам'яті </a:t>
            </a:r>
            <a:r>
              <a:rPr lang="uk-UA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                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і синхронізується з</a:t>
            </a:r>
            <a:r>
              <a:rPr lang="uk-UA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і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«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справжнім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»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DOM </a:t>
            </a:r>
            <a:r>
              <a:rPr lang="uk-UA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    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за допомогою бібліотеки, такої як ReactDOM.</a:t>
            </a:r>
            <a:endParaRPr lang="en-US" altLang="en-US" sz="2700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Цей процес називається </a:t>
            </a:r>
            <a:r>
              <a:rPr lang="en-US" altLang="en-US" sz="2700" b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узгодженням</a:t>
            </a:r>
            <a:r>
              <a:rPr lang="en-US" altLang="en-US" sz="2700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.</a:t>
            </a:r>
            <a:endParaRPr lang="en-US" altLang="en-US" sz="2700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ctr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altLang="en-US" sz="2700" b="1">
                <a:solidFill>
                  <a:srgbClr val="0070C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  <a:hlinkClick r:id="rId1" action="ppaction://hlinkfile"/>
              </a:rPr>
              <a:t>https://ru.legacy.reactjs.org/docs/reconciliation.html</a:t>
            </a:r>
            <a:endParaRPr lang="en-US" altLang="en-US" sz="2700" b="1">
              <a:solidFill>
                <a:srgbClr val="0070C0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defTabSz="457200">
              <a:lnSpc>
                <a:spcPct val="100000"/>
              </a:lnSpc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700" b="1" dirty="0" err="1">
              <a:solidFill>
                <a:srgbClr val="0070C0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Virtual DOM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function App() {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const [count, setCount] = useState(0);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return (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&lt;div&gt;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  &lt;p&gt;</a:t>
            </a:r>
            <a:r>
              <a:rPr lang="uk-UA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Лічильник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: {count}&lt;/p&gt;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  &lt;button onClick={() =&gt; setCount(count + 1)}&gt;</a:t>
            </a: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Збільшити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&lt;/button&gt;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&lt;/div&gt;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}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При зміні count React оновлює тільки текст всередині &lt;p&gt;,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а не всю сторінку.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працює</a:t>
            </a: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VDOM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Virtual DOM працює наступним чином: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1.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При будь-якій зміні внутрішніх даних користувальницький інтерфейс змінюється в представленні віртуального DOM.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755" y="3160395"/>
            <a:ext cx="8808720" cy="3479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Як працює</a:t>
            </a:r>
            <a:r>
              <a:rPr lang="ru-RU" altLang="uk-UA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en-US" altLang="uk-UA" sz="4200" dirty="0" err="1">
                <a:solidFill>
                  <a:srgbClr val="FFFFFF"/>
                </a:solidFill>
                <a:sym typeface="+mn-ea"/>
              </a:rPr>
              <a:t>VDOM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1"/>
              </a:buClr>
              <a:buSzPts val="1400"/>
              <a:buFont typeface="Roboto" panose="02000000000000000000"/>
              <a:buAutoNum type="arabicPeriod" startAt="2"/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Потім обчислюється різниця між попереднім і новим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поданнями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755" y="2436495"/>
            <a:ext cx="9082405" cy="4034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Як працює</a:t>
            </a:r>
            <a:r>
              <a:rPr lang="ru-RU" altLang="uk-UA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en-US" altLang="uk-UA" sz="4200" dirty="0" err="1">
                <a:solidFill>
                  <a:srgbClr val="FFFFFF"/>
                </a:solidFill>
                <a:sym typeface="+mn-ea"/>
              </a:rPr>
              <a:t>VDOM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1"/>
              </a:buClr>
              <a:buSzPts val="1400"/>
              <a:buFont typeface="Roboto" panose="02000000000000000000"/>
              <a:buAutoNum type="arabicPeriod" startAt="3"/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Після цього оновлюються тільки ті частини реального DOM, які зазнали змін.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859280" y="2227580"/>
            <a:ext cx="5198110" cy="4507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Стан (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State)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Стан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— це дані, які компонент зберігає всередині себе і які можуть змінюватися з часом. Ці дані впливають на те,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 компонент виглядає або поводиться. Наприклад, якщо є кнопка, яка змінює колір при натисканні, її поточний колір можна зберігати в стані.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 функціональних компонентах (а ми будемо використовувати саме їх) стан створюється і управляється за допомогою функції useState. Необхідно задати початкове значення стану, а React надасть спосіб його оновлення. Коли стан змінюється, React буде автоматично перемальовувати компонент,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щоб відобразити нові дані.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клад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код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import React, { useState } from 'react';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function MyButton() {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  const [color, setColor] = useState('blue'); </a:t>
            </a:r>
            <a:r>
              <a:rPr lang="en-US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// color </a:t>
            </a:r>
            <a:r>
              <a:rPr lang="ru-RU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-</a:t>
            </a:r>
            <a:r>
              <a:rPr lang="en-US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 </a:t>
            </a:r>
            <a:r>
              <a:rPr lang="uk-UA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стан</a:t>
            </a:r>
            <a:r>
              <a:rPr lang="en-US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, setColor </a:t>
            </a:r>
            <a:r>
              <a:rPr lang="ru-RU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-</a:t>
            </a:r>
            <a:r>
              <a:rPr lang="en-US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 функц</a:t>
            </a:r>
            <a:r>
              <a:rPr lang="uk-UA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і</a:t>
            </a:r>
            <a:r>
              <a:rPr lang="en-US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я для </a:t>
            </a:r>
            <a:r>
              <a:rPr lang="uk-UA" altLang="en-US" sz="1700" b="1" dirty="0" err="1">
                <a:solidFill>
                  <a:srgbClr val="00B050"/>
                </a:solidFill>
                <a:ea typeface="Microsoft YaHei" panose="020B0503020204020204" charset="-122"/>
              </a:rPr>
              <a:t>його зміни, надаються реактом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  return (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    &lt;button style={{ backgroundColor: color }} onClick={() =&gt; setColor('red')}&gt;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      На</a:t>
            </a:r>
            <a:r>
              <a:rPr lang="uk-UA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тисни мене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    &lt;/button&gt;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  );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}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601470" y="5300980"/>
            <a:ext cx="6906895" cy="974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2500" b="1">
                <a:solidFill>
                  <a:srgbClr val="0070C0"/>
                </a:solidFill>
                <a:hlinkClick r:id="rId1" action="ppaction://hlinkfile"/>
              </a:rPr>
              <a:t>https://gist.github.com/sunmeat/5cbbf0d68d2cf925d3985af34b191994</a:t>
            </a:r>
            <a:endParaRPr lang="en-US" altLang="en-US" sz="25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sym typeface="+mn-ea"/>
              </a:rPr>
              <a:t>Причин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и використання</a:t>
            </a:r>
            <a:r>
              <a:rPr lang="ru-RU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en-US" sz="4200" dirty="0" err="1">
                <a:solidFill>
                  <a:srgbClr val="FFFFFF"/>
                </a:solidFill>
                <a:sym typeface="+mn-ea"/>
              </a:rPr>
              <a:t>state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На попередньому слайді color — це стан. При натисканні </a:t>
            </a:r>
            <a:r>
              <a:rPr lang="uk-UA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</a:t>
            </a:r>
            <a:r>
              <a:rPr lang="en-US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на кнопку викликається setColor, і React оновлює компонент</a:t>
            </a:r>
            <a:r>
              <a:rPr lang="uk-UA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</a:t>
            </a:r>
            <a:r>
              <a:rPr lang="en-US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із новим кольором.</a:t>
            </a:r>
            <a:endParaRPr lang="en-US" altLang="en-US" sz="21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Основне при використанні стану:</a:t>
            </a:r>
            <a:endParaRPr lang="en-US" altLang="en-US" sz="21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Стан потрібен для даних, які змінюються і впливають </a:t>
            </a:r>
            <a:r>
              <a:rPr lang="uk-UA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</a:t>
            </a:r>
            <a:r>
              <a:rPr lang="en-US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на відображення компонента</a:t>
            </a:r>
            <a:endParaRPr lang="en-US" altLang="en-US" sz="2100" b="1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Якщо дані не змінюються або не потрібні </a:t>
            </a:r>
            <a:r>
              <a:rPr lang="uk-UA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        </a:t>
            </a:r>
            <a:r>
              <a:rPr lang="en-US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для рендерингу</a:t>
            </a:r>
            <a:r>
              <a:rPr lang="uk-UA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(показу)</a:t>
            </a:r>
            <a:r>
              <a:rPr lang="en-US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, </a:t>
            </a:r>
            <a:r>
              <a:rPr lang="uk-UA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</a:t>
            </a:r>
            <a:r>
              <a:rPr lang="en-US" altLang="en-US" sz="21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їх не зберігають у стані</a:t>
            </a:r>
            <a:endParaRPr lang="en-US" altLang="en-US" sz="2100" b="1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useState застосовують лише у функціональних компонентах (для класових використовується this.state та this.setState)</a:t>
            </a:r>
            <a:endParaRPr lang="en-US" altLang="en-US" sz="21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1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На наступному занятті </a:t>
            </a:r>
            <a:r>
              <a:rPr lang="en-US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розберемо стан детальніше: </a:t>
            </a:r>
            <a:r>
              <a:rPr lang="uk-UA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   </a:t>
            </a:r>
            <a:r>
              <a:rPr lang="en-US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як правильно його оновлювати, як працювати зі складнішими </a:t>
            </a:r>
            <a:r>
              <a:rPr lang="uk-UA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	</a:t>
            </a:r>
            <a:r>
              <a:rPr lang="en-US" altLang="en-US" sz="21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даними та як уникати типових помилок.</a:t>
            </a:r>
            <a:endParaRPr lang="en-US" altLang="en-US" sz="21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Навіщо взагалі цей</a:t>
            </a:r>
            <a:r>
              <a:rPr lang="ru-RU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en-US" sz="4200" dirty="0" err="1">
                <a:solidFill>
                  <a:srgbClr val="FFFFFF"/>
                </a:solidFill>
                <a:sym typeface="+mn-ea"/>
              </a:rPr>
              <a:t>useState</a:t>
            </a:r>
            <a:r>
              <a:rPr lang="ru-RU" sz="4200" dirty="0" err="1">
                <a:solidFill>
                  <a:srgbClr val="FFFFFF"/>
                </a:solidFill>
                <a:sym typeface="+mn-ea"/>
              </a:rPr>
              <a:t>?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Чому б просто не створити глобальну змінну для кольору? На перший погляд — дійсно, простіше створити let color = “blue”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десь зовні.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Але різниця величезна:</a:t>
            </a:r>
            <a:endParaRPr lang="en-US" altLang="en-US" sz="18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rgbClr val="FF000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1. Реактивн</a:t>
            </a:r>
            <a:r>
              <a:rPr lang="uk-UA" altLang="en-US" sz="1800" b="1" dirty="0" err="1">
                <a:solidFill>
                  <a:srgbClr val="FF000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і</a:t>
            </a:r>
            <a:r>
              <a:rPr lang="en-US" altLang="en-US" sz="1800" b="1" dirty="0" err="1">
                <a:solidFill>
                  <a:srgbClr val="FF000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сть компонент</a:t>
            </a:r>
            <a:r>
              <a:rPr lang="uk-UA" altLang="en-US" sz="1800" b="1" dirty="0" err="1">
                <a:solidFill>
                  <a:srgbClr val="FF000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у</a:t>
            </a:r>
            <a:endParaRPr lang="en-US" altLang="en-US" sz="1800" b="1" dirty="0" err="1">
              <a:solidFill>
                <a:srgbClr val="FF0000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const [color, setColor] = useState('blue');</a:t>
            </a:r>
            <a:endParaRPr lang="en-US" altLang="en-US" sz="1800" b="1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— це спосіб сказати React: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«ось значення, від якого залежить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від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малювання компонента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». При виклику setColor(“red”),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           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React перемальовує компонент, знаючи, що стан змінився.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        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Приклад без useState:</a:t>
            </a:r>
            <a:endParaRPr lang="en-US" altLang="en-US" sz="18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let color = 'blue';</a:t>
            </a:r>
            <a:endParaRPr lang="en-US" altLang="en-US" sz="1800" b="1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function changeColor() {</a:t>
            </a:r>
            <a:endParaRPr lang="en-US" altLang="en-US" sz="1800" b="1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color = 'red';</a:t>
            </a:r>
            <a:endParaRPr lang="en-US" altLang="en-US" sz="1800" b="1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rgbClr val="00B05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// </a:t>
            </a:r>
            <a:r>
              <a:rPr lang="uk-UA" altLang="en-US" sz="1800" b="1" dirty="0" err="1">
                <a:solidFill>
                  <a:srgbClr val="00B05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</a:t>
            </a:r>
            <a:r>
              <a:rPr lang="en-US" altLang="en-US" sz="1800" b="1" dirty="0" err="1">
                <a:solidFill>
                  <a:srgbClr val="00B05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у і що</a:t>
            </a:r>
            <a:r>
              <a:rPr lang="uk-UA" altLang="en-US" sz="1800" b="1" dirty="0" err="1">
                <a:solidFill>
                  <a:srgbClr val="00B05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далі</a:t>
            </a:r>
            <a:r>
              <a:rPr lang="en-US" altLang="en-US" sz="1800" b="1" dirty="0" err="1">
                <a:solidFill>
                  <a:srgbClr val="00B05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? </a:t>
            </a:r>
            <a:r>
              <a:rPr lang="uk-UA" altLang="en-US" sz="1800" b="1" dirty="0" err="1">
                <a:solidFill>
                  <a:srgbClr val="00B05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к</a:t>
            </a:r>
            <a:r>
              <a:rPr lang="en-US" altLang="en-US" sz="1800" b="1" dirty="0" err="1">
                <a:solidFill>
                  <a:srgbClr val="00B05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нопка не розпізнає, що </a:t>
            </a:r>
            <a:r>
              <a:rPr lang="uk-UA" altLang="en-US" sz="1800" b="1" dirty="0" err="1">
                <a:solidFill>
                  <a:srgbClr val="00B05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її </a:t>
            </a:r>
            <a:r>
              <a:rPr lang="en-US" altLang="en-US" sz="1800" b="1" dirty="0" err="1">
                <a:solidFill>
                  <a:srgbClr val="00B05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треба перемалювати :)</a:t>
            </a:r>
            <a:endParaRPr lang="en-US" altLang="en-US" sz="1800" b="1" dirty="0" err="1">
              <a:solidFill>
                <a:srgbClr val="00B050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}</a:t>
            </a:r>
            <a:endParaRPr lang="en-US" altLang="en-US" sz="1800" b="1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Глобальна змінна змінюється, </a:t>
            </a:r>
            <a:r>
              <a:rPr lang="en-US" altLang="en-US" sz="1800" u="sng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але React про це не знає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.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Компонент не перемальовується, і користувач цього не побачить.</a:t>
            </a:r>
            <a:endParaRPr lang="en-US" altLang="en-US" sz="18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Навіщо взагалі цей</a:t>
            </a:r>
            <a:r>
              <a:rPr lang="ru-RU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en-US" sz="4200" dirty="0" err="1">
                <a:solidFill>
                  <a:srgbClr val="FFFFFF"/>
                </a:solidFill>
                <a:sym typeface="+mn-ea"/>
              </a:rPr>
              <a:t>useState</a:t>
            </a:r>
            <a:r>
              <a:rPr lang="ru-RU" sz="4200" dirty="0" err="1">
                <a:solidFill>
                  <a:srgbClr val="FFFFFF"/>
                </a:solidFill>
                <a:sym typeface="+mn-ea"/>
              </a:rPr>
              <a:t>?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rgbClr val="FF000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2. Ізоляція стану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Кожен екземпляр компонента MyButton з useState має свій власний стан. Це важливо, якщо є, наприклад, 10 кнопок — і кожна повинна реагувати незалежно. З глобальною змінною — це один color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на всіх. Змінимо колір однієї — зміниться у всіх. І це катастрофа.</a:t>
            </a:r>
            <a:endParaRPr lang="en-US" altLang="en-US" sz="18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rgbClr val="FF000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3. Передбачуваність і масштабованість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useState робить компонент чистим і детермінованим: він повністю залежить від своїх вхідних даних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і внутрішнього стану. Такий підхід простіше дебажити, тестувати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      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і масштабувати. Глобальні змінні</a:t>
            </a:r>
            <a:r>
              <a:rPr lang="en-US" altLang="en-US" sz="1800" strike="sngStrike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це зло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роблять поведінку непередбачуваною: ніколи не знаєш, хто і коли її змінив.</a:t>
            </a:r>
            <a:endParaRPr lang="en-US" altLang="en-US" sz="18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 err="1">
                <a:solidFill>
                  <a:srgbClr val="FF0000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4. Життєвий цикл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React відстежує state як частину життєвого циклу компонента. Коли компонент видаляється, його стан зникає. А глобальні змінні — залишаються висіти в пам'яті. Вгадайте, що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станеться               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у великому додатку? Правильно — витоки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пам’яті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,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великі жирні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баги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і постійна мігрень </a:t>
            </a:r>
            <a:r>
              <a:rPr lang="uk-UA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в розробника </a:t>
            </a:r>
            <a:r>
              <a:rPr lang="en-US" altLang="en-US" sz="18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:)</a:t>
            </a:r>
            <a:endParaRPr lang="en-US" altLang="en-US" sz="18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Пропси</a:t>
            </a:r>
            <a:r>
              <a:rPr lang="ru-RU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(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Props)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Пропси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— це дані, які передаються в компонент ззовні, щоб налаштувати його поведінку або зовнішній вигляд. Можна думати про пропси як про параметри функції: вони передаються компоненту, щоб він знав,</a:t>
            </a:r>
            <a:r>
              <a:rPr lang="uk-UA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що </a:t>
            </a:r>
            <a:r>
              <a:rPr lang="uk-UA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треба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відображати або як працювати.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Пропси надходять в компонент як об'єкт, і їх можна використовувати всередині для рендерингу або логіки. Головне — пропси не можна змінювати всередині компонента, вони тільки для читання. Якщо потрібно щось змінити, для цього є стан.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клад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пропс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import React from 'react';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// </a:t>
            </a:r>
            <a:r>
              <a:rPr lang="uk-UA" altLang="en-US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к</a:t>
            </a:r>
            <a:r>
              <a:rPr lang="en-US" altLang="en-US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омпонент Button </a:t>
            </a:r>
            <a:r>
              <a:rPr lang="uk-UA" altLang="en-US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приймає </a:t>
            </a:r>
            <a:r>
              <a:rPr lang="en-US" altLang="en-US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пропс color</a:t>
            </a:r>
            <a:endParaRPr lang="en-US" altLang="en-US" sz="1700" b="1" dirty="0" err="1">
              <a:solidFill>
                <a:srgbClr val="00B050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function MyButton(props) {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return (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&lt;button style={{ backgroundColor: props.color }}&gt;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На</a:t>
            </a:r>
            <a:r>
              <a:rPr lang="uk-UA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тисни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&lt;/button&gt;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);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}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// </a:t>
            </a:r>
            <a:r>
              <a:rPr lang="ru-RU" altLang="en-US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переда</a:t>
            </a:r>
            <a:r>
              <a:rPr lang="uk-UA" altLang="ru-RU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ча</a:t>
            </a:r>
            <a:r>
              <a:rPr lang="en-US" altLang="en-US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пропс</a:t>
            </a:r>
            <a:r>
              <a:rPr lang="ru-RU" altLang="en-US" sz="1700" b="1" dirty="0" err="1">
                <a:solidFill>
                  <a:srgbClr val="00B050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а</a:t>
            </a:r>
            <a:endParaRPr lang="en-US" altLang="en-US" sz="1700" b="1" dirty="0" err="1">
              <a:solidFill>
                <a:srgbClr val="00B050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function App() {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return &lt;MyButton color="blue" /&gt;;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}</a:t>
            </a: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700" b="1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b="1">
                <a:solidFill>
                  <a:srgbClr val="FF0000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React компоненти повинні поводитися як чисті функції </a:t>
            </a:r>
            <a:r>
              <a:rPr lang="uk-UA" altLang="en-US" sz="2100" b="1">
                <a:solidFill>
                  <a:srgbClr val="FF0000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   </a:t>
            </a:r>
            <a:r>
              <a:rPr lang="en-US" altLang="en-US" sz="2100" b="1">
                <a:solidFill>
                  <a:srgbClr val="FF0000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по відношенню до своїх пропсів!!</a:t>
            </a:r>
            <a:r>
              <a:rPr lang="en-US" sz="2100" b="1">
                <a:solidFill>
                  <a:srgbClr val="FF0000"/>
                </a:solidFill>
                <a:highlight>
                  <a:schemeClr val="lt1"/>
                </a:highlight>
                <a:cs typeface="Arial" panose="020B0604020202020204" pitchFamily="34" charset="0"/>
                <a:sym typeface="+mn-ea"/>
              </a:rPr>
              <a:t>!</a:t>
            </a:r>
            <a:endParaRPr sz="2100" b="1">
              <a:solidFill>
                <a:srgbClr val="FF0000"/>
              </a:solidFill>
              <a:highlight>
                <a:schemeClr val="lt1"/>
              </a:highlight>
              <a:cs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FF0000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6360" y="6351270"/>
            <a:ext cx="902462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100" b="1">
                <a:solidFill>
                  <a:srgbClr val="0070C0"/>
                </a:solidFill>
                <a:hlinkClick r:id="rId1" action="ppaction://hlinkfile"/>
              </a:rPr>
              <a:t>https://gist.github.com/sunmeat/df1d9ab569a38e0be16bc538f4d6f186</a:t>
            </a:r>
            <a:endParaRPr lang="en-US" altLang="en-US" sz="2100" b="1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920" y="1538605"/>
            <a:ext cx="3807460" cy="11106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820" y="3472815"/>
            <a:ext cx="4686935" cy="154114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Головне щодо пропсів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751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Пропси — це спосіб передати дані в компонент, </a:t>
            </a:r>
            <a:r>
              <a:rPr lang="uk-UA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як налаштування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Вони незмінні всередині компонента </a:t>
            </a:r>
            <a:r>
              <a:rPr lang="uk-UA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      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(тільки для читання)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Пропси потрібні, щоб компоненти були гнучкими </a:t>
            </a:r>
            <a:r>
              <a:rPr lang="uk-UA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        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і багаторазовими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Приклади, як передавати різні типи даних через пропси і як комбінувати їх зі станом для створення інтерактивних компонентів, теж </a:t>
            </a:r>
            <a:r>
              <a:rPr lang="uk-UA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наступного разу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:)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Події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Події в React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(втім, як і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усюди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) — це спосіб реагувати на дії користувача, такі як кліки, введення тексту або наведення миші. Вони дозволяють зробити компоненти інтерактивними. Якщо потрібно, щоб кнопка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щось робила при натисканні, або форма обробляла введені дані,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то використовуються події. 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У React події працюють схоже на звичайні події в JavaScript, але з особливим синтаксисом. Обробник події (функція) додається прямо в JSX, з використанням атрибутів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на зразок onClick або onChange. React викликає цю функцію, коли подія відбувається.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ростий п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ри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клад події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import React from 'react';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function MyButton() {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function </a:t>
            </a: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handleClick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() {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alert('Кнопк</a:t>
            </a: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у натиснуто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!');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}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return (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&lt;button onClick={</a:t>
            </a: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handleClick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}&gt;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  На</a:t>
            </a: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тисни мене!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&lt;/button&gt;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}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Рендеринг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Рендеринг </a:t>
            </a:r>
            <a:r>
              <a:rPr lang="en-US" altLang="en-US" sz="2300" dirty="0" err="1">
                <a:solidFill>
                  <a:schemeClr val="tx1"/>
                </a:solidFill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— це процес, в якому React бере компоненти і перетворює їх у видимий інтерфейс на екрані </a:t>
            </a:r>
            <a:r>
              <a:rPr lang="uk-UA" altLang="en-US" sz="2300" dirty="0" err="1">
                <a:solidFill>
                  <a:schemeClr val="tx1"/>
                </a:solidFill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        </a:t>
            </a:r>
            <a:r>
              <a:rPr lang="en-US" altLang="en-US" sz="2300" dirty="0" err="1">
                <a:solidFill>
                  <a:schemeClr val="tx1"/>
                </a:solidFill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(DOM-елементи). Коли ми написали компонент, React розбирається, як він повинен виглядати, і оновлює сторінку в браузері, щоб показати його користувачеві.</a:t>
            </a:r>
            <a:endParaRPr lang="en-US" altLang="en-US" sz="2300" dirty="0" err="1">
              <a:solidFill>
                <a:schemeClr val="tx1"/>
              </a:solidFill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chemeClr val="tx1"/>
              </a:solidFill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У React рендеринг починається з того, що потрібно вказати, де на сторінці розмістити компонент. Зазвичай це робиться через спеціальний </a:t>
            </a:r>
            <a:r>
              <a:rPr lang="en-US" altLang="en-US" sz="2300" dirty="0" err="1">
                <a:solidFill>
                  <a:schemeClr val="tx1"/>
                </a:solidFill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«</a:t>
            </a:r>
            <a:r>
              <a:rPr lang="en-US" altLang="en-US" sz="2300" dirty="0" err="1">
                <a:solidFill>
                  <a:schemeClr val="tx1"/>
                </a:solidFill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кореневий</a:t>
            </a:r>
            <a:r>
              <a:rPr lang="en-US" altLang="en-US" sz="2300" dirty="0" err="1">
                <a:solidFill>
                  <a:schemeClr val="tx1"/>
                </a:solidFill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»</a:t>
            </a:r>
            <a:r>
              <a:rPr lang="en-US" altLang="en-US" sz="2300" dirty="0" err="1">
                <a:solidFill>
                  <a:schemeClr val="tx1"/>
                </a:solidFill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 елемент           в HTML. React бере код JSX і перетворює його                 в справжні елементи сторінки.</a:t>
            </a:r>
            <a:endParaRPr lang="en-US" altLang="en-US" sz="2300" dirty="0" err="1">
              <a:solidFill>
                <a:schemeClr val="tx1"/>
              </a:solidFill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</a:t>
            </a: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клад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на рендеринг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App — це компонент, який React 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малює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на сторінці. 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createRoot вказує, де (в елементі з id root) розмістити компонент, 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    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а render запускає процес рендеринг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у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.</a:t>
            </a:r>
            <a:endParaRPr lang="en-US" altLang="en-US" sz="1800" b="1" dirty="0" err="1">
              <a:solidFill>
                <a:srgbClr val="00B05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" y="1430655"/>
            <a:ext cx="7087235" cy="33394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Маршрутизац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Маршрутизація в React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— це спосіб перемикатися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між різними сторінками або видами в додатку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без перезавантаження браузера. Вона дозволяє показувати потрібний компонент залежно від адреси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в рядку браузера, роблячи додаток зручним і схожим на справжній сайт.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У React для маршрутизації часто використовується бібліотека</a:t>
            </a: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 React Router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. Вона допомагає налаштувати, який компонент відображати для кожного URL,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щоб користувачі могли легко переміщатися по додатку.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Керування залежностями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Управління залежностями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— це процес встановлення та використання зовнішніх бібліотек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або модулів, які потрібні додатку. Це можуть бути інструменти на зразок React Router для навігації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або інші пакети для роботи з даними, стилями та багато іншого.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У React залежності зазвичай додаються за допомогою менеджера пакетів, такого як </a:t>
            </a: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npm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або Yarn.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Ми пишемо, які бібліотеки потрібні, і вони стають частиною проекту, допомагаючи створювати більш потужні та функціональні додатки.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npm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та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Yarn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npm та Yarn — це менеджери пакетів, які допомагають встановлювати, оновлювати та керувати зовнішніми бібліотеками (залежностями) у React-проєкті. Вони дозволяють легко розширювати функціональність застосунку.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npm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— стандартний менеджер пакетів, що постачається з Node.js. Надійний, широко використовується та постійно вдосконалюється, але може бути трохи повільнішим у деяких сценаріях.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Yarn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— альтернативний менеджер, створений для пришвидшення роботи та підвищення надійності. Він швидше встановлює пакети, краще кешує дані та має більш строгий підхід до версій залежностей, що зменшує ймовірність помилок.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Обидва інструменти виконують одну й ту саму задачу — керують залежностями, і вибір між ними часто залежить від уподобань команди або проєкту.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додати залежність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Відкрити термінал (Alt + F12 </a:t>
            </a:r>
            <a:r>
              <a:rPr lang="uk-UA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WebStorm)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Набрати команду, наприклад</a:t>
            </a: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</a:rPr>
              <a:t> npm install react-router</a:t>
            </a:r>
            <a:endParaRPr lang="en-US" altLang="en-US" sz="19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У файлі package.json перевіряємо секцію dependencies: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" y="2613660"/>
            <a:ext cx="8670290" cy="42189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Структура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React-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додатку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public/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— містить статичні файли, такі як index.html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src/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— основна папка з вихідним кодом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index.js (main.jsx)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— точка входу, де ReactDOM рендерить кореневий компонент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App.js (App.jsx)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— кореневий компонент застосунку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додаткові компоненти, стилі, утиліти тощо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package.json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— описує залежності та скрипти проєкту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.gitignore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— вказує файли, які не потрібно завантажувати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у репозиторій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CRA використовував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розширення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.js для простоти, Vite використовує .jsx для наочності.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Назви файлів (index.js, main.jsx, App.js, App.jsx) —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це просто домовленості. Вони не впливають на роботу коду,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якщо структура правильна.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Деплой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Деплой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— це процес, коли React-проєкт (код, який працює локально) завантажується на сервер в інтернеті, щоб будь-хто міг відкрити сайт за посиланням (наприклад, my-project.vercel.app).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Платформи на кшталт Netlify, Vercel та GitHub Pages спрощують цей процес, дозволяючи зробити це безкоштовно та з мінімальними зусиллями. Ці платформи: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Беруть код (зазвичай із GitHub)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Створюють із нього готовий сайт (виконують команду npm run build для React)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Надають посилання, за яким ваш сайт доступний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 інтернеті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Часто автоматично оновлюють сайт, коли додаються зміни в код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репозиторію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!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задеплоїти проєкт?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1. Підготуйте про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кт: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Переконайтеся, що ваш про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кт працює локально </a:t>
            </a: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(npm run start)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Код повинен бути в папці з файлами, такими як src/App.jsx, package.json тощо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2. Завантажте про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кт на GitHub: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Створіть новий репозиторій (наприклад, my-react-app)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У терміналі в папці про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кту виконайте: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git init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git add .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git commit -m "Initial commit"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git remote add origin https://github.com/your-username/my-react-app.git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git push -u origin main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Це завантажить ваш код на GitHub.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7010" y="5440045"/>
            <a:ext cx="5044440" cy="13417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942080" y="370078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action="ppaction://hlinkfile"/>
              </a:rPr>
              <a:t>https://it-incubator.io/free-courses/front-end/samurai-way/reactjs_lesson13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sym typeface="+mn-ea"/>
              </a:rPr>
              <a:t>Як задеплоїти проєкт?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 descr="Снимок экрана 2025-05-10 1739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90" y="1088390"/>
            <a:ext cx="3717290" cy="36499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605" y="2648585"/>
            <a:ext cx="6220460" cy="42468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168140" y="1673860"/>
            <a:ext cx="43472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3" action="ppaction://hlinkfile"/>
              </a:rPr>
              <a:t>https://app.netlify.com/sites/sunmeat/configuration/general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Redux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Redux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— це загальне сховище для React-додатку. У цьому сховищі знаходяться всі важливі дані (наприклад, список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товарів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або ім'я користувача), і будь-який компонент може переглянути або змінити ці дані. Redux допомагає, коли є багато компонентів,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і вони всі повинні працювати з одними і тими ж даними,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щоб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не було плутанини. Використовується: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Коли дані потрібні багатьом компонентам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— наприклад, якщо  є список завдань, і його повинні бачити і меню, і головна сторінка, і форма додавання завдань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Щоб все було організовано, Redux зберігає дані в одному місці, і буде точно зрозуміло, де що лежить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Для великих додатків - в маленьких проектах (як ваші перші ДЗ) React сам справляється, але в великих додатках Redux допомагає не заплутатися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Архітектура додатку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https://foxminded.ua/ru/arkhitektura-react-prilozheniya/</a:t>
            </a:r>
            <a:endParaRPr lang="en-US" altLang="en-US" sz="20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https://habr.com/ru/articles/726354/</a:t>
            </a:r>
            <a:endParaRPr lang="en-US" altLang="en-US" sz="20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70C0"/>
                </a:solidFill>
                <a:ea typeface="Microsoft YaHei" panose="020B0503020204020204" charset="-122"/>
                <a:hlinkClick r:id="rId3" action="ppaction://hlinkfile"/>
              </a:rPr>
              <a:t>https://habr.com/ru/companies/doubletapp/articles/870236/</a:t>
            </a:r>
            <a:endParaRPr lang="en-US" altLang="en-US" sz="20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rgbClr val="0070C0"/>
                </a:solidFill>
                <a:ea typeface="Microsoft YaHei" panose="020B0503020204020204" charset="-122"/>
                <a:hlinkClick r:id="rId4" action="ppaction://hlinkfile"/>
              </a:rPr>
              <a:t>https://medium.com/nuances-of-programming/%D0%BF%D1%80%D0%BE%D0%B5%D0%BA%D1%82%D0%B8%D1%80%D0%BE%D0%B2%D0%B0%D0%BD%D0%B8%D0%B5-%D0%B0%D1%80%D1%85%D0%B8%D1%82%D0%B5%D0%BA%D1%82%D1%83%D1%80%D1%8B-%D0%BF%D0%BE-react-%D0%BB%D1%83%D1%87%D1%88%D0%B8%D0%B5-%D0%BF</a:t>
            </a:r>
            <a:endParaRPr lang="uk-UA" altLang="en-US" sz="2000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action="ppaction://hlinkfile"/>
              </a:rPr>
              <a:t>https://materials.itstep.org/content/f8a86995-e239-45db-b1c0-892e52d667ca/uk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Створіть і запустіть додаток React,                 що виводить коротку інформацію про Вас       у браузер. Наприклад: ПІБ, контактний телефон, електронна адреса.</a:t>
            </a: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При розробці потрібно використовувати </a:t>
            </a: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функціональні компоненти </a:t>
            </a:r>
            <a:r>
              <a:rPr lang="en-US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і синтаксис JSX.</a:t>
            </a: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ДЗ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action="ppaction://hlinkfile"/>
              </a:rPr>
              <a:t>https://materials.itstep.org/content/78e403af-2bdb-4437-8f93-37b1532896ba/uk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Завдання 1 та 3</a:t>
            </a:r>
            <a:endParaRPr lang="uk-UA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Ще завдання :)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algn="l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Створіть і запустіть додаток React, що виводить інформацію про вашу улюблену музичну групу в браузер. Наприклад: назва групи, інформація про учасників групи, назва альбомів, обкладинки альбомів.</a:t>
            </a:r>
            <a:endParaRPr lang="en-US" altLang="en-US" sz="24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4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algn="l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Створіть і запустіть додаток React, що виводить інформацію про кулінарний рецепт у браузер. Наприклад: назва рецепту, складові рецепту (інгредієнти та їх кількість), послідовність приготування, фотографія готової страви.</a:t>
            </a:r>
            <a:endParaRPr lang="en-US" altLang="en-US" sz="24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Результати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62735" y="1174750"/>
            <a:ext cx="8671560" cy="56235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Результати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190625"/>
            <a:ext cx="8982710" cy="558673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Результати (...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&gt;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Download)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4355" y="1494155"/>
            <a:ext cx="7995920" cy="2442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0070C0"/>
                </a:solidFill>
                <a:hlinkClick r:id="rId1" action="ppaction://hlinkfile"/>
              </a:rPr>
              <a:t>https://github.com/sunmeat/storage/blob/main/video/task%203-result.mp4</a:t>
            </a:r>
            <a:endParaRPr lang="en-US" altLang="en-US" sz="3200">
              <a:solidFill>
                <a:srgbClr val="0070C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0070C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0070C0"/>
                </a:solidFill>
                <a:hlinkClick r:id="rId2" action="ppaction://hlinkfile"/>
              </a:rPr>
              <a:t>https://github.com/sunmeat/storage/blob/main/video/task%204-result.mp4</a:t>
            </a:r>
            <a:endParaRPr lang="en-US" altLang="en-US" sz="3200">
              <a:solidFill>
                <a:srgbClr val="0070C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0070C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0070C0"/>
                </a:solidFill>
                <a:hlinkClick r:id="rId3" action="ppaction://hlinkfile"/>
              </a:rPr>
              <a:t>https://github.com/sunmeat/storage/blob/main/video/result%20react.mp4</a:t>
            </a:r>
            <a:endParaRPr lang="en-US" altLang="en-US" sz="3200">
              <a:solidFill>
                <a:srgbClr val="0070C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644711D-D540-46C5-85D3-200A52083C16}"/>
</file>

<file path=customXml/itemProps2.xml><?xml version="1.0" encoding="utf-8"?>
<ds:datastoreItem xmlns:ds="http://schemas.openxmlformats.org/officeDocument/2006/customXml" ds:itemID="{D450ED7A-B8BA-422F-B3A4-2E60BB286681}"/>
</file>

<file path=customXml/itemProps3.xml><?xml version="1.0" encoding="utf-8"?>
<ds:datastoreItem xmlns:ds="http://schemas.openxmlformats.org/officeDocument/2006/customXml" ds:itemID="{B7CA26CC-3292-4755-A7F5-4A045E521B4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44707</Words>
  <Application>WPS Presentation</Application>
  <PresentationFormat/>
  <Paragraphs>829</Paragraphs>
  <Slides>102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102</vt:i4>
      </vt:variant>
    </vt:vector>
  </HeadingPairs>
  <TitlesOfParts>
    <vt:vector size="118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>Roboto</vt:lpstr>
      <vt:lpstr>sans-serif</vt:lpstr>
      <vt:lpstr>Segoe Print</vt:lpstr>
      <vt:lpstr>Courier New</vt:lpstr>
      <vt:lpstr>Arial</vt:lpstr>
      <vt:lpstr/>
      <vt:lpstr/>
      <vt:lpstr>1_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57</cp:revision>
  <dcterms:created xsi:type="dcterms:W3CDTF">2005-09-22T16:26:00Z</dcterms:created>
  <dcterms:modified xsi:type="dcterms:W3CDTF">2026-06-16T13:01:45Z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