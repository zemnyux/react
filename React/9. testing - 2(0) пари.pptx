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7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05"/>
  </p:handoutMasterIdLst>
  <p:sldIdLst>
    <p:sldId id="256" r:id="rId4"/>
    <p:sldId id="257" r:id="rId6"/>
    <p:sldId id="744" r:id="rId7"/>
    <p:sldId id="745" r:id="rId8"/>
    <p:sldId id="746" r:id="rId9"/>
    <p:sldId id="747" r:id="rId10"/>
    <p:sldId id="748" r:id="rId11"/>
    <p:sldId id="749" r:id="rId12"/>
    <p:sldId id="750" r:id="rId13"/>
    <p:sldId id="751" r:id="rId14"/>
    <p:sldId id="752" r:id="rId15"/>
    <p:sldId id="753" r:id="rId16"/>
    <p:sldId id="754" r:id="rId17"/>
    <p:sldId id="755" r:id="rId18"/>
    <p:sldId id="756" r:id="rId19"/>
    <p:sldId id="757" r:id="rId20"/>
    <p:sldId id="758" r:id="rId21"/>
    <p:sldId id="759" r:id="rId22"/>
    <p:sldId id="760" r:id="rId23"/>
    <p:sldId id="761" r:id="rId24"/>
    <p:sldId id="763" r:id="rId25"/>
    <p:sldId id="764" r:id="rId26"/>
    <p:sldId id="765" r:id="rId27"/>
    <p:sldId id="766" r:id="rId28"/>
    <p:sldId id="767" r:id="rId29"/>
    <p:sldId id="768" r:id="rId30"/>
    <p:sldId id="769" r:id="rId31"/>
    <p:sldId id="770" r:id="rId32"/>
    <p:sldId id="771" r:id="rId33"/>
    <p:sldId id="772" r:id="rId34"/>
    <p:sldId id="773" r:id="rId35"/>
    <p:sldId id="774" r:id="rId36"/>
    <p:sldId id="775" r:id="rId37"/>
    <p:sldId id="776" r:id="rId38"/>
    <p:sldId id="777" r:id="rId39"/>
    <p:sldId id="778" r:id="rId40"/>
    <p:sldId id="779" r:id="rId41"/>
    <p:sldId id="762" r:id="rId42"/>
    <p:sldId id="592" r:id="rId43"/>
    <p:sldId id="694" r:id="rId44"/>
    <p:sldId id="695" r:id="rId45"/>
    <p:sldId id="678" r:id="rId46"/>
    <p:sldId id="696" r:id="rId47"/>
    <p:sldId id="679" r:id="rId48"/>
    <p:sldId id="698" r:id="rId49"/>
    <p:sldId id="699" r:id="rId50"/>
    <p:sldId id="700" r:id="rId51"/>
    <p:sldId id="680" r:id="rId52"/>
    <p:sldId id="733" r:id="rId53"/>
    <p:sldId id="730" r:id="rId54"/>
    <p:sldId id="731" r:id="rId55"/>
    <p:sldId id="732" r:id="rId56"/>
    <p:sldId id="697" r:id="rId57"/>
    <p:sldId id="681" r:id="rId58"/>
    <p:sldId id="710" r:id="rId59"/>
    <p:sldId id="712" r:id="rId60"/>
    <p:sldId id="682" r:id="rId61"/>
    <p:sldId id="683" r:id="rId62"/>
    <p:sldId id="684" r:id="rId63"/>
    <p:sldId id="714" r:id="rId64"/>
    <p:sldId id="719" r:id="rId65"/>
    <p:sldId id="717" r:id="rId66"/>
    <p:sldId id="718" r:id="rId67"/>
    <p:sldId id="720" r:id="rId68"/>
    <p:sldId id="711" r:id="rId69"/>
    <p:sldId id="721" r:id="rId70"/>
    <p:sldId id="722" r:id="rId71"/>
    <p:sldId id="723" r:id="rId72"/>
    <p:sldId id="725" r:id="rId73"/>
    <p:sldId id="727" r:id="rId74"/>
    <p:sldId id="728" r:id="rId75"/>
    <p:sldId id="729" r:id="rId76"/>
    <p:sldId id="734" r:id="rId77"/>
    <p:sldId id="735" r:id="rId78"/>
    <p:sldId id="736" r:id="rId79"/>
    <p:sldId id="737" r:id="rId80"/>
    <p:sldId id="738" r:id="rId81"/>
    <p:sldId id="739" r:id="rId82"/>
    <p:sldId id="740" r:id="rId83"/>
    <p:sldId id="741" r:id="rId84"/>
    <p:sldId id="742" r:id="rId85"/>
    <p:sldId id="685" r:id="rId86"/>
    <p:sldId id="686" r:id="rId87"/>
    <p:sldId id="687" r:id="rId88"/>
    <p:sldId id="688" r:id="rId89"/>
    <p:sldId id="743" r:id="rId90"/>
    <p:sldId id="689" r:id="rId91"/>
    <p:sldId id="690" r:id="rId92"/>
    <p:sldId id="691" r:id="rId93"/>
    <p:sldId id="692" r:id="rId94"/>
    <p:sldId id="693" r:id="rId95"/>
    <p:sldId id="701" r:id="rId96"/>
    <p:sldId id="702" r:id="rId97"/>
    <p:sldId id="703" r:id="rId98"/>
    <p:sldId id="704" r:id="rId99"/>
    <p:sldId id="705" r:id="rId100"/>
    <p:sldId id="706" r:id="rId101"/>
    <p:sldId id="707" r:id="rId102"/>
    <p:sldId id="708" r:id="rId103"/>
    <p:sldId id="289" r:id="rId104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89" Type="http://schemas.openxmlformats.org/officeDocument/2006/relationships/slide" Target="slides/slide85.xml"/><Relationship Id="rId84" Type="http://schemas.openxmlformats.org/officeDocument/2006/relationships/slide" Target="slides/slide80.xml"/><Relationship Id="rId68" Type="http://schemas.openxmlformats.org/officeDocument/2006/relationships/slide" Target="slides/slide64.xml"/><Relationship Id="rId63" Type="http://schemas.openxmlformats.org/officeDocument/2006/relationships/slide" Target="slides/slide59.xml"/><Relationship Id="rId47" Type="http://schemas.openxmlformats.org/officeDocument/2006/relationships/slide" Target="slides/slide43.xml"/><Relationship Id="rId42" Type="http://schemas.openxmlformats.org/officeDocument/2006/relationships/slide" Target="slides/slide38.xml"/><Relationship Id="rId21" Type="http://schemas.openxmlformats.org/officeDocument/2006/relationships/slide" Target="slides/slide17.xml"/><Relationship Id="rId112" Type="http://schemas.openxmlformats.org/officeDocument/2006/relationships/customXml" Target="../customXml/item3.xml"/><Relationship Id="rId16" Type="http://schemas.openxmlformats.org/officeDocument/2006/relationships/slide" Target="slides/slide12.xml"/><Relationship Id="rId107" Type="http://schemas.openxmlformats.org/officeDocument/2006/relationships/viewProps" Target="viewProps.xml"/><Relationship Id="rId79" Type="http://schemas.openxmlformats.org/officeDocument/2006/relationships/slide" Target="slides/slide75.xml"/><Relationship Id="rId74" Type="http://schemas.openxmlformats.org/officeDocument/2006/relationships/slide" Target="slides/slide70.xml"/><Relationship Id="rId58" Type="http://schemas.openxmlformats.org/officeDocument/2006/relationships/slide" Target="slides/slide54.xml"/><Relationship Id="rId53" Type="http://schemas.openxmlformats.org/officeDocument/2006/relationships/slide" Target="slides/slide49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11" Type="http://schemas.openxmlformats.org/officeDocument/2006/relationships/slide" Target="slides/slide7.xml"/><Relationship Id="rId102" Type="http://schemas.openxmlformats.org/officeDocument/2006/relationships/slide" Target="slides/slide98.xml"/><Relationship Id="rId95" Type="http://schemas.openxmlformats.org/officeDocument/2006/relationships/slide" Target="slides/slide91.xml"/><Relationship Id="rId90" Type="http://schemas.openxmlformats.org/officeDocument/2006/relationships/slide" Target="slides/slide86.xml"/><Relationship Id="rId5" Type="http://schemas.openxmlformats.org/officeDocument/2006/relationships/notesMaster" Target="notesMasters/notesMaster1.xml"/><Relationship Id="rId69" Type="http://schemas.openxmlformats.org/officeDocument/2006/relationships/slide" Target="slides/slide65.xml"/><Relationship Id="rId64" Type="http://schemas.openxmlformats.org/officeDocument/2006/relationships/slide" Target="slides/slide60.xml"/><Relationship Id="rId48" Type="http://schemas.openxmlformats.org/officeDocument/2006/relationships/slide" Target="slides/slide44.xml"/><Relationship Id="rId43" Type="http://schemas.openxmlformats.org/officeDocument/2006/relationships/slide" Target="slides/slide39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85" Type="http://schemas.openxmlformats.org/officeDocument/2006/relationships/slide" Target="slides/slide81.xml"/><Relationship Id="rId80" Type="http://schemas.openxmlformats.org/officeDocument/2006/relationships/slide" Target="slides/slide76.xml"/><Relationship Id="rId59" Type="http://schemas.openxmlformats.org/officeDocument/2006/relationships/slide" Target="slides/slide55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108" Type="http://schemas.openxmlformats.org/officeDocument/2006/relationships/tableStyles" Target="tableStyles.xml"/><Relationship Id="rId103" Type="http://schemas.openxmlformats.org/officeDocument/2006/relationships/slide" Target="slides/slide99.xml"/><Relationship Id="rId96" Type="http://schemas.openxmlformats.org/officeDocument/2006/relationships/slide" Target="slides/slide92.xml"/><Relationship Id="rId91" Type="http://schemas.openxmlformats.org/officeDocument/2006/relationships/slide" Target="slides/slide87.xml"/><Relationship Id="rId75" Type="http://schemas.openxmlformats.org/officeDocument/2006/relationships/slide" Target="slides/slide71.xml"/><Relationship Id="rId70" Type="http://schemas.openxmlformats.org/officeDocument/2006/relationships/slide" Target="slides/slide66.xml"/><Relationship Id="rId54" Type="http://schemas.openxmlformats.org/officeDocument/2006/relationships/slide" Target="slides/slide50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57" Type="http://schemas.openxmlformats.org/officeDocument/2006/relationships/slide" Target="slides/slide53.xml"/><Relationship Id="rId49" Type="http://schemas.openxmlformats.org/officeDocument/2006/relationships/slide" Target="slides/slide45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106" Type="http://schemas.openxmlformats.org/officeDocument/2006/relationships/presProps" Target="presProps.xml"/><Relationship Id="rId99" Type="http://schemas.openxmlformats.org/officeDocument/2006/relationships/slide" Target="slides/slide95.xml"/><Relationship Id="rId94" Type="http://schemas.openxmlformats.org/officeDocument/2006/relationships/slide" Target="slides/slide90.xml"/><Relationship Id="rId86" Type="http://schemas.openxmlformats.org/officeDocument/2006/relationships/slide" Target="slides/slide82.xml"/><Relationship Id="rId81" Type="http://schemas.openxmlformats.org/officeDocument/2006/relationships/slide" Target="slides/slide77.xml"/><Relationship Id="rId78" Type="http://schemas.openxmlformats.org/officeDocument/2006/relationships/slide" Target="slides/slide74.xml"/><Relationship Id="rId73" Type="http://schemas.openxmlformats.org/officeDocument/2006/relationships/slide" Target="slides/slide69.xml"/><Relationship Id="rId65" Type="http://schemas.openxmlformats.org/officeDocument/2006/relationships/slide" Target="slides/slide61.xml"/><Relationship Id="rId60" Type="http://schemas.openxmlformats.org/officeDocument/2006/relationships/slide" Target="slides/slide56.xml"/><Relationship Id="rId52" Type="http://schemas.openxmlformats.org/officeDocument/2006/relationships/slide" Target="slides/slide48.xml"/><Relationship Id="rId44" Type="http://schemas.openxmlformats.org/officeDocument/2006/relationships/slide" Target="slides/slide40.xml"/><Relationship Id="rId31" Type="http://schemas.openxmlformats.org/officeDocument/2006/relationships/slide" Target="slides/slide27.xml"/><Relationship Id="rId101" Type="http://schemas.openxmlformats.org/officeDocument/2006/relationships/slide" Target="slides/slide9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109" Type="http://schemas.openxmlformats.org/officeDocument/2006/relationships/commentAuthors" Target="commentAuthors.xml"/><Relationship Id="rId97" Type="http://schemas.openxmlformats.org/officeDocument/2006/relationships/slide" Target="slides/slide93.xml"/><Relationship Id="rId76" Type="http://schemas.openxmlformats.org/officeDocument/2006/relationships/slide" Target="slides/slide72.xml"/><Relationship Id="rId55" Type="http://schemas.openxmlformats.org/officeDocument/2006/relationships/slide" Target="slides/slide51.xml"/><Relationship Id="rId50" Type="http://schemas.openxmlformats.org/officeDocument/2006/relationships/slide" Target="slides/slide46.xml"/><Relationship Id="rId34" Type="http://schemas.openxmlformats.org/officeDocument/2006/relationships/slide" Target="slides/slide30.xml"/><Relationship Id="rId104" Type="http://schemas.openxmlformats.org/officeDocument/2006/relationships/slide" Target="slides/slide100.xml"/><Relationship Id="rId92" Type="http://schemas.openxmlformats.org/officeDocument/2006/relationships/slide" Target="slides/slide88.xml"/><Relationship Id="rId71" Type="http://schemas.openxmlformats.org/officeDocument/2006/relationships/slide" Target="slides/slide67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87" Type="http://schemas.openxmlformats.org/officeDocument/2006/relationships/slide" Target="slides/slide83.xml"/><Relationship Id="rId66" Type="http://schemas.openxmlformats.org/officeDocument/2006/relationships/slide" Target="slides/slide62.xml"/><Relationship Id="rId45" Type="http://schemas.openxmlformats.org/officeDocument/2006/relationships/slide" Target="slides/slide41.xml"/><Relationship Id="rId40" Type="http://schemas.openxmlformats.org/officeDocument/2006/relationships/slide" Target="slides/slide36.xml"/><Relationship Id="rId24" Type="http://schemas.openxmlformats.org/officeDocument/2006/relationships/slide" Target="slides/slide20.xml"/><Relationship Id="rId110" Type="http://schemas.openxmlformats.org/officeDocument/2006/relationships/customXml" Target="../customXml/item1.xml"/><Relationship Id="rId82" Type="http://schemas.openxmlformats.org/officeDocument/2006/relationships/slide" Target="slides/slide78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77" Type="http://schemas.openxmlformats.org/officeDocument/2006/relationships/slide" Target="slides/slide73.xml"/><Relationship Id="rId56" Type="http://schemas.openxmlformats.org/officeDocument/2006/relationships/slide" Target="slides/slide52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14" Type="http://schemas.openxmlformats.org/officeDocument/2006/relationships/slide" Target="slides/slide10.xml"/><Relationship Id="rId105" Type="http://schemas.openxmlformats.org/officeDocument/2006/relationships/handoutMaster" Target="handoutMasters/handoutMaster1.xml"/><Relationship Id="rId100" Type="http://schemas.openxmlformats.org/officeDocument/2006/relationships/slide" Target="slides/slide96.xml"/><Relationship Id="rId98" Type="http://schemas.openxmlformats.org/officeDocument/2006/relationships/slide" Target="slides/slide94.xml"/><Relationship Id="rId93" Type="http://schemas.openxmlformats.org/officeDocument/2006/relationships/slide" Target="slides/slide89.xml"/><Relationship Id="rId8" Type="http://schemas.openxmlformats.org/officeDocument/2006/relationships/slide" Target="slides/slide4.xml"/><Relationship Id="rId72" Type="http://schemas.openxmlformats.org/officeDocument/2006/relationships/slide" Target="slides/slide68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2.xml"/><Relationship Id="rId67" Type="http://schemas.openxmlformats.org/officeDocument/2006/relationships/slide" Target="slides/slide63.xml"/><Relationship Id="rId46" Type="http://schemas.openxmlformats.org/officeDocument/2006/relationships/slide" Target="slides/slide42.xml"/><Relationship Id="rId25" Type="http://schemas.openxmlformats.org/officeDocument/2006/relationships/slide" Target="slides/slide21.xml"/><Relationship Id="rId88" Type="http://schemas.openxmlformats.org/officeDocument/2006/relationships/slide" Target="slides/slide84.xml"/><Relationship Id="rId83" Type="http://schemas.openxmlformats.org/officeDocument/2006/relationships/slide" Target="slides/slide79.xml"/><Relationship Id="rId62" Type="http://schemas.openxmlformats.org/officeDocument/2006/relationships/slide" Target="slides/slide58.xml"/><Relationship Id="rId41" Type="http://schemas.openxmlformats.org/officeDocument/2006/relationships/slide" Target="slides/slide37.xml"/><Relationship Id="rId20" Type="http://schemas.openxmlformats.org/officeDocument/2006/relationships/slide" Target="slides/slide16.xml"/><Relationship Id="rId111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eveloper.mozilla.org/ru/docs/Web/Accessibility/ARIA" TargetMode="Externa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teletype.in/@cursor.education/p3vQsTxs" TargetMode="External"/><Relationship Id="rId1" Type="http://schemas.openxmlformats.org/officeDocument/2006/relationships/hyperlink" Target="https://dou.ua/forums/topic/47081/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testing-library.com/docs/react-testing-library/intro/&#13;" TargetMode="External"/><Relationship Id="rId2" Type="http://schemas.openxmlformats.org/officeDocument/2006/relationships/image" Target="../media/image8.jpeg"/><Relationship Id="rId1" Type="http://schemas.openxmlformats.org/officeDocument/2006/relationships/hyperlink" Target="https://habr.com/ua/companies/plarium/articles/474580/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testing-library.com/docs/react-testing-library/migrate-from-enzyme&#13;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thub.com/jsdom/jsdom" TargetMode="External"/><Relationship Id="rId3" Type="http://schemas.openxmlformats.org/officeDocument/2006/relationships/hyperlink" Target="https://jestjs.io/%20" TargetMode="External"/><Relationship Id="rId2" Type="http://schemas.openxmlformats.org/officeDocument/2006/relationships/image" Target="../media/image10.png"/><Relationship Id="rId1" Type="http://schemas.openxmlformats.org/officeDocument/2006/relationships/hyperlink" Target="https://testrigor.com/blog/mocks-spies-and-stubs/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hyperlink" Target="https://jestjs.io/ru/docs/getting-started&#13;" TargetMode="External"/><Relationship Id="rId2" Type="http://schemas.openxmlformats.org/officeDocument/2006/relationships/image" Target="../media/image11.png"/><Relationship Id="rId1" Type="http://schemas.openxmlformats.org/officeDocument/2006/relationships/hyperlink" Target="https://github.com/haoqunjiang/vite-jest/tree/main/packages/vite-jest#vite-jest&#13;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youtu.be/7f-71kYhK00?feature=shared&#13;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st.github.com/sunmeat/660c7dc33e6bdcf3e9e07750e92252a7" TargetMode="External"/><Relationship Id="rId3" Type="http://schemas.openxmlformats.org/officeDocument/2006/relationships/hyperlink" Target="https://gist.github.com/sunmeat/849524a47aff7d2b1b2aa7d55d4349b4" TargetMode="External"/><Relationship Id="rId2" Type="http://schemas.openxmlformats.org/officeDocument/2006/relationships/hyperlink" Target="https://gist.github.com/sunmeat/dbba4bcec6387d3e3404037dd24e66d0" TargetMode="External"/><Relationship Id="rId1" Type="http://schemas.openxmlformats.org/officeDocument/2006/relationships/hyperlink" Target="https://gist.github.com/sunmeat/302f6d8f2f8bf28ff30c1130776e123a" TargetMode="Externa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vitest.dev/api/expect.html&#13;" TargetMode="Externa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hyperlink" Target="https://gist.github.com/sunmeat/e3d0166a510d61606617a6df72a29f99&#13;" TargetMode="External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testengineer.ru/mocks-and-stubs/&#13;" TargetMode="External"/><Relationship Id="rId4" Type="http://schemas.openxmlformats.org/officeDocument/2006/relationships/hyperlink" Target="https://doka.guide/tools/testing-and-fake-objects/&#13;" TargetMode="External"/><Relationship Id="rId3" Type="http://schemas.openxmlformats.org/officeDocument/2006/relationships/hyperlink" Target="https://habr.com/ru/articles/134836/&#13;" TargetMode="External"/><Relationship Id="rId2" Type="http://schemas.openxmlformats.org/officeDocument/2006/relationships/hyperlink" Target="https://habr.com/ru/articles/899788/&#13;" TargetMode="External"/><Relationship Id="rId1" Type="http://schemas.openxmlformats.org/officeDocument/2006/relationships/hyperlink" Target="https://habr.com/ru/articles/577424/&#13;" TargetMode="Externa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enzymejs.github.io/enzyme/&#13;" TargetMode="External"/><Relationship Id="rId1" Type="http://schemas.openxmlformats.org/officeDocument/2006/relationships/image" Target="../media/image27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www.cypress.io/&#13;" TargetMode="External"/><Relationship Id="rId1" Type="http://schemas.openxmlformats.org/officeDocument/2006/relationships/image" Target="../media/image28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cypress.io/" TargetMode="External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playwright.dev/&#13;" TargetMode="External"/><Relationship Id="rId1" Type="http://schemas.openxmlformats.org/officeDocument/2006/relationships/image" Target="../media/image29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playwright.dev/docs/intro&#13;" TargetMode="External"/></Relationships>
</file>

<file path=ppt/slides/_rels/slide9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hyperlink" Target="https://mochajs.org/&#13;" TargetMode="External"/><Relationship Id="rId2" Type="http://schemas.openxmlformats.org/officeDocument/2006/relationships/hyperlink" Target="https://foxminded.ua/bdd-shcho-tse/" TargetMode="External"/><Relationship Id="rId1" Type="http://schemas.openxmlformats.org/officeDocument/2006/relationships/hyperlink" Target="https://www.chaijs.com/" TargetMode="Externa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1" Type="http://schemas.openxmlformats.org/officeDocument/2006/relationships/hyperlink" Target="https://jasmine.github.io/&#13;" TargetMode="Externa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jasmine.github.io/pages/getting_started.html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165bb56e-d0b8-4edc-a646-9a574366d895/uk&#13;" TargetMode="External"/><Relationship Id="rId1" Type="http://schemas.openxmlformats.org/officeDocument/2006/relationships/hyperlink" Target="https://materials.itstep.org/content/2fbb9a9f-9bd0-400b-9de9-06517f30c3c6/uk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React Testing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284220"/>
            <a:ext cx="3738880" cy="34804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Теорія тестування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Навіщо тестувати React-додаток?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Види тестів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Бібліотеки для тестування React-додатків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React Testing Library</a:t>
            </a:r>
            <a:endParaRPr lang="en-US" altLang="en-US" sz="3200" b="1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Jest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Enzyme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Інші бібліотеки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проєкту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 Code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У терміналі VS Code: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Виходимо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на робочий стіл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Створюємо проєкт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create vite@latest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Вводимо ім’я проєкту, наприклад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hellovite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фреймворк React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мову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JavaScript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(або TypeScript)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hellovite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(переходимо в папку проєкту)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install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(встановлюємо залежності)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run dev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 (запускаємо проєкт)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або навіть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npx vite --open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Створення проєкту в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WebStorm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5-05-09 173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631950"/>
            <a:ext cx="8895080" cy="469074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041650" y="53340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npm create vite@latest . -- --template react</a:t>
            </a:r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Тестування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3862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Тестування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– це процес перевірки та оцінки системи, продукту чи процесу з метою виявлення дефектів, помилок та невідповідностей вимогам. Основна мета тестування – переконатися, що продукт працює так, як очікується, та задовольняє заданим вимогам. Основні аспекти: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Виявлення дефектів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Знаходження помилок та проблем, які можуть вплинути на функціонування продукту чи системи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Переконатись у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відповідності до вимог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Перевірка того, що продукт відповідає встановленим вимогам та специфікаціям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Поліпшення якості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: Підтримка та підвищення загальної якості продукту за рахунок усунення знайдених помилок та покращення його функціональності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en-US" dirty="0"/>
              <a:t>:)</a:t>
            </a:r>
            <a:endParaRPr lang="en-US" altLang="en-US" dirty="0"/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rcRect t="3212" b="3212"/>
          <a:stretch>
            <a:fillRect/>
          </a:stretch>
        </p:blipFill>
        <p:spPr>
          <a:xfrm>
            <a:off x="1147445" y="1630045"/>
            <a:ext cx="6603365" cy="3681730"/>
          </a:xfrm>
        </p:spPr>
      </p:pic>
      <p:pic>
        <p:nvPicPr>
          <p:cNvPr id="3" name="Picture 2" descr="Снимок экрана 2025-09-02 1244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35" y="5363845"/>
            <a:ext cx="607695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Якість ПЗ</a:t>
            </a:r>
            <a:endParaRPr lang="uk-UA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2875"/>
            <a:ext cx="7924800" cy="4606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Якість програмного забезпечення можна визначити як сукупну характеристику досліджуваного ПЗ з урахуванням таких складових: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надійність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супроводжуваність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практичність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ефективність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мобільність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функціональність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/>
              <a:t>Класифікація видів тестування</a:t>
            </a:r>
            <a:endParaRPr lang="uk-UA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30338"/>
            <a:ext cx="7924800" cy="4678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1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 об'єкту тестування:</a:t>
            </a:r>
            <a:endParaRPr kumimoji="0" lang="en-US" altLang="en-US" sz="19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Функціональне тестування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продуктивності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Навантажувальне тестування (очікуване робоче навантаження)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Стрес-тестування (екстремальне робоче навантаження)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стабільності (тривалий час без збоїв та витоків)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Конфігураційне тестування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Юзабіліті-тестування (наскільки зручний інтерфейс)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інтерфейсу користувача (кнопки працюють)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безпеки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локалізації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сумісності</a:t>
            </a:r>
            <a:endParaRPr kumimoji="0" lang="en-US" alt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42240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знанням системи:</a:t>
            </a:r>
            <a:endParaRPr kumimoji="0" lang="en-US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чорно</a:t>
            </a:r>
            <a:r>
              <a:rPr kumimoji="0" lang="uk-UA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ї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altLang="en-US" sz="22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скриньки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(оцінюється функціональність системи без урахування її внутрішнього устрою та структури, тестуються </a:t>
            </a:r>
            <a:r>
              <a:rPr kumimoji="0" lang="uk-UA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фактом лише вхідні дані та результати)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білої скриньки (оцінюється на 100% внутрішня структура, логіка та робота системи, 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0" lang="uk-UA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всі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шляхи та умови)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сірої скриньки (змішаний підхід, при якому використовується неповна, часткова інформація - схеми БД, діаграми класів, інші архітектурні документи та часткове представлення коду - про внутрішній 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стрій для створення тестів)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ступенем автоматизації:</a:t>
            </a:r>
            <a:endParaRPr kumimoji="0" lang="en-US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Ручне тестування (наприклад, тестувальник вручну перевіряє, чи веб-форма працює, чи коректно відображається інформація на сторінках 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</a:t>
            </a:r>
            <a:r>
              <a:rPr kumimoji="0" lang="ru-RU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чи виконуються очікувані дії)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Автоматизоване тестування (наприклад, пишуться автоматизовані тести для перевірки коректності роботи функціональності програми, таких як перевірка логіки реєстрації користувачів та обробка форм)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Напівавтоматизоване тестування (наприклад, використовуються автоматизовані тести для перевірки базової функціональності програми, а ручне тестування - для перевірки інтерфейсу користувача та юзабіліті)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1369695"/>
            <a:ext cx="7924800" cy="45167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часом проведення тестування: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Альфа-тестування (проводиться внутрішніми тестувальниками на пізніх етапах розробки)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Димове тестування (smoke testing) - перевіряє базову функціональність після </a:t>
            </a:r>
            <a:r>
              <a:rPr kumimoji="0" lang="ru-RU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збирання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або розгортання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нової функції (new feature testing)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Підтвердж</a:t>
            </a:r>
            <a:r>
              <a:rPr kumimoji="0" lang="ru-RU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увальне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тестування - перевіряє виправлення раніше знайдених дефектів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Регресійне тестування – перевіряє, що зміни не порушили існуючу функціональність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Приймальне тестування – підтверджує відповідність системи вимогам замовника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Бета-тестування (залучає зовнішніх користувачів </a:t>
            </a:r>
            <a:r>
              <a:rPr kumimoji="0" lang="ru-RU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 перевірки системи перед офіційним релізом)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03045"/>
            <a:ext cx="7924800" cy="45167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en-US" sz="3000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За ознакою позитивності сценаріїв:</a:t>
            </a:r>
            <a:endParaRPr lang="en-US" altLang="en-US" sz="3000" b="1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Позитивне тестування (перевіряється, що система функціонує правильно та відповідає вимогам при подачі коректних та очікуваних вхідних даних)</a:t>
            </a:r>
            <a:endParaRPr lang="en-US" altLang="en-US" sz="30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Негативне тестування (перевіряється, </a:t>
            </a:r>
            <a:r>
              <a:rPr lang="ru-RU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як система реагує на некоректні, несподівані чи помилкові вхідні дані </a:t>
            </a:r>
            <a:r>
              <a:rPr lang="ru-RU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      </a:t>
            </a:r>
            <a:r>
              <a:rPr lang="en-US" altLang="en-US" sz="3000" noProof="0" dirty="0">
                <a:ln>
                  <a:noFill/>
                </a:ln>
                <a:effectLst/>
                <a:uLnTx/>
                <a:uFillTx/>
                <a:sym typeface="+mn-ea"/>
              </a:rPr>
              <a:t>та умови)</a:t>
            </a:r>
            <a:endParaRPr lang="en-US" altLang="en-US" sz="3000" noProof="0" dirty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Класифікація видів тестування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 ступенем ізольованості компонентів: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Модульне (юніт) тестування (перевіряється коректність роботи окремих модулів чи компонентів системи - методів, класів - у повній ізоляції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інших частин)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Інтеграційне тестування (перевіряється взаємодія між різними модулями чи компонентами системи, наприклад модуль Замовлення Товарів та Оплати)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Системне тестування (перевіряється система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цілому як єдине ціле, щоб переконатися,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що всі компоненти та модулі працюють разом відповідно до вимог)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:)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3862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ru-RU" altLang="x-none" sz="3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14531116481857111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556385"/>
            <a:ext cx="8867140" cy="49809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Модульне тест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3862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</a:rPr>
              <a:t>Модульне тестування (unit testing)</a:t>
            </a:r>
            <a:r>
              <a:rPr lang="en-US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 - це процес перевірки окремих компонентів (модулів) програми</a:t>
            </a:r>
            <a:r>
              <a:rPr lang="uk-UA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 на коректність їх роботи.</a:t>
            </a: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ea typeface="Microsoft YaHei" panose="020B0503020204020204" charset="-122"/>
              </a:rPr>
              <a:t>Мета МТ - переконатися, кожен модуль працює правильно в ізоляції від інших частин системи.</a:t>
            </a:r>
            <a:endParaRPr lang="en-US" altLang="en-US" sz="3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л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та завдання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МТ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43065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Цілі: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Виявлення та виправлення помилок на ранніх етапах розробки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Забезпечення надійності та стабільності коду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Спрощення інтеграції модулів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Завдання: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Перевірка функціональності кожного модуля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Підтвердження відповідності коду вимогам специфікації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Підтримка якості коду під час внесення змін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Необ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хідність</a:t>
            </a:r>
            <a:r>
              <a:rPr lang="ru-RU" altLang="x-none" sz="4200" dirty="0" err="1">
                <a:solidFill>
                  <a:srgbClr val="FFFFFF"/>
                </a:solidFill>
                <a:ea typeface="Microsoft YaHei" panose="020B0503020204020204" charset="-122"/>
              </a:rPr>
              <a:t> МТ</a:t>
            </a:r>
            <a:endParaRPr lang="ru-RU" altLang="x-none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611505" y="1386205"/>
            <a:ext cx="791337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Переваги: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Виявлення помилок до їхнього потрапляння в робоче середовище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Прискорення процесу налагодження та виправлення помилок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Підвищення впевненості у правильності коду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Спрощення рефакторингу та модифікацій коду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Помилки, виявлені при модульному тестуванні, можуть бути виправлені швидше та дешевше, ніж ті, що виявляються пізніше!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sz="4100" dirty="0"/>
              <a:t>Розробка через тестування</a:t>
            </a:r>
            <a:endParaRPr lang="uk-UA" sz="4100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09600" y="1401445"/>
            <a:ext cx="7924800" cy="461835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b="1" dirty="0"/>
              <a:t>Розробка через</a:t>
            </a:r>
            <a:r>
              <a:rPr lang="en-US" altLang="en-US" b="1" dirty="0"/>
              <a:t> </a:t>
            </a:r>
            <a:r>
              <a:rPr lang="en-US" altLang="en-US" b="1" dirty="0"/>
              <a:t>тестування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en-US" dirty="0"/>
              <a:t>(test-driven development, TDD)</a:t>
            </a:r>
            <a:r>
              <a:rPr lang="en-US" altLang="en-US" dirty="0"/>
              <a:t> </a:t>
            </a:r>
            <a:r>
              <a:rPr lang="en-US" altLang="en-US" dirty="0"/>
              <a:t>— техніка</a:t>
            </a:r>
            <a:r>
              <a:rPr lang="en-US" altLang="en-US" dirty="0"/>
              <a:t> </a:t>
            </a:r>
            <a:r>
              <a:rPr lang="en-US" altLang="en-US" dirty="0"/>
              <a:t>розробки програмного забезпечення, яка ґрунтується </a:t>
            </a:r>
            <a:r>
              <a:rPr lang="uk-UA" altLang="en-US" dirty="0"/>
              <a:t>             </a:t>
            </a:r>
            <a:r>
              <a:rPr lang="en-US" altLang="en-US" dirty="0"/>
              <a:t>на повторенні дуже коротких циклів розробки: спочатку пишеться тест, </a:t>
            </a:r>
            <a:r>
              <a:rPr lang="uk-UA" altLang="en-US" dirty="0"/>
              <a:t>      </a:t>
            </a:r>
            <a:r>
              <a:rPr lang="en-US" altLang="en-US" dirty="0"/>
              <a:t>що покриває бажану зміну, потім пишеться код, який дозволить пройти тест.</a:t>
            </a: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sz="4100" dirty="0">
                <a:sym typeface="+mn-ea"/>
              </a:rPr>
              <a:t>Розробка через тестування</a:t>
            </a:r>
            <a:endParaRPr lang="en-US" altLang="en-US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sz="2800" dirty="0"/>
              <a:t>Розробка через тестування вимагає </a:t>
            </a:r>
            <a:r>
              <a:rPr lang="uk-UA" altLang="en-US" sz="2800" dirty="0"/>
              <a:t>             </a:t>
            </a:r>
            <a:r>
              <a:rPr lang="en-US" altLang="en-US" sz="2800" dirty="0"/>
              <a:t>від розробника створення автоматизованих модульних тестів, що визначають вимоги </a:t>
            </a:r>
            <a:r>
              <a:rPr lang="uk-UA" altLang="en-US" sz="2800" dirty="0"/>
              <a:t>     </a:t>
            </a:r>
            <a:r>
              <a:rPr lang="en-US" altLang="en-US" sz="2800" dirty="0"/>
              <a:t>до коду перед написанням самого коду. </a:t>
            </a:r>
            <a:r>
              <a:rPr lang="uk-UA" altLang="en-US" sz="2800" dirty="0"/>
              <a:t>    </a:t>
            </a:r>
            <a:r>
              <a:rPr lang="en-US" altLang="en-US" sz="2800" dirty="0"/>
              <a:t>Тест містить перевірки умов, які можуть виконуватися, або ні. Коли вони виконуються, кажуть, що </a:t>
            </a:r>
            <a:r>
              <a:rPr lang="en-US" altLang="en-US" sz="2800" dirty="0">
                <a:solidFill>
                  <a:srgbClr val="00B050"/>
                </a:solidFill>
              </a:rPr>
              <a:t>тест пройдено</a:t>
            </a:r>
            <a:r>
              <a:rPr lang="en-US" altLang="en-US" sz="2800" dirty="0"/>
              <a:t>. Проходження тесту підтверджує поведінку, яку передбачає програміст.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sz="4100" dirty="0"/>
              <a:t>Тестування </a:t>
            </a:r>
            <a:r>
              <a:rPr lang="en-US" sz="4100" dirty="0"/>
              <a:t>React-</a:t>
            </a:r>
            <a:r>
              <a:rPr lang="uk-UA" sz="4100" dirty="0"/>
              <a:t>додатків</a:t>
            </a:r>
            <a:endParaRPr lang="uk-UA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en-US" dirty="0"/>
              <a:t>Тестування React-додатків є важливим етапом розробки, оскільки дозволяє гарантувати коректну роботу компонентів, стану та взаємодії </a:t>
            </a:r>
            <a:r>
              <a:rPr lang="ru-RU" altLang="en-US" dirty="0"/>
              <a:t>             </a:t>
            </a:r>
            <a:r>
              <a:rPr lang="en-US" altLang="en-US" dirty="0"/>
              <a:t>із серверними API. Важливо тестувати як бізнес-логіку на стороні клієнта, так і інтеграцію з сервером, особливо якщо програма активно працює з даними.</a:t>
            </a: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en-US" dirty="0">
                <a:sym typeface="+mn-ea"/>
              </a:rPr>
              <a:t>Рефакторинг</a:t>
            </a:r>
            <a:endParaRPr lang="uk-UA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Головний інструмент адаптивної розробки –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це рефакторинг.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Рефакторинг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це процес покращення коду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без додавання нової функціональності.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Вносячи зміни до коду, легко поламати те,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що працювало, і навіть не помітити цього.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Добре було б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зафіксувати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правильну поведінку,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і регулярно перевіряти, чи код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їй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відповідає.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- це і є спосіб зафіксувати правильну поведінку коду.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Модульність</a:t>
            </a:r>
            <a:endParaRPr lang="en-US" alt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 це функція, метод чи маленький утилітарний клас.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Один модульний тест перевіряє одну функцію   чи метод.</a:t>
            </a:r>
            <a:endParaRPr kumimoji="0" lang="en-US" altLang="en-US" sz="2600" b="0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Під м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одульн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им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тест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ом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має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ться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на увазі 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ізольоване тестування методу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не повинні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захаращувати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проект              або обтяжувати його додатковим кодом.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повинні запускатися в IDE і там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же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повинні показуватися результати їх виконання.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>
                <a:sym typeface="+mn-ea"/>
              </a:rPr>
              <a:t>Підходи та прийоми</a:t>
            </a:r>
            <a:endParaRPr lang="en-US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Швидкість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Ізольованість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Тестування приватних методів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TDD (Test-Driven-Development)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>
                <a:sym typeface="+mn-ea"/>
              </a:rPr>
              <a:t>Швидкість</a:t>
            </a:r>
            <a:endParaRPr lang="uk-UA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мають бути простими, а головне – швидкими. Інакше - будемо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відверті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ви запускатимете їх у кращому випадку раз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 тиждень. А це дискредитує ідею модульного тестування: </a:t>
            </a:r>
            <a:r>
              <a:rPr kumimoji="0" lang="en-US" altLang="en-US" sz="2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якщо щось зламали, необхідно відразу ж дізнатися про це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Якщо у вас вийшов складний та повільний тест – значить, щось пішло не так. Або ви щось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не те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тестуєте, або це не модульний тест, а інтеграційний,   або у вас проблеми з архітектурою.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en-US" dirty="0">
                <a:sym typeface="+mn-ea"/>
              </a:rPr>
              <a:t>Ізольованість</a:t>
            </a:r>
            <a:endParaRPr lang="en-US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Класи зазвичай мають залежн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Якщо тест методу не проходить, то не завжди зрозуміло хто винен: сам метод, або використані в ньому залежності.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Тому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ключова властивість модульного тесту – ізольованість тестованого методу чи класу загалом </a:t>
            </a:r>
            <a:r>
              <a:rPr kumimoji="0" lang="uk-UA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впливу його залежностей.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 час тестування методу потрібно позбавитися цього впливу. Рішення – на час тесту підмінити залежність на </a:t>
            </a:r>
            <a:r>
              <a:rPr kumimoji="0" lang="en-US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підроб</a:t>
            </a:r>
            <a:r>
              <a:rPr kumimoji="0" lang="uk-UA" altLang="en-US" sz="24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ку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яка точно працює правильно.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Але ж не робити дві версії методу - для продакшена   і для тестування?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uk-UA" dirty="0">
                <a:sym typeface="+mn-ea"/>
              </a:rPr>
              <a:t>Абстрагуйся або помри</a:t>
            </a:r>
            <a:endParaRPr lang="uk-UA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Простіше в тестованому класі абстрагуватися 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 конкретної реалізації залежності і замість посилань на конкретні реалізації використовувати інтерфейсні посилання. А конкретну реалізацію (справжню чи підроблену) – впроваджувати під час створення об'єкта. Це 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доречі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про п'ятий принцип SOLID – принцип інверсії залежності. Програмуємо абстракції, а не реалізаці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ї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і конкретну реалізацію </a:t>
            </a:r>
            <a:r>
              <a:rPr kumimoji="0" lang="uk-UA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 клас впроваджуємо за допомогою патерна Dependency Injection. Залишилося </a:t>
            </a:r>
            <a:r>
              <a:rPr kumimoji="0" lang="en-US" altLang="en-US" sz="25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зробити підробку </a:t>
            </a:r>
            <a:r>
              <a:rPr kumimoji="0" lang="en-US" altLang="en-US" sz="2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 підсунути її класу при тестуванні.</a:t>
            </a:r>
            <a:endParaRPr kumimoji="0" lang="en-US" altLang="en-US" sz="25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Види підробок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466850"/>
            <a:ext cx="8048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Стаби імітують стан деякого об'єкта, а моки –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його поведінк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Стаб (заглушка)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нічого корисного робить, а просто імітує заданий стан, повертаючи певні значення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 відповідь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виклики його методів. Завдання стаба – моделювання зовнішнього оточення тестового класу.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Мок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це об'єкт, який має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певні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очікування.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Моки підсовуються деякому об'єкту, щоб потім можна було перевірити, чи він виконав необхідні дії. Мок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якби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записує дії тестованого методу, щоб потім перевірити, чи відповідають очікування мока поведінці тестованого класу.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uk-UA" dirty="0">
                <a:sym typeface="+mn-ea"/>
              </a:rPr>
              <a:t>Тест</a:t>
            </a:r>
            <a:r>
              <a:rPr lang="uk-UA" altLang="ru-RU" dirty="0">
                <a:sym typeface="+mn-ea"/>
              </a:rPr>
              <a:t>ування</a:t>
            </a:r>
            <a:r>
              <a:rPr lang="ru-RU" altLang="uk-UA" dirty="0">
                <a:sym typeface="+mn-ea"/>
              </a:rPr>
              <a:t> </a:t>
            </a:r>
            <a:r>
              <a:rPr lang="en-US" altLang="ru-RU" dirty="0">
                <a:sym typeface="+mn-ea"/>
              </a:rPr>
              <a:t>private</a:t>
            </a:r>
            <a:r>
              <a:rPr lang="uk-UA" altLang="en-US" dirty="0">
                <a:sym typeface="+mn-ea"/>
              </a:rPr>
              <a:t>-</a:t>
            </a:r>
            <a:r>
              <a:rPr lang="ru-RU" altLang="uk-UA" dirty="0">
                <a:sym typeface="+mn-ea"/>
              </a:rPr>
              <a:t>метод</a:t>
            </a:r>
            <a:r>
              <a:rPr lang="uk-UA" altLang="ru-RU" dirty="0">
                <a:sym typeface="+mn-ea"/>
              </a:rPr>
              <a:t>і</a:t>
            </a:r>
            <a:r>
              <a:rPr lang="ru-RU" altLang="uk-UA" dirty="0">
                <a:sym typeface="+mn-ea"/>
              </a:rPr>
              <a:t>в</a:t>
            </a:r>
            <a:endParaRPr lang="ru-RU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Black-Box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тестує лише інтерфейс класу.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White</a:t>
            </a:r>
            <a:r>
              <a:rPr kumimoji="0" lang="uk-UA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Box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передбачає тестування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й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деталей реалізації теж. Формально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-то,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можна викликати приватний метод за допомогою рефлексії. Однак </a:t>
            </a:r>
            <a:r>
              <a:rPr kumimoji="0" lang="en-US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краще не тестувати приватні методи взагалі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Причина в тому, що </a:t>
            </a:r>
            <a:r>
              <a:rPr kumimoji="0" lang="en-US" altLang="en-US" sz="26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інкапсуляція приховує деталі </a:t>
            </a:r>
            <a:r>
              <a:rPr kumimoji="0" lang="uk-UA" altLang="en-US" sz="26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реалізації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щоб потім можна було її змінити, 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зовні при цьому нічого не зміни</a:t>
            </a:r>
            <a:r>
              <a:rPr kumimoji="0" lang="uk-UA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лося.</a:t>
            </a: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Проблема тестування приватних методів (всупереч ідеї інкапсуляції) у тому, що зміна деталей реалізації може поламати тест.</a:t>
            </a:r>
            <a:endParaRPr kumimoji="0" lang="en-US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altLang="uk-UA" dirty="0">
                <a:sym typeface="+mn-ea"/>
              </a:rPr>
              <a:t>Тест</a:t>
            </a:r>
            <a:r>
              <a:rPr lang="uk-UA" altLang="ru-RU" dirty="0">
                <a:sym typeface="+mn-ea"/>
              </a:rPr>
              <a:t>ування</a:t>
            </a:r>
            <a:r>
              <a:rPr lang="ru-RU" altLang="uk-UA" dirty="0">
                <a:sym typeface="+mn-ea"/>
              </a:rPr>
              <a:t> </a:t>
            </a:r>
            <a:r>
              <a:rPr lang="en-US" altLang="ru-RU" dirty="0">
                <a:sym typeface="+mn-ea"/>
              </a:rPr>
              <a:t>private</a:t>
            </a:r>
            <a:r>
              <a:rPr lang="uk-UA" altLang="en-US" dirty="0">
                <a:sym typeface="+mn-ea"/>
              </a:rPr>
              <a:t>-</a:t>
            </a:r>
            <a:r>
              <a:rPr lang="ru-RU" altLang="uk-UA" dirty="0">
                <a:sym typeface="+mn-ea"/>
              </a:rPr>
              <a:t>метод</a:t>
            </a:r>
            <a:r>
              <a:rPr lang="uk-UA" altLang="ru-RU" dirty="0">
                <a:sym typeface="+mn-ea"/>
              </a:rPr>
              <a:t>і</a:t>
            </a:r>
            <a:r>
              <a:rPr lang="ru-RU" altLang="uk-UA" dirty="0">
                <a:sym typeface="+mn-ea"/>
              </a:rPr>
              <a:t>в</a:t>
            </a:r>
            <a:endParaRPr lang="ru-RU" altLang="uk-UA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Хороший тест не повинен ламатися </a:t>
            </a:r>
            <a:r>
              <a:rPr kumimoji="0" lang="uk-UA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при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змін</a:t>
            </a:r>
            <a:r>
              <a:rPr kumimoji="0" lang="uk-UA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деталей реалізації. Оскільки приватні методи </a:t>
            </a:r>
            <a:r>
              <a:rPr kumimoji="0" lang="uk-UA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 раз і являють собою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деталі реалізації, їх пряме тестування зробить тести 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крихкими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Тому 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тестувати треба не приватні методи, а публічні - тобто інтерфейс, </a:t>
            </a:r>
            <a:r>
              <a:rPr kumimoji="0" lang="uk-UA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не його реалізацію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ru-RU" dirty="0">
                <a:sym typeface="+mn-ea"/>
              </a:rPr>
              <a:t>Хороша арх</a:t>
            </a:r>
            <a:r>
              <a:rPr lang="uk-UA" altLang="ru-RU" dirty="0">
                <a:sym typeface="+mn-ea"/>
              </a:rPr>
              <a:t>і</a:t>
            </a:r>
            <a:r>
              <a:rPr lang="ru-RU" dirty="0">
                <a:sym typeface="+mn-ea"/>
              </a:rPr>
              <a:t>тектура </a:t>
            </a:r>
            <a:r>
              <a:rPr lang="uk-UA" altLang="ru-RU" dirty="0">
                <a:sym typeface="+mn-ea"/>
              </a:rPr>
              <a:t>та</a:t>
            </a:r>
            <a:r>
              <a:rPr lang="ru-RU" dirty="0">
                <a:sym typeface="+mn-ea"/>
              </a:rPr>
              <a:t> ООД</a:t>
            </a:r>
            <a:endParaRPr 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Фундаментальні принципи проектування: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 Coupling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(низька пов'язаність) – мінімізація (ослаблення) зв'язків </a:t>
            </a:r>
            <a:r>
              <a:rPr kumimoji="0" lang="uk-UA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між класами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High Cohesion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(високе зчеплення) – максимізація зв'язків усередині класів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- це, перш за все, лакмусовий папірець </a:t>
            </a:r>
            <a:r>
              <a:rPr kumimoji="0" lang="uk-UA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хорошого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дизайну.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Користь від тестів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Написати тест неможливо чи він виходить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великим та складним?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Це зазвичай говорить про проблеми в дизайні коду, що тестується.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 чим допомагають </a:t>
            </a:r>
            <a:r>
              <a:rPr kumimoji="0" lang="uk-UA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Модульність та дизайн системи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Специфікація системи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Супровід системи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Придивіться уважніше до коду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Клас бере на себе дуже багато відповідальност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ей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Методи класу мають багато побічних ефектів?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Методи класу залежать не лише від параметрів,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ще й від купи зовнішніх залежностей?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Клас взагалі залежить від дикої кількості інших класів?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У класі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безліч 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порожніх методів, які вам не потрібні, але їх вимагають інтерфейси, що реалізуються?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І ви не звернули увагу на всі ці проблеми під час про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є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ктування?</a:t>
            </a:r>
            <a:endParaRPr kumimoji="0" lang="en-US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ru-RU" dirty="0">
              <a:sym typeface="+mn-ea"/>
            </a:endParaRPr>
          </a:p>
        </p:txBody>
      </p:sp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6195" y="-99695"/>
            <a:ext cx="9258300" cy="71424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356100" y="2276475"/>
            <a:ext cx="488505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sz="4500" b="1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+mn-ea"/>
              </a:rPr>
              <a:t>ТАК (((((</a:t>
            </a:r>
            <a:endParaRPr lang="ru-RU" sz="4500" b="1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Ну тоді що ж,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Тестувати такий клас буде дуже складно.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Ось і зверніть увагу на всі ці проблеми заздалегідь, </a:t>
            </a:r>
            <a:r>
              <a:rPr kumimoji="0" lang="uk-UA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все одно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нікуди не подінетесь.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Лакмусовий папірець спрацював.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Що ж робити, щоб дизайн був хорошим та тестованим? Та все те ж: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дотримуватись принципів проектування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 coupling, high cohesion, SOLID.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Дотримання принципів SOLID вже зробить клас тестованим. Дизайн, що вийшов, буде досить слабозв'язковим, щоб його можна було покрити тестами.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Хороший дизайн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Якщо ваш дизайн покрити тестами не виходить, це поганий дизайн.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Хороший дизайн - це завжди тестований дизайн.</a:t>
            </a:r>
            <a:endParaRPr kumimoji="0" lang="en-US" altLang="en-US" sz="27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Однак зворотне неправильно: тестований дизайн - це ще не означає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хороший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дизайн.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 проектуванні ставте собі питання: </a:t>
            </a:r>
            <a:r>
              <a:rPr kumimoji="0" lang="uk-UA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«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Ок, це чудова ідея, але як я це тестуватиму?</a:t>
            </a:r>
            <a:r>
              <a:rPr kumimoji="0" lang="en-US" altLang="en-US" sz="27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»</a:t>
            </a:r>
            <a:endParaRPr kumimoji="0" lang="en-US" altLang="en-US" sz="27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Тести - краща документація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5095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Кент Бек казав, що кожен тест повинен розповідати історію про клас, що тестується.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- це, по суті, документація до коду.</a:t>
            </a:r>
            <a:endParaRPr kumimoji="0" lang="en-US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Для нас, програмістів, вони набагато кращі за звичайну документацію. Програмісти не люблять писати звичайну документацію, бо це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нудно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– це програмування, а це завжди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цікаво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Документація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застаріває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ести не старіють,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якщо стежити, щоб вони проходили.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описують код як приклади його використання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а це найкраща документація для програміста.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altLang="ru-RU" dirty="0">
                <a:sym typeface="+mn-ea"/>
              </a:rPr>
              <a:t>Специфікація до коду</a:t>
            </a:r>
            <a:endParaRPr lang="uk-UA" altLang="ru-RU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6850"/>
            <a:ext cx="7921625" cy="4416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uk-UA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По тестам о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дразу зрозуміло, як потрібно користуватися кодом, що тестується. Виходить, що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тести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описують </a:t>
            </a:r>
            <a:r>
              <a:rPr kumimoji="0" lang="en-US" altLang="en-US" sz="23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специфікацію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до нашого коду</a:t>
            </a: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Говорять, що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модульні тести фіксують API, </a:t>
            </a:r>
            <a:r>
              <a:rPr kumimoji="0" lang="uk-UA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який описує наші класи.</a:t>
            </a:r>
            <a:endParaRPr kumimoji="0" lang="en-US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3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Від поганих тестів більше шкоди, ніж користі. Якості тестів потрібно приділяти не менше уваги, ніж продакшн коду. Це означає, що тест повинен легко читатись і бути простим у супроводі. Ніхто не буде використовувати тести як специфікацію, якщо розібратися в них складніше, ніж у самому коді.</a:t>
            </a:r>
            <a:endParaRPr kumimoji="0" lang="en-US" altLang="en-US" sz="23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uk-UA" sz="4100" dirty="0"/>
              <a:t>Навіщо тестувати?</a:t>
            </a:r>
            <a:endParaRPr lang="uk-UA" sz="41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0220" y="1393190"/>
            <a:ext cx="8041005" cy="4578985"/>
          </a:xfrm>
        </p:spPr>
        <p:txBody>
          <a:bodyPr vert="horz" wrap="square" lIns="91440" tIns="45720" rIns="91440" bIns="45720" anchor="t" anchorCtr="0"/>
          <a:p>
            <a:pPr>
              <a:buFont typeface="Arial" panose="020B0604020202020204" pitchFamily="34" charset="0"/>
              <a:buChar char="•"/>
            </a:pPr>
            <a:r>
              <a:rPr lang="en-US" altLang="en-US" sz="1400" b="1" dirty="0"/>
              <a:t>Коректність рендерингу компонентів</a:t>
            </a:r>
            <a:r>
              <a:rPr lang="ru-RU" altLang="en-US" sz="1400" b="1" dirty="0"/>
              <a:t> </a:t>
            </a:r>
            <a:r>
              <a:rPr lang="ru-RU" altLang="en-US" sz="1400" dirty="0"/>
              <a:t>- т</a:t>
            </a:r>
            <a:r>
              <a:rPr lang="en-US" altLang="en-US" sz="1400" dirty="0"/>
              <a:t>естування React-програм включає перевірку коректного відображення компонентів в DOM. Наприклад, з використанням бібліотек, таких як React Testing Library, можна переконатися, що елементи рендер</a:t>
            </a:r>
            <a:r>
              <a:rPr lang="ru-RU" altLang="en-US" sz="1400" dirty="0"/>
              <a:t>ят</a:t>
            </a:r>
            <a:r>
              <a:rPr lang="en-US" altLang="en-US" sz="1400" dirty="0"/>
              <a:t>ься правильно залежно від стану або пропсів</a:t>
            </a:r>
            <a:endParaRPr lang="en-US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b="1" dirty="0"/>
              <a:t>Перевірка бізнес-логіки</a:t>
            </a:r>
            <a:r>
              <a:rPr lang="ru-RU" altLang="en-US" sz="1400" b="1" dirty="0"/>
              <a:t> </a:t>
            </a:r>
            <a:r>
              <a:rPr lang="ru-RU" altLang="en-US" sz="1400" dirty="0"/>
              <a:t>- </a:t>
            </a:r>
            <a:r>
              <a:rPr lang="en-US" altLang="en-US" sz="1400" dirty="0"/>
              <a:t>React-додатки часто містять складну клієнтську бізнес-логіку, пов'язану з керуванням станом (наприклад, через useState, useReducer або Redux). Тестування гарантує, що ця логіка працює коректно, наприклад, чи оновлюється стан </a:t>
            </a:r>
            <a:r>
              <a:rPr lang="ru-RU" altLang="en-US" sz="1400" dirty="0"/>
              <a:t>  </a:t>
            </a:r>
            <a:r>
              <a:rPr lang="en-US" altLang="en-US" sz="1400" dirty="0"/>
              <a:t>при взаємодії користувача з інтерфейсом</a:t>
            </a:r>
            <a:endParaRPr lang="en-US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b="1" dirty="0"/>
              <a:t>Запобігання регресії</a:t>
            </a:r>
            <a:r>
              <a:rPr lang="ru-RU" altLang="en-US" sz="1400" b="1" dirty="0"/>
              <a:t> </a:t>
            </a:r>
            <a:r>
              <a:rPr lang="ru-RU" altLang="en-US" sz="1400" dirty="0"/>
              <a:t>- а</a:t>
            </a:r>
            <a:r>
              <a:rPr lang="en-US" altLang="en-US" sz="1400" dirty="0"/>
              <a:t>втоматизовані тести (юніт-тести, інтеграційні тести, сн</a:t>
            </a:r>
            <a:r>
              <a:rPr lang="ru-RU" altLang="en-US" sz="1400" dirty="0"/>
              <a:t>е</a:t>
            </a:r>
            <a:r>
              <a:rPr lang="en-US" altLang="en-US" sz="1400" dirty="0"/>
              <a:t>пшот-тести) дозволяють переконатися, що нові зміни в коді не ламають існуючу функціональність, включаючи рендеринг компонентів та обробку подій</a:t>
            </a:r>
            <a:endParaRPr lang="en-US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b="1" dirty="0"/>
              <a:t>Оптимізація</a:t>
            </a:r>
            <a:r>
              <a:rPr lang="ru-RU" altLang="en-US" sz="1400" b="1" dirty="0"/>
              <a:t> </a:t>
            </a:r>
            <a:r>
              <a:rPr lang="ru-RU" altLang="en-US" sz="1400" dirty="0"/>
              <a:t>- т</a:t>
            </a:r>
            <a:r>
              <a:rPr lang="en-US" altLang="en-US" sz="1400" dirty="0"/>
              <a:t>естування допомагає виявити вузькі місця у продуктивності React-додатків, такі як надлишковий ререндеринг компонентів або неефективне використання хуків. Це дозволяє оптимізувати додаток для більш швидкого рендерингу та покращення користувальницького досвіду.</a:t>
            </a:r>
            <a:endParaRPr lang="en-US" alt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400" b="1" dirty="0"/>
              <a:t>Надійність</a:t>
            </a:r>
            <a:r>
              <a:rPr lang="ru-RU" altLang="en-US" sz="1400" dirty="0"/>
              <a:t> - д</a:t>
            </a:r>
            <a:r>
              <a:rPr lang="en-US" altLang="en-US" sz="1400" dirty="0"/>
              <a:t>обре протестована програма React стійка до помилок, пов'язаних </a:t>
            </a:r>
            <a:r>
              <a:rPr lang="ru-RU" altLang="en-US" sz="1400" dirty="0"/>
              <a:t>               </a:t>
            </a:r>
            <a:r>
              <a:rPr lang="en-US" altLang="en-US" sz="1400" dirty="0"/>
              <a:t>з некоректним рендерингом, неправильною обробкою подій або асинхронними запитами до API. Тестування взаємодій з API (наприклад, за допомогою Mock Service Worker) забезпечує стабільність роботи програми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>
                <a:sym typeface="+mn-ea"/>
              </a:rPr>
              <a:t>Навіщо тестувати?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React-додатків є критично важливою частиною розробки, </a:t>
            </a:r>
            <a:r>
              <a:rPr lang="ru-RU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що забезпечує якість, надійність та підтримуваність коду. І ось чому: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Забезпечення якості коду: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Тести допомагають виявляти помилки на ранніх стадіях розробки, запобігаючи їх появі у продакшені. Це знижує витрати на виправлення багів, тому що їхнє усунення на етапі розробки обходиться дешевше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Автоматизовані тести гарантують, що нові зміни не ламають існуючу функціональність (т.зв. регресійне тестування)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Спрощення рефакторингу: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Добре написані тести дозволяють впевнено змінювати код, знаючи,</a:t>
            </a:r>
            <a:r>
              <a:rPr lang="ru-RU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що тести перевірять коректність роботи програми після рефакторингу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Тести, які не залежать від внутрішньої реалізації (наприклад, </a:t>
            </a:r>
            <a:r>
              <a:rPr lang="ru-RU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у випадку React Testing Library), роблять рефакторинг менш болючим, тому що не вимагають переписування тестів при зміні структури компонентів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>
                <a:sym typeface="+mn-ea"/>
              </a:rPr>
              <a:t>Навіщо тестувати?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Поліпшення досвіду користувача: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з точки зору користувача (наприклад, перевірка взаємодії з UI) гарантує, що програма працює саме так, </a:t>
            </a:r>
            <a:r>
              <a:rPr lang="ru-RU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як очікують користувачі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Тести на доступність (accessibility) допомагають створювати додатки, які відповідають стандартам WAI-ARIA 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https://developer.mozilla.org/ru/docs/Web/Accessibility/ARIA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та зручні для всіх категорій користувачів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командної розробки: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Тести є документацією, яка описує, як повинен працювати код. Це особливо корисно для нових розробників, що вливаються </a:t>
            </a:r>
            <a:r>
              <a:rPr lang="ru-RU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 проект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Вони забезпечують узгодженість поведінки програми під час роботи кількох розробників над одним проектом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>
                <a:sym typeface="+mn-ea"/>
              </a:rPr>
              <a:t>Навіщо тестувати?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Прискорення розробки: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Використання підходу Test-Driven Development (TDD) дозволяє спочатку писати тести, а потім код, що допомагає чітко формулювати вимоги</a:t>
            </a:r>
            <a:r>
              <a:rPr lang="ru-RU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та уникати надмірної функціональності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Автоматизовані тести скорочують час, що витрачається на ручне тестування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Інтеграція з CI/CD:</a:t>
            </a: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https://dou.ua/forums/topic/47081/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Тести інтегруються у процеси безперервної інтеграції та доставки (CI/CD), автоматично перевіряючи код перед депло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м. Це знижує ймовірність помилок у продакшені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Підвищення впевненості у продукті: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Тести дають впевненість, що програма працює коректно в різних сценаріях, включаючи крайні випадки (edge ​​cases)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Це особливо важливо для додатків з високим навантаженням або критично важливих систем, де помилки можуть призвести до серйозних наслідків.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325" y="6395720"/>
            <a:ext cx="89560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https://teletype.in/@cursor.education/p3vQsTxs</a:t>
            </a:r>
            <a:r>
              <a:rPr lang="ru-RU" altLang="en-US" b="1">
                <a:solidFill>
                  <a:srgbClr val="0070C0"/>
                </a:solidFill>
              </a:rPr>
              <a:t> </a:t>
            </a:r>
            <a:r>
              <a:rPr lang="en-US" altLang="en-US" b="1">
                <a:solidFill>
                  <a:schemeClr val="tx1"/>
                </a:solidFill>
              </a:rPr>
              <a:t>edge cases</a:t>
            </a:r>
            <a:endParaRPr lang="en-US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Модульн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і тести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Існує кілька типів тестів, які використовуються для перевірки React-додатків. Кожен тип фокусується на певних аспектах програми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та виконує різні завдання.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Модульні тести (Unit Tests):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Перевіряють окремі компоненти чи функції в ізоляції. Наприклад, тестується логіка рендерингу компонента чи робота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утилітарної функції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Переконатися, що кожна частина коду працює коректно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сама по собі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Перевірка, що компонент &lt;Button /&gt; рендерується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з правильним текстом або функція sum(a, b) повертає правильну суму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Інструменти: Jest, Enzyme,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React Testing Library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​​Швидкі, легкі у написанні, допомагають виявляти помилки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у конкретних модулях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Не перевіряють взаємодію між компонентами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Інтеграційні тести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Інтеграційні тести (Integration Tests):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Перевіряють взаємодію кількох компонентів чи модулів. Наприклад, тестується, як компонент форми взаємодіє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 компонентом кнопки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: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Переконатися, що компоненти працюють разом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як очікується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Перевір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ка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, що форма надсилає дані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 натисканні на кнопку і оновлює стан програми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Інструменти: Jest, React Testing Library, Enzyme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​​Ближче до реальних сценаріїв використання, перевіряють сумісність компонентів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Більш складні в написанні і повільніше, ніж модульні тести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Скрізні тести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Наскрізні тести (End-to-End, E2E Tests):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Емулюють дії користувача в реальному середовищі браузера, перевіряючи весь стек програми від UI до бекенду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Гарантувати, що програма працює коректно в реальних сценаріях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Тестування процесу реєстрації користувача, включаючи введення даних, надсилання форми та перехід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на нову сторінку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Інструменти: Cypress, Playwright, Selenium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​​Максимально наближені до реального використання програми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Повільні, складні в налаштуванні та підтримці, вимагають реального середовища (браузера)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Снепшот тести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Тести миттєвих знімків (Snapshot Tests):</a:t>
            </a:r>
            <a:endParaRPr lang="en-US" altLang="en-US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Зберігають "знімок" розмітки компонента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та порівнюють його з новим рендером при наступних запусках тесту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Мета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Переконатися, що UI не змінився несподівано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Порівняння HTML-структури компонента &lt;UserList /&gt; зі збереженим знімком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Інструменти: Jest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​​Швидко виявляють зміни в UI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Можуть бути крихкими, вимагають поновлення при навмисних змінах UI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Тести доступності 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75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Тести доступності (Accessibility Tests):</a:t>
            </a:r>
            <a:endParaRPr lang="en-US" altLang="en-US" sz="22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Перевіряють, чи додаток відповідає стандартам доступності (наприклад, WAI-ARIA)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Мета: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Переконайтеся, що програма доступна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для користувачів з обмеженими можливостями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Перевір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ка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що всі елементи форми мають правильні атрибути aria-label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Інструменти: React Testing Library з @testing-library/jest-dom, axe-core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​​Покращують інклюзивність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додатків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Вимагають знання стандартів доступності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Тести продуктивності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Тести продуктивності (Performance Tests):</a:t>
            </a:r>
            <a:endParaRPr lang="en-US" altLang="en-US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Перевіряють, як додаток поводиться при високому навантаженні або в складних умовах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Мета: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Переконатися, що програма залишається чуйною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Перевірка часу рендерингу великого списку компонентів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Інструменти: React Profiler, Jest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​​Допомагають оптимізувати продуктивність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Складні у реалізації та вимагають спеціалізованих інструментів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Testing Library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React Testing Library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— легк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бібліотека для тестування React-компонентів, яка </a:t>
            </a: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акцентує увагу на тестуванні з точки зору користувача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. Вона заохочує написання тестів, які емулюють взаємодію користувача з програмою, мінімізуючи залежність від внутрішньої реалізації компонентів.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через взаємодію з реальним DOM з використанням запитів, таких як getByText, getByRole, findBy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як функціональні, так і класові компоненти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Інтегрується з раннером тестів Jest (або Vitest) та розширюється за допомогою </a:t>
            </a: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@testing-library/jest-dom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для додаткових перевірок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тестування доступності через інтеграцію з бібліотекою </a:t>
            </a: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axe-core </a:t>
            </a: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https://habr.com/ua/companies/plarium/articles/474580/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Надає утиліти, такі як waitFor, для роботи з асинхронним кодом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Заохочує найкращі практики, фокусуючись на поведінці, видим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ій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користувачеві, а не на внутрішньому стані чи методах компонента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im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565" y="8890"/>
            <a:ext cx="1488440" cy="14884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2705" y="6395720"/>
            <a:ext cx="90912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3" tooltip="" action="ppaction://hlinkfile"/>
              </a:rPr>
              <a:t>https://testing-library.com/docs/react-testing-library/intro/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19924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3700" dirty="0" err="1">
                <a:solidFill>
                  <a:srgbClr val="FFFFFF"/>
                </a:solidFill>
                <a:ea typeface="Microsoft YaHei" panose="020B0503020204020204" charset="-122"/>
              </a:rPr>
              <a:t>Тестування з точки зору користувача</a:t>
            </a:r>
            <a:endParaRPr lang="uk-UA" altLang="ru-RU" sz="37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з погляду користувача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перевіряє поведінка програми через взаємодію з DOM, імітуючи дії реального користувача (кліки, введення тексту). Воно фокусується на результаті рендерингу та користувальницькому досвіді, а не на внутрішній логіці.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Модульні тести навпаки перевіряють ізольовані частини коду (функції, хуки, класи) на коректність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їх роботи, часто ігноруючи UI. Таким чином, тестування з погляду користувача ближче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до реального використання, а модульні тести –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		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до перевірки внутрішньої реалізації.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За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вдання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Testing Library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RTL призначений для тестування UI-компонентів React з акцентом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на поведінку, а не на внутрішню реалізацію. Основні завдання: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рендерингу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Перевірка, чи компоненти коректно відображаються (наприклад, наявність тексту, кнопок)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взаємодії з користувачем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 подій (кліки, введення тексту, надсилання форм)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доступності (a11y)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 відповідності компонентів стандартам доступності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Тестування поведінки компонентів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Переконатись, що компонент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поводиться очікувано при зміні пропсів або стану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Інтеграційне тестування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 взаємодії кількох компонентів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RTL заохочує писати тести, які близькі до реального використання програми, уникаючи тестування внутрішньої структури (наприклад,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				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стану хуків).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Куд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 класти тести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450" y="53975"/>
            <a:ext cx="3364865" cy="67633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84200" y="1520825"/>
            <a:ext cx="4650105" cy="293878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uk-UA" sz="2400">
                <a:solidFill>
                  <a:schemeClr val="tx1"/>
                </a:solidFill>
              </a:rPr>
              <a:t>У </a:t>
            </a:r>
            <a:r>
              <a:rPr sz="2400">
                <a:solidFill>
                  <a:schemeClr val="tx1"/>
                </a:solidFill>
              </a:rPr>
              <a:t>React-проєктах із Vite часто розміщують тестові файли </a:t>
            </a:r>
            <a:r>
              <a:rPr lang="uk-UA" sz="2400">
                <a:solidFill>
                  <a:schemeClr val="tx1"/>
                </a:solidFill>
              </a:rPr>
              <a:t>      </a:t>
            </a:r>
            <a:r>
              <a:rPr sz="2400">
                <a:solidFill>
                  <a:schemeClr val="tx1"/>
                </a:solidFill>
              </a:rPr>
              <a:t>(з розширенням .test.jsx або .spec.jsx) поруч </a:t>
            </a:r>
            <a:r>
              <a:rPr lang="uk-UA" sz="2400">
                <a:solidFill>
                  <a:schemeClr val="tx1"/>
                </a:solidFill>
              </a:rPr>
              <a:t>                 </a:t>
            </a:r>
            <a:r>
              <a:rPr sz="2400">
                <a:solidFill>
                  <a:schemeClr val="tx1"/>
                </a:solidFill>
              </a:rPr>
              <a:t>із компонентами, яких вони стосуються. Це популярна практика, особливо для юніт-тестів і снапшот-тестів.</a:t>
            </a:r>
            <a:endParaRPr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19924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В яких додатках потрібні тести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37210" y="1430655"/>
            <a:ext cx="802259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E-commerce платформи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Тестування кошика, оформлення замовлення, фільтрів товарів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Соціальні мережі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 відображення постів, лайків, коментарів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Фінансові програми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Тестування транзакцій, форм введення даних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Системи керування задачами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(Todo, Trello): Перевірка додавання/видалення задач, фільтрації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Програми для аутентифікації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Тестування форм логіну, реєстрації, відновлення пароля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Освітні платформи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Тестування вікторин, прогрес навчання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Адмін-панелі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 CRUD-операцій, фільтрів, таблиць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Чати/месенджери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Тестування надсилання повідомлень,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сповіщень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Ігрові інтерфейси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Перевірка інтерактивних елементів, стану гри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одним словом, СКРІЗ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Ь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:)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Testing Library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Тести стійкі до рефакторингу, оскільки не залежать від внутрішньої структури компонентів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Інтуїтивно зрозумілий API, який відображає реальну взаємодію користувача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Активна спільнота, регулярні оновлення та чудова документація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Ідеально підходить для тестування доступності відповідно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 стандартів WAI-ARIA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Потребує часу для освоєння філософії тестування з погляду користувача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Менш підходить для тестування складної внутрішньої логіки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 порівнянні з Enzyme (хоч і прийшла йому на заміну):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4140" y="6395720"/>
            <a:ext cx="89427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https://testing-library.com/docs/react-testing-library/migrate-from-enzyme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Потрібен тест-раннер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React Testing Library надає утиліти для тестування React-компонентів (рендеринг, взаємодія з DOM, перевірка поведінки). Однак RTL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сама по собі не є інструментом </a:t>
            </a: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для запуску тестів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. Вона лише допомагає писати тести,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але для їх виконання потрібен тест-раннер — програма, яка: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Знаходить тестові файли (наприклад, *.test.jsx)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Виконує тести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Збирає результати (успіх/помилка)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Надає оточення для тестування (наприклад, jsdom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емуляції браузера)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Тому RTL завжди використовується разом із тест-раннером, таким як Jest,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Vitest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, Mocha або іншим.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тест-раннер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Тест-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р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нер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- це інструмент, який керує процесом виконання тестів. Він відповідає за: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Пошук тестів: Сканує проект, щоб знайти файли з тестами (наприклад, розширеннями .test.js або .spec.js)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Запуск тестів: Виконує код тестів у потрібному порядку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Оточення: Надає середовище виконання (наприклад, jsdom для емуляції браузера Node.js)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Т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вердження (assertions): Надає функції для перевірки результатів (наприклад, expect у Jest/Vitest)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Звіти: Виводить результати тестів (які пройшли,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а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які провалилися)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Моки: Дозволяє створювати заглушки для функцій, API тощо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457200" lvl="1" indent="4572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Jest та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Vitest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– це популярні тест-раннери для React.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92937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не можна без тест-раннера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RTL надає такі утиліти, як: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render 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—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для рендерингу компонентів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screen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— для пошуку елементів у DOM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fireEvent </a:t>
            </a:r>
            <a:r>
              <a:rPr lang="en-US" altLang="en-US" sz="1700" dirty="0" err="1">
                <a:solidFill>
                  <a:schemeClr val="tx1"/>
                </a:solidFill>
                <a:sym typeface="+mn-ea"/>
              </a:rPr>
              <a:t>—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для симуляції дій користувача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Але ці утиліти працюють у контексті, який має бути налаштований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тест-раннером: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RTL рендерит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ь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компоненти у віртуальний DOM, який емулює браузер.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Без тест-раннера (і jsdom) не буде середовища для рендерингу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RTL не надає функції для перевірки результатів (наприклад, expect(...).toBeInTheDocument()). Ці функції зазвичай йдуть із тест-раннера або бібліотеки на кшталт @testing-library/jest-dom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Без тест-раннера немає механізму для автоматичного виявлення </a:t>
            </a:r>
            <a:r>
              <a:rPr lang="uk-UA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та виконання тестів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Спроба запустити тест RTL без тест-раннера приведе до помилки, оскільки Node.js сам не знає, як виконувати тести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Jest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Jest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це потужний тестовий фреймворк, розроблений Facebook, який широко використовується для тестування JavaScript і React-додатків. Він часто застосовується у зв'язку з React Testing Library або Enzyme та є основою для багатьох тестових конфігурацій у React-проектах. Особливості: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модульні, інтеграційні тести та тести миттєвих знімків (snapshot testing)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Вбудована підтримка jsdom для емуляції браузерного середовища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Потужні інструменти для створення моків (mocking) та шпигунів (spies) 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https://testrigor.com/blog/mocks-spies-and-stubs/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Паралельне виконання тестів для підвищення швидкості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Вбудовані інструменти для аналізу покриття коду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Проста інтеграція з іншими бібліотеками тестування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280" y="0"/>
            <a:ext cx="1442720" cy="14827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9225" y="6400800"/>
            <a:ext cx="88665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3" tooltip="" action="ppaction://hlinkfile"/>
              </a:rPr>
              <a:t>https://jestjs.io/ </a:t>
            </a:r>
            <a:r>
              <a:rPr lang="en-US" altLang="en-US" b="1">
                <a:solidFill>
                  <a:srgbClr val="0070C0"/>
                </a:solidFill>
              </a:rPr>
              <a:t>                            </a:t>
            </a:r>
            <a:r>
              <a:rPr lang="en-US" altLang="en-US" b="1">
                <a:solidFill>
                  <a:srgbClr val="0070C0"/>
                </a:solidFill>
                <a:hlinkClick r:id="rId4" tooltip="" action="ppaction://hlinkfile"/>
              </a:rPr>
              <a:t>https://github.com/jsdom/jsdom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Jest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Легкість налаштування, особливо в проектах, створених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 допомогою Create React App, де Jest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вже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встановлений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Багатий API для написання тверджень та створення моків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Широка популярність та відмінна сумісність з іншими інструментами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Швидке виконання тестів завдяки паралелізації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Може бути надлишковим для невеликих проектів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Вимагає додаткового налаштування для складних асинхронних тестів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 надає спеціалізованих утиліт для тестування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React-компонентів без додаткових бібліотек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39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Прикладу на </a:t>
            </a:r>
            <a:r>
              <a:rPr lang="en-US" altLang="ru-RU" sz="3900" dirty="0" err="1">
                <a:solidFill>
                  <a:srgbClr val="FFFFFF"/>
                </a:solidFill>
                <a:ea typeface="Microsoft YaHei" panose="020B0503020204020204" charset="-122"/>
              </a:rPr>
              <a:t>RTL + Jest</a:t>
            </a:r>
            <a:r>
              <a:rPr lang="uk-UA" altLang="en-US" sz="3900" dirty="0" err="1">
                <a:solidFill>
                  <a:srgbClr val="FFFFFF"/>
                </a:solidFill>
                <a:ea typeface="Microsoft YaHei" panose="020B0503020204020204" charset="-122"/>
              </a:rPr>
              <a:t> не буде :)</a:t>
            </a:r>
            <a:r>
              <a:rPr lang="ru-RU" altLang="en-US" sz="39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endParaRPr lang="ru-RU" altLang="en-US" sz="39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як з'ясувалося, в новій версії Webstorm + Vite, необхідно встановити цілу хмару залежностей для зв'язки RTL і Jest npm install --save-dev jest@latest @testing-library/react@latest @testing-library/jest-dom@latest @testing-library/user-event @babel/preset-react@latest (</a:t>
            </a:r>
            <a:r>
              <a:rPr lang="en-US" altLang="en-US" sz="1700" b="1" dirty="0" err="1">
                <a:solidFill>
                  <a:srgbClr val="FF0000"/>
                </a:solidFill>
                <a:ea typeface="Microsoft YaHei" panose="020B0503020204020204" charset="-122"/>
                <a:sym typeface="+mn-ea"/>
              </a:rPr>
              <a:t>при використанні Vite, Jest вимагає ручного налаштування, </a:t>
            </a:r>
            <a:r>
              <a:rPr lang="uk-UA" altLang="en-US" sz="1700" b="1" dirty="0" err="1">
                <a:solidFill>
                  <a:srgbClr val="FF0000"/>
                </a:solidFill>
                <a:ea typeface="Microsoft YaHei" panose="020B0503020204020204" charset="-122"/>
                <a:sym typeface="+mn-ea"/>
              </a:rPr>
              <a:t>а</a:t>
            </a:r>
            <a:r>
              <a:rPr lang="en-US" altLang="en-US" sz="1700" b="1" dirty="0" err="1">
                <a:solidFill>
                  <a:srgbClr val="FF0000"/>
                </a:solidFill>
                <a:ea typeface="Microsoft YaHei" panose="020B0503020204020204" charset="-122"/>
                <a:sym typeface="+mn-ea"/>
              </a:rPr>
              <a:t> Babel потрібен для трансформації JSX/TS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), npm install --save-dev babel-jest, npm install --save-dev jest-environment-jsdom, npm install --yve- --save-dev whatwg-fetch, npm install --save-dev fake-indexeddb,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вся ця радість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почал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а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 конфліктувати між собою, щось застаріло і ніхто не збирається їх дописувати, а крім цього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потрібно створити близько 5 конфігураційних файлів, наприклад jest.config.mjs в корені проекту, babel.config.js, src/setupTests.js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      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для інтеграції @testing-library/jest-dom, в package.json потрібно додати команду для запуску тестів, а також внести редагування в eslint.config.js,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 налаштувати мокери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css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, </a:t>
            </a:r>
            <a:r>
              <a:rPr lang="ru-RU" altLang="uk-UA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БД </a:t>
            </a:r>
            <a:r>
              <a:rPr lang="en-US" altLang="uk-UA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dexie/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tanstack... навіть якби я створив ідеальну покрокову інструкцію, ми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б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її відтворювали б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дві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 пар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 :)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sym typeface="+mn-ea"/>
              </a:rPr>
              <a:t>ну і самі творці жесті скаржаться, що під Vite у них все криво: &gt;&gt;&gt;&gt;&gt;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Vite + Jest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“</a:t>
            </a: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Jest, звичайно, можна використовувати в проектах, які використовують vite для обслуговування вихідного коду, щоб надати деякі інструменти для фронтенду. Але Vite – це інструмент із чіткою позицією, який пропонує кілька готових робочих процесів. </a:t>
            </a:r>
            <a:r>
              <a:rPr lang="en-US" altLang="en-US" sz="1400" b="1" dirty="0" err="1">
                <a:solidFill>
                  <a:srgbClr val="FF0000"/>
                </a:solidFill>
                <a:ea typeface="Microsoft YaHei" panose="020B0503020204020204" charset="-122"/>
              </a:rPr>
              <a:t>Jest не повністю підтримується vite через те, як працює система vite плагінів</a:t>
            </a: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, але є кілька робочих прикладів першокласної інтеграції jest з використанням vite-jest. Оскільки наша </a:t>
            </a:r>
            <a:r>
              <a:rPr lang="uk-UA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жесть </a:t>
            </a: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не повністю підтримується вітом, вам слід ознайомитися </a:t>
            </a:r>
            <a:r>
              <a:rPr lang="uk-UA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з обмеженнями vite-jest. Для початку зверніться до керівництва vite, а ми вмиваємо руки, </a:t>
            </a:r>
            <a:r>
              <a:rPr lang="uk-UA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ні обіцянок ні пробачень</a:t>
            </a:r>
            <a:r>
              <a:rPr lang="uk-UA" altLang="ru-RU" sz="1400" b="1" dirty="0" err="1">
                <a:solidFill>
                  <a:schemeClr val="tx1"/>
                </a:solidFill>
                <a:ea typeface="Microsoft YaHei" panose="020B0503020204020204" charset="-122"/>
              </a:rPr>
              <a:t>”</a:t>
            </a:r>
            <a:r>
              <a:rPr lang="ru-RU" altLang="en-US" sz="1400" b="1" dirty="0" err="1">
                <a:solidFill>
                  <a:schemeClr val="tx1"/>
                </a:solidFill>
                <a:ea typeface="Microsoft YaHei" panose="020B0503020204020204" charset="-122"/>
              </a:rPr>
              <a:t> :)</a:t>
            </a:r>
            <a:endParaRPr lang="ru-RU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https://github.com/haoqunjiang/vite-jest/tree/main/packages/vite-jest#vite-jest</a:t>
            </a:r>
            <a:endParaRPr lang="en-US" altLang="en-US" sz="1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0655"/>
            <a:ext cx="9097010" cy="228028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312160" y="153860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0070C0"/>
                </a:solidFill>
                <a:hlinkClick r:id="rId3" tooltip="" action="ppaction://hlinkfile"/>
              </a:rPr>
              <a:t>https://jestjs.io/ru/docs/getting-started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65" y="5761355"/>
            <a:ext cx="7051675" cy="10109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235" y="5394325"/>
            <a:ext cx="689610" cy="6661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sym typeface="+mn-ea"/>
              </a:rPr>
              <a:t>Жесть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:)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Ну, власне, як корабель назвеш, так в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ін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попливе:))) Особисто мені навіть їхній логотип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ніколи      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не подоба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в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ся: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8130" y="2241550"/>
            <a:ext cx="3937635" cy="46081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Vitest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Vitest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- це сучасний, високопродуктивний тестовий фреймворк, розроблений командою Vite, призначений для тестування JavaScript, TypeScript та фронтенд-додатків (включаючи React) в екосистемі Vite. </a:t>
            </a: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Він забезпечує швидку і нативну інтеграцію з Vite, що робить його ідеальним вибором для сучасних проектів, які використовують Vite як збирач.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Швидка і нативна інтеграція з Vite — використовує його конфігурацію, включаючи аліаси, плагіни та ESM-модулі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модульних, інтеграційних та юніт-тестів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Вбудована підтримка jsdom та TypeScript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моків, шпигунів та таймерів, аналогічна Jest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Миттєве оновлення та запуск тестів у watch-режимі – дуже висока продуктивність завдяки esbuild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TypeScript без додаткових плагінів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Інтеграція з React Testing Library та іншими засобами тестування компонентів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020" y="-10795"/>
            <a:ext cx="1513840" cy="14808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Vitest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краще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Vitest розроблений творцями Vite, і він використовує той самий механізм збирання. Це означає: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Швидка ініціалізація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Миттєве оновлення при зміні файлів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Загальна конфігурація з Vite (наприклад, аліаси, плагіни)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Jest, навпаки, не використовує Vite і вимагає супер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складного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налаштування для сумісності з сучасними фічами.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Vitest працює в рази швидше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 Vite+esbuild, що дає феноменальну продуктивність у порівнянні з повільним Babel-процесингом у Jest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Відмінні повідомлення про помилки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WebStorm вже підтримує Vitest для запуску та налагодження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0170" y="6395720"/>
            <a:ext cx="8954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https://youtu.be/7f-71kYhK00?feature=shared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Чому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Vitest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краще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751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Менше залежностей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vitest і jsdom -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все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У Jest: jest, babel-jest, @testing-library, jest-environment-jsdom, ts-jest, identity-obj-proxy і ще тонна плагінів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Коли все ж таки Jest?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Проект старий і вже на Jest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Потрібно багато плагінів Jest (наприклад, нестандартні snapshot-тести)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Ти не використовуєш Vite :))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" y="4105275"/>
            <a:ext cx="8205470" cy="26631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При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клад</a:t>
            </a: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 на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RTL + Vitest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1900" dirty="0" err="1">
                <a:solidFill>
                  <a:schemeClr val="tx1"/>
                </a:solidFill>
                <a:ea typeface="Microsoft YaHei" panose="020B0503020204020204" charset="-122"/>
              </a:rPr>
              <a:t>1) </a:t>
            </a:r>
            <a:r>
              <a:rPr lang="uk-UA" altLang="uk-UA" sz="1900" dirty="0" err="1">
                <a:solidFill>
                  <a:schemeClr val="tx1"/>
                </a:solidFill>
                <a:ea typeface="Microsoft YaHei" panose="020B0503020204020204" charset="-122"/>
              </a:rPr>
              <a:t>робимо нов</a:t>
            </a:r>
            <a:r>
              <a:rPr lang="uk-UA" alt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ru-RU" altLang="uk-UA" sz="1900" dirty="0" err="1">
                <a:solidFill>
                  <a:schemeClr val="tx1"/>
                </a:solidFill>
                <a:ea typeface="Microsoft YaHei" panose="020B0503020204020204" charset="-122"/>
              </a:rPr>
              <a:t>й про</a:t>
            </a:r>
            <a:r>
              <a:rPr lang="uk-UA" altLang="ru-RU" sz="19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ru-RU" altLang="uk-UA" sz="1900" dirty="0" err="1">
                <a:solidFill>
                  <a:schemeClr val="tx1"/>
                </a:solidFill>
                <a:ea typeface="Microsoft YaHei" panose="020B0503020204020204" charset="-122"/>
              </a:rPr>
              <a:t>кт:</a:t>
            </a:r>
            <a:endParaRPr lang="ru-RU" altLang="uk-UA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868805"/>
            <a:ext cx="5210175" cy="3981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430" y="4328795"/>
            <a:ext cx="3533775" cy="24288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При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клад</a:t>
            </a: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 на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RTL + Vitest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9942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2</a:t>
            </a:r>
            <a:r>
              <a:rPr lang="en-US" altLang="uk-UA" sz="1500" dirty="0" err="1">
                <a:solidFill>
                  <a:schemeClr val="tx1"/>
                </a:solidFill>
                <a:ea typeface="Microsoft YaHei" panose="020B0503020204020204" charset="-122"/>
              </a:rPr>
              <a:t>)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встановлюємо залежності</a:t>
            </a:r>
            <a:r>
              <a:rPr lang="ru-RU" sz="1500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endParaRPr lang="ru-RU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npm install -D vitest jsdom @testing-library/react @testing-library/jest-dom @testing-library/user-event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npm install -D eslint-plugin-vitest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3) vite.config.js</a:t>
            </a:r>
            <a:r>
              <a:rPr lang="ru-RU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(</a:t>
            </a:r>
            <a:r>
              <a:rPr lang="uk-UA" altLang="ru-RU" sz="1500" dirty="0" err="1">
                <a:solidFill>
                  <a:schemeClr val="tx1"/>
                </a:solidFill>
                <a:ea typeface="Microsoft YaHei" panose="020B0503020204020204" charset="-122"/>
              </a:rPr>
              <a:t>додаємо </a:t>
            </a:r>
            <a:r>
              <a:rPr lang="ru-RU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секц</a:t>
            </a:r>
            <a:r>
              <a:rPr lang="uk-UA" altLang="ru-RU" sz="15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ru-RU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ю </a:t>
            </a:r>
            <a:r>
              <a:rPr lang="en-US" altLang="ru-RU" sz="1500" dirty="0" err="1">
                <a:solidFill>
                  <a:schemeClr val="tx1"/>
                </a:solidFill>
                <a:ea typeface="Microsoft YaHei" panose="020B0503020204020204" charset="-122"/>
              </a:rPr>
              <a:t>test)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: </a:t>
            </a:r>
            <a:r>
              <a:rPr lang="en-US" altLang="en-US" sz="1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https://gist.github.com/sunmeat/302f6d8f2f8bf28ff30c1130776e123a</a:t>
            </a:r>
            <a:endParaRPr lang="en-US" altLang="en-US" sz="1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4)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створюємо файл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src/setupTests.ts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з кодом:</a:t>
            </a:r>
            <a:endParaRPr lang="uk-UA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import '@testing-library/jest-dom'</a:t>
            </a:r>
            <a:r>
              <a:rPr lang="ru-RU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// кастомн</a:t>
            </a:r>
            <a:r>
              <a:rPr lang="uk-UA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і</a:t>
            </a:r>
            <a:r>
              <a:rPr lang="en-US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 м</a:t>
            </a:r>
            <a:r>
              <a:rPr lang="uk-UA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е</a:t>
            </a:r>
            <a:r>
              <a:rPr lang="en-US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тчер</a:t>
            </a:r>
            <a:r>
              <a:rPr lang="uk-UA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и</a:t>
            </a:r>
            <a:r>
              <a:rPr lang="ru-RU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 </a:t>
            </a:r>
            <a:r>
              <a:rPr lang="uk-UA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як-от </a:t>
            </a:r>
            <a:r>
              <a:rPr lang="en-US" altLang="en-US" sz="1500" b="1" dirty="0" err="1">
                <a:solidFill>
                  <a:srgbClr val="00B050"/>
                </a:solidFill>
                <a:ea typeface="Microsoft YaHei" panose="020B0503020204020204" charset="-122"/>
              </a:rPr>
              <a:t>.toBeInTheDocument()</a:t>
            </a:r>
            <a:endParaRPr lang="en-US" altLang="en-US" sz="15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5) eslint.config.js (</a:t>
            </a:r>
            <a:r>
              <a:rPr lang="uk-UA" sz="1500" dirty="0" err="1">
                <a:solidFill>
                  <a:schemeClr val="tx1"/>
                </a:solidFill>
                <a:ea typeface="Microsoft YaHei" panose="020B0503020204020204" charset="-122"/>
              </a:rPr>
              <a:t>прибираємо підкреслювання</a:t>
            </a:r>
            <a:r>
              <a:rPr lang="en-US" altLang="ru-RU" sz="1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ru-RU" sz="1500" dirty="0" err="1">
                <a:solidFill>
                  <a:schemeClr val="tx1"/>
                </a:solidFill>
                <a:ea typeface="Microsoft YaHei" panose="020B0503020204020204" charset="-122"/>
              </a:rPr>
              <a:t>в </a:t>
            </a:r>
            <a:r>
              <a:rPr lang="en-US" altLang="ru-RU" sz="1500" dirty="0" err="1">
                <a:solidFill>
                  <a:schemeClr val="tx1"/>
                </a:solidFill>
                <a:ea typeface="Microsoft YaHei" panose="020B0503020204020204" charset="-122"/>
              </a:rPr>
              <a:t>Webstorm</a:t>
            </a:r>
            <a:r>
              <a:rPr lang="ru-RU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: </a:t>
            </a:r>
            <a:r>
              <a:rPr lang="en-US" altLang="en-US" sz="15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https://gist.github.com/sunmeat/dbba4bcec6387d3e3404037dd24e66d0</a:t>
            </a:r>
            <a:endParaRPr lang="en-US" altLang="en-US" sz="1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6) src/App.test.jsx (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власне, тести</a:t>
            </a:r>
            <a:r>
              <a:rPr lang="ru-RU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: </a:t>
            </a:r>
            <a:r>
              <a:rPr lang="en-US" altLang="en-US" sz="1500" b="1" dirty="0" err="1">
                <a:solidFill>
                  <a:srgbClr val="0070C0"/>
                </a:solidFill>
                <a:ea typeface="Microsoft YaHei" panose="020B0503020204020204" charset="-122"/>
                <a:hlinkClick r:id="rId3" tooltip="" action="ppaction://hlinkfile"/>
              </a:rPr>
              <a:t>https://gist.github.com/sunmeat/849524a47aff7d2b1b2aa7d55d4349b4</a:t>
            </a:r>
            <a:endParaRPr lang="en-US" altLang="en-US" sz="1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7) src/App.jsx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на всякий випадок:</a:t>
            </a:r>
            <a:r>
              <a:rPr lang="en-US" altLang="uk-UA" sz="1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b="1" dirty="0" err="1">
                <a:solidFill>
                  <a:srgbClr val="0070C0"/>
                </a:solidFill>
                <a:ea typeface="Microsoft YaHei" panose="020B0503020204020204" charset="-122"/>
                <a:hlinkClick r:id="rId4" tooltip="" action="ppaction://hlinkfile"/>
              </a:rPr>
              <a:t>https://gist.github.com/sunmeat/660c7dc33e6bdcf3e9e07750e92252a7</a:t>
            </a:r>
            <a:endParaRPr lang="en-US" altLang="en-US" sz="1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8)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запуск тестів: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npx vitest run   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sym typeface="+mn-ea"/>
              </a:rPr>
              <a:t>Результат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uk-UA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145" y="1583690"/>
            <a:ext cx="10253980" cy="29832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15" y="4509135"/>
            <a:ext cx="6181725" cy="35909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932045" y="1808480"/>
            <a:ext cx="4572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1900" dirty="0" err="1">
                <a:solidFill>
                  <a:schemeClr val="bg1"/>
                </a:solidFill>
                <a:sym typeface="+mn-ea"/>
              </a:rPr>
              <a:t>ПКМ по файлу:</a:t>
            </a:r>
            <a:endParaRPr lang="ru-RU" altLang="en-US" sz="1900" dirty="0" err="1">
              <a:solidFill>
                <a:schemeClr val="bg1"/>
              </a:solidFill>
              <a:sym typeface="+mn-ea"/>
            </a:endParaRPr>
          </a:p>
        </p:txBody>
      </p:sp>
      <p:pic>
        <p:nvPicPr>
          <p:cNvPr id="7" name="Picture 6" descr="Снимок экрана 2025-06-04 1422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770" y="2392045"/>
            <a:ext cx="5088890" cy="23082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Якщо будуть помилки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uk-UA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932045" y="1808480"/>
            <a:ext cx="4572000" cy="383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altLang="en-US" sz="1900" dirty="0" err="1">
                <a:solidFill>
                  <a:schemeClr val="bg1"/>
                </a:solidFill>
                <a:sym typeface="+mn-ea"/>
              </a:rPr>
              <a:t>ПКМ по файлу:</a:t>
            </a:r>
            <a:endParaRPr lang="ru-RU" altLang="en-US" sz="1900" dirty="0" err="1">
              <a:solidFill>
                <a:schemeClr val="bg1"/>
              </a:solidFill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043940"/>
            <a:ext cx="6810375" cy="38385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25" y="4239260"/>
            <a:ext cx="7162800" cy="2743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npx vitest --watch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Vitest включається до інтерактивного режиму та: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стежить за всіма файлами проекту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автоматично перезапускає тести, якщо змінити .test.jsx файл або змінити компонент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(наприклад, App.jsx), як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бере участь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у тестах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Як перевірити: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відкрити App.jsx, наприклад, змінити текст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 &lt;h1&gt;Vite+React&lt;/h1&gt; на Vite+React App — і Vitest миттєво перезапустить відповідний тест (після Ctrl+S, іноді і сам :))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або змінити сам тест у App.test.jsx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Це дає моментальний зворотний зв'язок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ідеально для розробки.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Функц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ії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файл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тест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import {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render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screen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fireEvent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} ...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render </a:t>
            </a:r>
            <a:r>
              <a:rPr lang="en-US" altLang="en-US" sz="1900" dirty="0" err="1">
                <a:solidFill>
                  <a:schemeClr val="tx1"/>
                </a:solidFill>
                <a:sym typeface="+mn-ea"/>
              </a:rPr>
              <a:t>—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рендерит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ь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віртуальний DOM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screen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— API для пошуку елементів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fireEvent </a:t>
            </a:r>
            <a:r>
              <a:rPr lang="en-US" altLang="en-US" sz="1900" dirty="0" err="1">
                <a:solidFill>
                  <a:schemeClr val="tx1"/>
                </a:solidFill>
                <a:sym typeface="+mn-ea"/>
              </a:rPr>
              <a:t>—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симулює події (кліки та інше)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7030A0"/>
                </a:solidFill>
                <a:ea typeface="Microsoft YaHei" panose="020B0503020204020204" charset="-122"/>
              </a:rPr>
              <a:t>describe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('App component', () =&gt; {</a:t>
            </a:r>
            <a:r>
              <a:rPr lang="en-US" altLang="en-US" sz="1900" b="1" dirty="0" err="1">
                <a:solidFill>
                  <a:srgbClr val="00B050"/>
                </a:solidFill>
                <a:ea typeface="Microsoft YaHei" panose="020B0503020204020204" charset="-122"/>
              </a:rPr>
              <a:t> // describe — групує тести, покращує чита</a:t>
            </a:r>
            <a:r>
              <a:rPr lang="uk-UA" altLang="en-US" sz="1900" b="1" dirty="0" err="1">
                <a:solidFill>
                  <a:srgbClr val="00B050"/>
                </a:solidFill>
                <a:ea typeface="Microsoft YaHei" panose="020B0503020204020204" charset="-122"/>
              </a:rPr>
              <a:t>бельність</a:t>
            </a:r>
            <a:r>
              <a:rPr lang="en-US" altLang="en-US" sz="1900" b="1" dirty="0" err="1">
                <a:solidFill>
                  <a:srgbClr val="00B050"/>
                </a:solidFill>
                <a:ea typeface="Microsoft YaHei" panose="020B0503020204020204" charset="-122"/>
              </a:rPr>
              <a:t> та структуру звіту</a:t>
            </a:r>
            <a:endParaRPr lang="en-US" altLang="en-US" sz="19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b="1" dirty="0" err="1">
                <a:solidFill>
                  <a:srgbClr val="7030A0"/>
                </a:solidFill>
                <a:ea typeface="Microsoft YaHei" panose="020B0503020204020204" charset="-122"/>
              </a:rPr>
              <a:t>it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('...', () =&gt; { ... }) </a:t>
            </a:r>
            <a:r>
              <a:rPr lang="en-US" altLang="en-US" sz="1900" b="1" dirty="0" err="1">
                <a:solidFill>
                  <a:srgbClr val="00B050"/>
                </a:solidFill>
                <a:ea typeface="Microsoft YaHei" panose="020B0503020204020204" charset="-122"/>
              </a:rPr>
              <a:t>// it (або test) - визначає окремий тест, </a:t>
            </a:r>
            <a:r>
              <a:rPr lang="uk-UA" altLang="en-US" sz="1900" b="1" dirty="0" err="1">
                <a:solidFill>
                  <a:srgbClr val="00B05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900" b="1" dirty="0" err="1">
                <a:solidFill>
                  <a:srgbClr val="00B050"/>
                </a:solidFill>
                <a:ea typeface="Microsoft YaHei" panose="020B0503020204020204" charset="-122"/>
              </a:rPr>
              <a:t>з описом поведінки, що перевіряється</a:t>
            </a:r>
            <a:endParaRPr lang="en-US" altLang="en-US" sz="19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b="1" dirty="0" err="1">
                <a:solidFill>
                  <a:srgbClr val="7030A0"/>
                </a:solidFill>
                <a:ea typeface="Microsoft YaHei" panose="020B0503020204020204" charset="-122"/>
              </a:rPr>
              <a:t>expect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(...).toBeInTheDocument() </a:t>
            </a:r>
            <a:r>
              <a:rPr lang="en-US" altLang="en-US" sz="1900" b="1" dirty="0" err="1">
                <a:solidFill>
                  <a:srgbClr val="00B050"/>
                </a:solidFill>
                <a:ea typeface="Microsoft YaHei" panose="020B0503020204020204" charset="-122"/>
              </a:rPr>
              <a:t>// expect - функція-затвердження: перевіряє, чи відповідає результат очікуванням</a:t>
            </a:r>
            <a:endParaRPr lang="en-US" altLang="en-US" sz="19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})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Інші функції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3240" y="1430655"/>
            <a:ext cx="803656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render()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- рендерит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ь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React-компонент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в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тестовому середовищі (jsdom)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screen.getByText()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- шукає елемент за текстовим вмістом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screen.getByRole()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- шукає елемент за роллю (наприклад, "button", "textbox")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screen.getByAltText()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- шукає зображення за атрибутом alt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fireEvent.click()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- симулює клік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по елементу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expect(...).toBeInTheDocument()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- перевіряє, що елемент існує в DOM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expect(...).toHaveTextContent()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- перевіряє, чи містить елемент текст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expect(...).toBeDisabled()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- перевіряє, чи вимкнено елемент (наприклад, кнопка)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userEvent.type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(input, 'text') (альтернатива fireEvent) - симулює введення тексту у поле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waitFor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(() =&gt; ...) - чекає виконання асинхронної умови (корисно для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async UI)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https://vitest.dev/api/expect.html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Тестуємо магазин </a:t>
            </a:r>
            <a:r>
              <a:rPr lang="en-US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ReactExpress</a:t>
            </a:r>
            <a:endParaRPr lang="en-US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67690" y="1430655"/>
            <a:ext cx="7992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https://gist.github.com/sunmeat/e3d0166a510d61606617a6df72a29f99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npx vitest run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2213610"/>
            <a:ext cx="8589645" cy="46507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Моки 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та</a:t>
            </a: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 стаб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67690" y="1430655"/>
            <a:ext cx="7992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Моки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(mocks) та </a:t>
            </a: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стаби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(stubs) – це інструменти,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що використовуються у тестуванні програмного забезпечення для імітації поведінки залежностей. Вони допомагають ізолювати код, що тестується, замінюючи реальні компоненти (наприклад, бази даних, API, сервіси) на їх "підроблені" версії.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https://habr.com/ru/articles/577424/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https://habr.com/ru/articles/899788/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3" tooltip="" action="ppaction://hlinkfile"/>
              </a:rPr>
              <a:t>https://habr.com/ru/articles/134836/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4" tooltip="" action="ppaction://hlinkfile"/>
              </a:rPr>
              <a:t>https://doka.guide/tools/testing-and-fake-objects/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5" tooltip="" action="ppaction://hlinkfile"/>
              </a:rPr>
              <a:t>https://testengineer.ru/mocks-and-stubs/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Моки 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та</a:t>
            </a: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 стаб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: в </a:t>
            </a: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чому різниця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67690" y="1430655"/>
            <a:ext cx="7992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Моки (Mocks)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–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перевіряють поведінку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(behavior verification). Моки не тільки імітують відповіді, а й перевіряють, як тестований код взаємодіє із залежністю (наприклад, які методи викликаються, з якими параметрами та в якому порядку)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Очікують певні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виклики та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можуть "впасти", якщо очікування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не виконуються (наприклад, метод викликаний не так, як очікувалося)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Підходять для тестів, де важливо перевірити коректність взаємодії між компонентами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Стаби (Stubs)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–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надають заздалегідь задані дані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(state verification). Стаби повертають фіксовані відповіді на запити, але не перевіряють, як саме викликаються методи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Не дбають про порядок або кількість викликів, їх завдання — просто повернути дані для коду, що тестується.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Підходять для тестів, де важливо перевірити стан системи після виконання, а чи не процес взаємодії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Dummy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83565" y="138620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 літературі та практиці (наприклад, за книгою Мартіна Фаулера) виділяють п'ять основних типів тестових двійників (test doubles), які включають моки, стаби та інші підвиди.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Ось вони: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Dummy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– це найпростіший тип двійника. Це об'єкт,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який передається в код, що тестується, але фактично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використовується. Він потрібний лише для заповнення параметрів методу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Передача null-об'єкта або порожнього об'єкта метод, який вимагає аргумент, але не використовує його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в тесті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 Не має підвидів, оскільки це найпростіший тип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Stub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Stub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повертає заздалегідь задані дані для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викликів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. Використовується для емуляції відповідей зовнішніх залежностей, щоб код, що тестується, міг продовжити роботу.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Hard-coded stub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повертає фіксований результат (наприклад, завжди повертає true або 42)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Configurable stub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дозволяє задавати різні відповіді залежно від вхідних даних (наприклад, "поверни true, якщо вхід = 1, інакше false")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Стаб API, який завжди повертає { "status": "success" }.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Mock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Mock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перевіряє, як тестований код взаємодіє із залежністю.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Очікує певні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виклики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методів із конкретними параметрами.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Strict mock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– вимагає точної відповідності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викликів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(порядок, кількість, параметри). Якщо очікування порушено, тест падає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Lenient mock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– менш суворий, ігнорує неочікувані виклики,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якщо вони не критичні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Partial mock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- замінює лише частину методів об'єкта, залишаючи решту реальних (часто використовується для тестування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legacy-коду)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Мок для сервісу надсилання повідомлень, який перевіряє, що метод sendMessage("Hello") був викликаний один раз.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Spy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Spy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це гібрид мока та стаба. Спай записує інформацію про виклики (наприклад, які методи викликалися і з якими аргументами), але може повертати заздалегідь задані дані, як стаб. Основна відмінність від мок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ів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- спай не ставить очікувань заздалегідь, а аналізує виклики після виконання.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Recording spy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тільки записує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виклики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не повертає дані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Stubbed spy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- записує виклики та повертає задані дані, як стаб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Спай для логера, який записує, які повідомлення було залоговано, і дозволяє перевірити їх після тесту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 err="1">
                <a:solidFill>
                  <a:schemeClr val="bg1"/>
                </a:solidFill>
                <a:sym typeface="+mn-ea"/>
              </a:rPr>
              <a:t>Fake</a:t>
            </a:r>
            <a:endParaRPr lang="en-US" altLang="en-US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94665" y="1430655"/>
            <a:ext cx="806513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Fake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це спрощена реалізація залежності, яка працює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як справжня, але зі спрощеною логікою. Використовується, коли потрібно емулювати складн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поведінк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але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без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реальних ресурсів (наприклад, бази даних).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Підвиди: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In-memory fake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- імітує поведінку в пам'яті (наприклад, in-memory база даних)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Simplified fake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– спрощена версія сервісу з мінімальною логікою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Приклад: Fake-репозиторій, який зберігає дані у списку замість реальної бази даних.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chemeClr val="bg1"/>
                </a:solidFill>
                <a:sym typeface="+mn-ea"/>
              </a:rPr>
              <a:t>Порівняльна таблиця</a:t>
            </a:r>
            <a:endParaRPr lang="uk-UA" altLang="ru-RU" sz="40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78990"/>
            <a:ext cx="9290685" cy="29806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20" y="2259330"/>
            <a:ext cx="866775" cy="3333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08621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Що коли використовувати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67690" y="1430655"/>
            <a:ext cx="79921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Dummy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метод вимагає об'єкт, але він не впливає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на логіку (наприклад, заглушка для аргументу,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що не використовується)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Stub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потрібно протестувати реакцію коду на різні вхідні дані (наприклад, тестування обробки відповіді API)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Mock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важливо перевірити, що код, що тестується, правильно викликає залежності (наприклад, відправлення повідомлення в потрібний момент)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Spy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потрібно зібрати інформацію про виклики, але не задавати строгих очікувань заздалегідь (наприклад, логування)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Fake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Коли потрібна повноцінна імітація складної залежності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зі спрощеною логікою (наприклад, тестування взаємодії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 базою даних)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Enzyme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Enzyme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– це бібліотека від Airbnb для тестування React-компонентів, яка надає потужні інструменти для маніпуляції та перевірки компонентів. Вона дозволяє тестувати як внутрішню реалізацію,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так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і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зовнішн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ю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поведінк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компонентів.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три типи рендерингу: поверхневий (shallow),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повний (mount) та статичний (render)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Дозволяє тестувати внутрішній стан, методи та властивості компонентів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 jQuery-подібний синтаксис для пошуку елементів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 DOM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Добре інтегрується з Jest та іншими тестовими фреймворками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Підходить для тестування складних компонентів із великою кількістю логіки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4300" y="-36195"/>
            <a:ext cx="1426210" cy="15271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https://enzymejs.github.io/enzyme/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Enzyme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Гнучкість завдяки підтримці поверхневого рендерингу,      що зручно для модульних тестів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Підходить для тестування внутрішньої логіки компонентів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Добре документована, хоча активність спільноти знижується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Тести часто залежать від внутрішньої реалізації,               що ускладнює рефакторинг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енша підтримка спільноти порівняно з RTL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рекомендується для нових проектів, оскільки React Testing Library вважається більш сучасною альтернативою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49376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Enzyme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застаріла...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Enzyme - це звичайно все ще популярна бібліотека для тестування React-компонентів, але </a:t>
            </a: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її офіційна підтримка припинилася на React 17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, і для нових версій React, включ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но з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19.1.1</a:t>
            </a:r>
            <a:r>
              <a:rPr lang="ru-RU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+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, немає офіційного адаптера :(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Спільнота ентузіастів надає неофіційні адаптери,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такі як @wojtekadam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, але вони не повністю зумісні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з React 19.1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+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(перевірено:))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Cypress 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Cypress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це фреймворк для наскрізного (E2E) тестування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веб-додатків. Хоча він не специфічний для React, він широко використовується для перевірки додатків React в реальному браузерному середовищі.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Працює в реальному браузері, емулюючи дії користувача,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такі як кліки, введення тексту та навігація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тестування форм, API-запитів та навігації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Надає потужний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налагоджувач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та інтерактивний інтерфейс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перегляду виконання тестів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Автоматично очікує завершення асинхронних операцій, таких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як завантаження елементів або відповіді API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запис відео та скріншоти для аналізу помилок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7925" y="8255"/>
            <a:ext cx="2886075" cy="14763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86000" y="635635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https://www.cypress.io/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ym typeface="+mn-ea"/>
              </a:rPr>
              <a:t>E2E </a:t>
            </a:r>
            <a:r>
              <a:rPr lang="ru-RU" altLang="en-US" sz="4200" dirty="0" err="1">
                <a:sym typeface="+mn-ea"/>
              </a:rPr>
              <a:t>тест</a:t>
            </a:r>
            <a:r>
              <a:rPr lang="uk-UA" altLang="ru-RU" sz="4200" dirty="0" err="1">
                <a:sym typeface="+mn-ea"/>
              </a:rPr>
              <a:t>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Наскрізне (E2E) тестування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— це метод тестування, який перевіряє роботу програми від початку до кінця, імітуючи реальні сценарії користувача. Воно охоплює всі компоненти системи, включ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но з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фронтенд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ом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, бекенд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ом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та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БД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, для забезпечення їхньої коректної взаємодії.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E2E-тести виконуються в середовищі, максимально наближеному до виробничого, часто з використанням інструментів типу Cypress або Selenium. Такий підхід допомагає виявити проблеми в потоках користувача,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такі як помилки в інтерфейсі або інтеграції. Проте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E2E-тестування може бути повільним і складним у налаштуванні через необхідність емуляції реальних умов.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ym typeface="+mn-ea"/>
              </a:rPr>
              <a:t>Cypress 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Простота написання тестів, максимально наближених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 реальних сценаріїв використання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Відмінна візуалізація виконання тестів та зручний інтерфейс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для налагодження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Активне співтовариство та регулярні оновлення (станом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червень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202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6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року)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Повільніше, ніж модульні чи інтеграційні тести, через роботу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 реальному браузері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Вимагає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налаштування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оточення,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та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запуск браузера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 підходить для модульних тестів, тому що орієнтований на E2E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1032446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Налаштування </a:t>
            </a:r>
            <a:r>
              <a:rPr lang="en-US" altLang="en-US" sz="4200" dirty="0" err="1">
                <a:sym typeface="+mn-ea"/>
              </a:rPr>
              <a:t>Cypress 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sym typeface="+mn-ea"/>
              </a:rPr>
              <a:t>npm install cypress --save-dev</a:t>
            </a:r>
            <a:r>
              <a:rPr lang="ru-RU" altLang="en-US" sz="1400" b="1" dirty="0" err="1">
                <a:solidFill>
                  <a:schemeClr val="tx1"/>
                </a:solidFill>
                <a:sym typeface="+mn-ea"/>
              </a:rPr>
              <a:t> (</a:t>
            </a:r>
            <a:r>
              <a:rPr lang="uk-UA" altLang="ru-RU" sz="1400" b="1" dirty="0" err="1">
                <a:solidFill>
                  <a:schemeClr val="tx1"/>
                </a:solidFill>
                <a:sym typeface="+mn-ea"/>
              </a:rPr>
              <a:t>довго встановлюється</a:t>
            </a:r>
            <a:r>
              <a:rPr lang="ru-RU" altLang="en-US" sz="1400" b="1" dirty="0" err="1">
                <a:solidFill>
                  <a:schemeClr val="tx1"/>
                </a:solidFill>
                <a:sym typeface="+mn-ea"/>
              </a:rPr>
              <a:t>, </a:t>
            </a:r>
            <a:r>
              <a:rPr lang="uk-UA" altLang="ru-RU" sz="1400" b="1" dirty="0" err="1">
                <a:solidFill>
                  <a:schemeClr val="tx1"/>
                </a:solidFill>
                <a:sym typeface="+mn-ea"/>
              </a:rPr>
              <a:t>хвилини </a:t>
            </a:r>
            <a:r>
              <a:rPr lang="ru-RU" altLang="en-US" sz="1400" b="1" dirty="0" err="1">
                <a:solidFill>
                  <a:schemeClr val="tx1"/>
                </a:solidFill>
                <a:sym typeface="+mn-ea"/>
              </a:rPr>
              <a:t>2)</a:t>
            </a: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sym typeface="+mn-ea"/>
              </a:rPr>
              <a:t>npm install @cypress/vite --save-dev</a:t>
            </a:r>
            <a:r>
              <a:rPr lang="ru-RU" altLang="en-US" sz="1400" b="1" dirty="0" err="1">
                <a:solidFill>
                  <a:schemeClr val="tx1"/>
                </a:solidFill>
                <a:sym typeface="+mn-ea"/>
              </a:rPr>
              <a:t> </a:t>
            </a:r>
            <a:endParaRPr lang="en-US" altLang="en-US" sz="1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400" b="1" dirty="0" err="1">
                <a:solidFill>
                  <a:schemeClr val="tx1"/>
                </a:solidFill>
                <a:sym typeface="+mn-ea"/>
              </a:rPr>
              <a:t>npx cypress open </a:t>
            </a:r>
            <a:r>
              <a:rPr lang="en-US" altLang="en-US" sz="14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https://www.cypress.io/</a:t>
            </a:r>
            <a:endParaRPr lang="en-US" altLang="en-US" sz="1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const { defineConfig } = require('cypress');</a:t>
            </a:r>
            <a:r>
              <a:rPr lang="ru-RU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 </a:t>
            </a:r>
            <a:r>
              <a:rPr lang="en-US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// </a:t>
            </a:r>
            <a:r>
              <a:rPr lang="ru-RU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один </a:t>
            </a:r>
            <a:r>
              <a:rPr lang="uk-UA" altLang="ru-RU" sz="1200" dirty="0" err="1">
                <a:solidFill>
                  <a:srgbClr val="00B050"/>
                </a:solidFill>
                <a:ea typeface="Microsoft YaHei" panose="020B0503020204020204" charset="-122"/>
              </a:rPr>
              <a:t>із файлів конфігурації </a:t>
            </a:r>
            <a:r>
              <a:rPr lang="ru-RU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:)</a:t>
            </a:r>
            <a:endParaRPr lang="en-US" altLang="en-US" sz="1200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module.exports = defineConfig({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e2e: {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  baseUrl: 'http://localhost:5173'</a:t>
            </a:r>
            <a:r>
              <a:rPr lang="en-US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, // </a:t>
            </a:r>
            <a:r>
              <a:rPr lang="ru-RU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п</a:t>
            </a:r>
            <a:r>
              <a:rPr lang="en-US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орт </a:t>
            </a:r>
            <a:r>
              <a:rPr lang="uk-UA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за замовчуванням </a:t>
            </a:r>
            <a:r>
              <a:rPr lang="en-US" altLang="en-US" sz="1200" dirty="0" err="1">
                <a:solidFill>
                  <a:srgbClr val="00B050"/>
                </a:solidFill>
                <a:ea typeface="Microsoft YaHei" panose="020B0503020204020204" charset="-122"/>
              </a:rPr>
              <a:t>для Vite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  specPattern: 'cypress/e2e/**/*.cy.{js,jsx,ts,tsx}',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  supportFile: 'cypress/support/e2e.js',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  setupNodeEvents(on, config) {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    require('@cypress/vite').vitePreprocessor()(on, config);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    return config;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  },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  },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200" dirty="0" err="1">
                <a:solidFill>
                  <a:schemeClr val="tx1"/>
                </a:solidFill>
                <a:ea typeface="Microsoft YaHei" panose="020B0503020204020204" charset="-122"/>
              </a:rPr>
              <a:t>});</a:t>
            </a:r>
            <a:endParaRPr lang="en-US" altLang="en-US" sz="1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2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Playwright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Playwright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– це сучасний інструмент для наскрізного тестування, який підтримує декілька браузерів (Chromium, Firefox, WebKit).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Він підходить для тестування React-додатків у реальних сценаріях, пропонуючи крос-браузерні можливості.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тестування у кількох браузерах одночасно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Автоматично очікує елементи та мережеві запити, спрощуючи написання тестів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Дозволяє записувати тести через браузер за допомогою інструмента codegen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тестування на мобільних пристроях та емуляцію різних умов (наприклад, геолокації), а також інтеграцію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із CI/CD системами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720" y="-216535"/>
            <a:ext cx="1732280" cy="16789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https://playwright.dev/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Playwright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708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Висока продуктивність та надійність при виконанні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E2E-тестів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кросс-браузерного тестування, що важливо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перевірки сумісності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Зручний API та активна спільнота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Більш складне налаштування порівняно з Jest або React Testing Library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Орієнтований на тестування E2E, не підходить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модульних або інтеграційних тестів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Вимагає більше ресурсів для виконання тестів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51484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sym typeface="+mn-ea"/>
              </a:rPr>
              <a:t>Налаштування </a:t>
            </a:r>
            <a:r>
              <a:rPr lang="en-US" altLang="en-US" sz="4000" dirty="0" err="1">
                <a:solidFill>
                  <a:srgbClr val="FFFFFF"/>
                </a:solidFill>
                <a:sym typeface="+mn-ea"/>
              </a:rPr>
              <a:t>Playwright</a:t>
            </a:r>
            <a:r>
              <a:rPr lang="ru-RU" altLang="en-US" sz="40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endParaRPr lang="ru-RU" altLang="en-US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npm install --save-dev @playwright/test @playwright/experimental-ct-react vitest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Потрібно створити файл playwright.config.js в корені проекту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Переконайтеся, що файл vite.config.js налаштований для роботи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Playwright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Створити файл tests/setup.js для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налаштування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оточення тестування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Налаштувати певним чином WebStorm, щоб він коректно розпізнавав та запускав тести Playwright/Vitest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Створити папку tests в корені проекту (якщо її немає) та файл App.test.jsx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запуску тестів виконати у терміналі npx vitest run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https://playwright.dev/docs/intro</a:t>
            </a: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Mocha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Mocha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- це гнучкий тестовий фреймворк для JavaScript, який часто використовується у зв'язці з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Chai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(бібліотека тверджень) та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Enzyme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тестування React-додатків. Він підходить для проектів,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що вимагають високої настроюваності.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https://www.chaijs.com/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асинхронне тестування за допомогою async/await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або зворотних викликів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Працює як у Node.js, так і в браузерах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Не включає вбудовані моки, вимагає додаткових бібліотек,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таких як Sinon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Гнучка структура, що дозволяє настроювати тести під конкретні потреби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Підтримує підходи BDD (Behavior-Driven Development) та TDD (Test-Driven Development) 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https://foxminded.ua/bdd-shcho-tse/</a:t>
            </a: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3" tooltip="" action="ppaction://hlinkfile"/>
              </a:rPr>
              <a:t>https://mochajs.org/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855" y="-44450"/>
            <a:ext cx="1332230" cy="15455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Mocha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Висока гнучкість у виборі бібліотек для тверджень та моків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Підходить для складних проектів із нестандартним налаштуванням тестування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Добре документований та має стабільну базу користувачів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Потрібно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ще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більше часу на налаштування порівняно з Jest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Найменша популярність у React-екосистемі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202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6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році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має вбудованої підтримки jsdom, що потребує додаткових конфігурацій для React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51484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використання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Mocha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const { expect } = require('chai');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const { shallow } = require('enzyme');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const Button = require('./Button');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describe('Кнопка', () =&gt; {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it('рендерит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ь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текст корректно', () =&gt; {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const wrapper = shallow(&lt;Button&gt;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Клац-клац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&lt;/Button&gt;);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expect(wrapper.text()).to.equal('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Клац-клац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');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});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}); 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npm install --save-dev mocha chai @testing-library/react @testing-library/jest-dom @testing-library/user-event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b="1" dirty="0" err="1">
                <a:solidFill>
                  <a:srgbClr val="FF0000"/>
                </a:solidFill>
                <a:ea typeface="Microsoft YaHei" panose="020B0503020204020204" charset="-122"/>
              </a:rPr>
              <a:t>!!! </a:t>
            </a:r>
            <a:r>
              <a:rPr lang="en-US" altLang="en-US" sz="1600" b="1" dirty="0" err="1">
                <a:solidFill>
                  <a:srgbClr val="FF0000"/>
                </a:solidFill>
                <a:ea typeface="Microsoft YaHei" panose="020B0503020204020204" charset="-122"/>
              </a:rPr>
              <a:t>Vitest сам по собі вже є потужним тестовим фреймворком, і використання Mocha разом з Vitest - це не найпоширеніший підхід, оскільки Vitest зазвичай замінює Mocha/Jest</a:t>
            </a:r>
            <a:r>
              <a:rPr lang="uk-UA" altLang="en-US" sz="1600" b="1" dirty="0" err="1">
                <a:solidFill>
                  <a:srgbClr val="FF0000"/>
                </a:solidFill>
                <a:ea typeface="Microsoft YaHei" panose="020B0503020204020204" charset="-122"/>
              </a:rPr>
              <a:t> !!!</a:t>
            </a:r>
            <a:endParaRPr lang="uk-UA" altLang="en-US" sz="1600" b="1" dirty="0" err="1">
              <a:solidFill>
                <a:srgbClr val="FF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Jasmine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Jasmine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тестовий фреймворк, орієнтований на підхід Behavior-Driven Development, що часто використовується         в Angular-проектах, але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іноді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застосовується і для React                     з використанням додаткових утиліт, таких як Enzyme.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Вбудовані моки та шпигуни, що не потребують додаткових бібліотек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Незалежність від DOM або інших фреймворків, що робить його універсальним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асинхронних тестів через done чи async/await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Проста структура тестів з використанням describe та it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Хороша документація та підтримка BDD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https://jasmine.github.io/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155" y="0"/>
            <a:ext cx="1421130" cy="14331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Jasmine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Переваги: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Простота використання без необхідності підключення додаткових бібліотек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Підходить для невеликих проектів або команд, які віддають перевагу BDD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Гарна була інтеграція з Enzyme для React :)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Недоліки: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Найменша популярність у React-спільноті в порівнянні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 Jest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Обмежені можливості для складних React-тестів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без додаткових утиліт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Менше інтеграцій із сучасними інструментами React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51484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Налаштування 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Jasmine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chemeClr val="tx1"/>
                </a:solidFill>
                <a:ea typeface="Microsoft YaHei" panose="020B0503020204020204" charset="-122"/>
              </a:rPr>
              <a:t>npm install --save-dev jasmine @testing-library/react @testing-library/jasmine-dom</a:t>
            </a:r>
            <a:endParaRPr lang="en-US" altLang="en-US" sz="24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https://jasmine.github.io/pages/getting_started.html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За замовчуванням Jasmine не підтримує JSX і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ES-модулі без додаткового налаштування. Файл App.test.jsx використовує синтаксис ES-модулів (import) та JSX, що викликає конфлікт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із завантажувачем Jasmine. Крім того, Node.js некоректно обробляє динамічне завантаження таких файлів, особливо якщо не налаштований транспайлер Babel для обробки JSX. А ставити бейбл я не схотів :))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Порівняння бібліотек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Снимок экрана 2025-06-03 1450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5435"/>
            <a:ext cx="9144000" cy="44183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51484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000" dirty="0" err="1">
                <a:solidFill>
                  <a:srgbClr val="FFFFFF"/>
                </a:solidFill>
                <a:ea typeface="Microsoft YaHei" panose="020B0503020204020204" charset="-122"/>
              </a:rPr>
              <a:t>Топ-3 бібліотеки на червень 2026</a:t>
            </a:r>
            <a:endParaRPr lang="uk-UA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708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React Testing Library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: Стандарт для тестування React-додатків завдяки фокусу на взаємодії користувача. Знижує залежність від внутрішньої реалізації, спрощує рефакторинг та підтримує доступність. Активна спільнота та інтеграція з Vitest роблять її ідеальною.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Рекомендовані сценарії: Модульні, інтеграційні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тести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, перевірка доступності. Найкращий вибір для нових проектів із сучасними практиками.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Vitest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: Сучасний тестовий фреймворк для React, що пропонує швидке налаштування та високу продуктивність. Інтегрується з Vite, надає моки та знімки. Універсальн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ий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для всіх типів тестів.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Рекомендовані сценарії: Будь-який проект React, особливо з React Testing Library. Відмінно підходить для аналізу покриття коду та виконання тестів у середовищі Vite.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Cypress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: Для E2E-тестування пропонує інтуїтивний інтерфейс, автоочікування та зручне налагодження. Популярний для підтримки реальних браузерів.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Рекомендовані сценарії: Тестування шляхів користувача, навігації, API-запитів. Доповнює Vitest та React Testing Library для повного покриття.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https://materials.itstep.org/content/2fbb9a9f-9bd0-400b-9de9-06517f30c3c6/uk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https://materials.itstep.org/content/165bb56e-d0b8-4edc-a646-9a574366d895/uk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6EF9A2-A57B-49B9-834E-96CC000BBFDE}"/>
</file>

<file path=customXml/itemProps2.xml><?xml version="1.0" encoding="utf-8"?>
<ds:datastoreItem xmlns:ds="http://schemas.openxmlformats.org/officeDocument/2006/customXml" ds:itemID="{34BDCB4B-174D-44BF-BF57-14A124A05AC3}"/>
</file>

<file path=customXml/itemProps3.xml><?xml version="1.0" encoding="utf-8"?>
<ds:datastoreItem xmlns:ds="http://schemas.openxmlformats.org/officeDocument/2006/customXml" ds:itemID="{E9D8E23E-210F-47D7-A61F-BEFAA18D4A1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48334</Words>
  <Application>WPS Presentation</Application>
  <PresentationFormat/>
  <Paragraphs>867</Paragraphs>
  <Slides>100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100</vt:i4>
      </vt:variant>
    </vt:vector>
  </HeadingPairs>
  <TitlesOfParts>
    <vt:vector size="110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:)</vt:lpstr>
      <vt:lpstr>Якість ПЗ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Класифікація видів тестування</vt:lpstr>
      <vt:lpstr>PowerPoint 演示文稿</vt:lpstr>
      <vt:lpstr>PowerPoint 演示文稿</vt:lpstr>
      <vt:lpstr>PowerPoint 演示文稿</vt:lpstr>
      <vt:lpstr>PowerPoint 演示文稿</vt:lpstr>
      <vt:lpstr>Розробка через тестування</vt:lpstr>
      <vt:lpstr>Розробка через тестування</vt:lpstr>
      <vt:lpstr>Тестування React-додатків</vt:lpstr>
      <vt:lpstr>Рефакторинг</vt:lpstr>
      <vt:lpstr>Модульність</vt:lpstr>
      <vt:lpstr>Підходи та прийоми</vt:lpstr>
      <vt:lpstr>Швидкість</vt:lpstr>
      <vt:lpstr>Ізольованість</vt:lpstr>
      <vt:lpstr>Абстрагуйся або помри</vt:lpstr>
      <vt:lpstr>Види підробок</vt:lpstr>
      <vt:lpstr>Тестування private-методів</vt:lpstr>
      <vt:lpstr>Тестування private-методів</vt:lpstr>
      <vt:lpstr>Хороша архітектура та ООД</vt:lpstr>
      <vt:lpstr>Користь від тестів</vt:lpstr>
      <vt:lpstr>Придивіться уважніше до коду</vt:lpstr>
      <vt:lpstr>PowerPoint 演示文稿</vt:lpstr>
      <vt:lpstr>Ну тоді що ж,</vt:lpstr>
      <vt:lpstr>Хороший дизайн</vt:lpstr>
      <vt:lpstr>Тести - краща документація</vt:lpstr>
      <vt:lpstr>Специфікація до коду</vt:lpstr>
      <vt:lpstr>Навіщо тестувати?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84</cp:revision>
  <dcterms:created xsi:type="dcterms:W3CDTF">2005-09-22T16:26:00Z</dcterms:created>
  <dcterms:modified xsi:type="dcterms:W3CDTF">2026-06-17T13:22:11Z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