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718" r:id="rId7"/>
    <p:sldId id="719" r:id="rId8"/>
    <p:sldId id="592" r:id="rId9"/>
    <p:sldId id="694" r:id="rId10"/>
    <p:sldId id="678" r:id="rId11"/>
    <p:sldId id="679" r:id="rId12"/>
    <p:sldId id="695" r:id="rId13"/>
    <p:sldId id="696" r:id="rId14"/>
    <p:sldId id="680" r:id="rId15"/>
    <p:sldId id="681" r:id="rId16"/>
    <p:sldId id="701" r:id="rId17"/>
    <p:sldId id="697" r:id="rId18"/>
    <p:sldId id="698" r:id="rId19"/>
    <p:sldId id="699" r:id="rId20"/>
    <p:sldId id="700" r:id="rId21"/>
    <p:sldId id="682" r:id="rId22"/>
    <p:sldId id="702" r:id="rId23"/>
    <p:sldId id="683" r:id="rId24"/>
    <p:sldId id="709" r:id="rId25"/>
    <p:sldId id="705" r:id="rId26"/>
    <p:sldId id="706" r:id="rId27"/>
    <p:sldId id="707" r:id="rId28"/>
    <p:sldId id="708" r:id="rId29"/>
    <p:sldId id="703" r:id="rId30"/>
    <p:sldId id="685" r:id="rId31"/>
    <p:sldId id="687" r:id="rId32"/>
    <p:sldId id="711" r:id="rId33"/>
    <p:sldId id="713" r:id="rId34"/>
    <p:sldId id="714" r:id="rId35"/>
    <p:sldId id="715" r:id="rId36"/>
    <p:sldId id="716" r:id="rId37"/>
    <p:sldId id="288" r:id="rId38"/>
    <p:sldId id="289" r:id="rId39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861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5.xml"/><Relationship Id="rId26" Type="http://schemas.openxmlformats.org/officeDocument/2006/relationships/slide" Target="slides/slide22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42" Type="http://schemas.openxmlformats.org/officeDocument/2006/relationships/tableStyles" Target="tableStyles.xml"/><Relationship Id="rId34" Type="http://schemas.openxmlformats.org/officeDocument/2006/relationships/slide" Target="slides/slide30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29" Type="http://schemas.openxmlformats.org/officeDocument/2006/relationships/slide" Target="slides/slide25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6" Type="http://schemas.openxmlformats.org/officeDocument/2006/relationships/slide" Target="slides/slide2.xml"/><Relationship Id="rId40" Type="http://schemas.openxmlformats.org/officeDocument/2006/relationships/presProps" Target="presProps.xml"/><Relationship Id="rId37" Type="http://schemas.openxmlformats.org/officeDocument/2006/relationships/slide" Target="slides/slide33.xml"/><Relationship Id="rId32" Type="http://schemas.openxmlformats.org/officeDocument/2006/relationships/slide" Target="slides/slide28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45" Type="http://schemas.openxmlformats.org/officeDocument/2006/relationships/customXml" Target="../customXml/item3.xml"/><Relationship Id="rId5" Type="http://schemas.openxmlformats.org/officeDocument/2006/relationships/notesMaster" Target="notesMasters/notesMaster1.xml"/><Relationship Id="rId36" Type="http://schemas.openxmlformats.org/officeDocument/2006/relationships/slide" Target="slides/slide32.xml"/><Relationship Id="rId28" Type="http://schemas.openxmlformats.org/officeDocument/2006/relationships/slide" Target="slides/slide24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31" Type="http://schemas.openxmlformats.org/officeDocument/2006/relationships/slide" Target="slides/slide27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44" Type="http://schemas.openxmlformats.org/officeDocument/2006/relationships/customXml" Target="../customXml/item2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35" Type="http://schemas.openxmlformats.org/officeDocument/2006/relationships/slide" Target="slides/slide31.xml"/><Relationship Id="rId30" Type="http://schemas.openxmlformats.org/officeDocument/2006/relationships/slide" Target="slides/slide26.xml"/><Relationship Id="rId27" Type="http://schemas.openxmlformats.org/officeDocument/2006/relationships/slide" Target="slides/slide23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43" Type="http://schemas.openxmlformats.org/officeDocument/2006/relationships/customXml" Target="../customXml/item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2.xml"/><Relationship Id="rId38" Type="http://schemas.openxmlformats.org/officeDocument/2006/relationships/slide" Target="slides/slide34.xml"/><Relationship Id="rId33" Type="http://schemas.openxmlformats.org/officeDocument/2006/relationships/slide" Target="slides/slide29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41" Type="http://schemas.openxmlformats.org/officeDocument/2006/relationships/viewProps" Target="viewProps.xml"/><Relationship Id="rId20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243" name="Slide Image Placeholder 4096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244" name="Text Placeholder 4096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830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98307" name="Slide Image Placeholder 7168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8308" name="Text Placeholder 7168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830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98307" name="Slide Image Placeholder 7168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8308" name="Text Placeholder 7168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830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98307" name="Slide Image Placeholder 7168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8308" name="Text Placeholder 7168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830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98307" name="Slide Image Placeholder 7168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8308" name="Text Placeholder 7168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830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98307" name="Slide Image Placeholder 71680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98308" name="Text Placeholder 71681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35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100355" name="Slide Image Placeholder 72704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100356" name="Text Placeholder 72705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tilda.education/articles-how-seo-works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hyperlink" Target="https://gist.github.com/sunmeat/2e952c13e08e3ec9388ab193446e0754" TargetMode="Externa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hyperlink" Target="https://gist.github.com/sunmeat/9141ad44d5427cce8d221d0584b9ba87&#13;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reactrouter.com/start/framework/installation&#13;" TargetMode="External"/><Relationship Id="rId1" Type="http://schemas.openxmlformats.org/officeDocument/2006/relationships/hyperlink" Target="https://github.com/molefrog/wouter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remix-run/react-router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425fce76a5225159ce0188b3c0edb477&#13;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925fc47bc2356793dd3bb0aecf3703cd&#13;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hyperlink" Target="https://gist.github.com/sunmeat/5bb2daa15f18f910d21980e42daac05f&#13;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b10add8c204b4ca33abe5f3643013106&#13;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materials.itstep.org/content/5f95f98f-f4f1-47bc-bb56-ca86c3b595c3/uk&#13;" TargetMode="External"/><Relationship Id="rId1" Type="http://schemas.openxmlformats.org/officeDocument/2006/relationships/hyperlink" Target="https://materials.itstep.org/content/44332a00-12db-48c0-9f79-5efe2e8bf2b2/uk&#13;" TargetMode="Externa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materials.itstep.org/content/b301eaeb-6654-40ae-a004-c0e544d1098d/uk&#13;" TargetMode="External"/><Relationship Id="rId1" Type="http://schemas.openxmlformats.org/officeDocument/2006/relationships/hyperlink" Target="https://materials.itstep.org/content/397264f0-a9a0-47c3-afac-c8d69c7ed696/uk&#13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163"/>
            <a:ext cx="8077200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Маршрутизац</a:t>
            </a:r>
            <a:r>
              <a:rPr lang="uk-UA" altLang="ru-RU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і</a:t>
            </a:r>
            <a:r>
              <a:rPr lang="ru-RU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я</a:t>
            </a:r>
            <a:endParaRPr lang="ru-RU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77235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О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en-US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en-US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 descr="11836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3361690"/>
            <a:ext cx="3439795" cy="34397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ru-RU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Що таке роутинг?</a:t>
            </a:r>
            <a:endParaRPr lang="en-US" altLang="en-US" sz="28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Цілі та завдання роутингу</a:t>
            </a:r>
            <a:endParaRPr lang="en-US" altLang="en-US" sz="28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Поняття маршруту</a:t>
            </a:r>
            <a:endParaRPr lang="en-US" altLang="en-US" sz="28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React Router</a:t>
            </a:r>
            <a:endParaRPr lang="en-US" altLang="en-US" sz="28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Links</a:t>
            </a:r>
            <a:endParaRPr lang="en-US" altLang="en-US" sz="28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NavLinks</a:t>
            </a:r>
            <a:endParaRPr lang="en-US" altLang="en-US" sz="28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Передача параметрів через маршрут</a:t>
            </a:r>
            <a:endParaRPr lang="en-US" altLang="en-US" sz="28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Вкладені маршрути</a:t>
            </a:r>
            <a:endParaRPr lang="en-US" altLang="en-US" sz="28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Перенаправлення користувачів</a:t>
            </a:r>
            <a:endParaRPr lang="en-US" altLang="en-US" sz="28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en-US" altLang="en-US" sz="28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Практичні приклади використання</a:t>
            </a:r>
            <a:endParaRPr lang="en-US" altLang="en-US" sz="28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Створення проєкту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 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VS Code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8196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У терміналі VS Code: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Виходимо командою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cd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на робочий стіл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Створюємо проєкт командою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create vite@latest</a:t>
            </a:r>
            <a:endParaRPr lang="en-US" altLang="en-US" sz="2400" b="1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Вводимо ім’я проєкту, наприклад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hellovite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Обираємо фреймворк React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Обираємо мову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JavaScript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(або TypeScript)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cd hellovite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(переходимо в папку проєкту)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install 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(встановлюємо залежності)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npm run dev</a:t>
            </a: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 (запускаємо проєкт)</a:t>
            </a:r>
            <a:endParaRPr lang="en-US" altLang="en-US" sz="2400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або навіть </a:t>
            </a:r>
            <a:r>
              <a:rPr lang="en-US" altLang="en-US" sz="2400" b="1" dirty="0" err="1">
                <a:solidFill>
                  <a:schemeClr val="tx1"/>
                </a:solidFill>
                <a:highlight>
                  <a:schemeClr val="lt1"/>
                </a:highlight>
                <a:ea typeface="Microsoft YaHei" panose="020B0503020204020204" charset="-122"/>
                <a:cs typeface="Arial" panose="020B0604020202020204" pitchFamily="34" charset="0"/>
                <a:sym typeface="+mn-ea"/>
              </a:rPr>
              <a:t>npx vite --open</a:t>
            </a:r>
            <a:endParaRPr lang="en-US" altLang="en-US" sz="2400" b="1" dirty="0" err="1">
              <a:solidFill>
                <a:schemeClr val="tx1"/>
              </a:solidFill>
              <a:highlight>
                <a:schemeClr val="lt1"/>
              </a:highlight>
              <a:ea typeface="Microsoft YaHei" panose="020B050302020402020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Створення проєкту в </a:t>
            </a:r>
            <a:r>
              <a:rPr lang="en-US" altLang="uk-UA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WebStorm</a:t>
            </a:r>
            <a:endParaRPr lang="en-US" altLang="uk-UA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Text Box 6145"/>
          <p:cNvSpPr txBox="1"/>
          <p:nvPr/>
        </p:nvSpPr>
        <p:spPr>
          <a:xfrm>
            <a:off x="468313" y="1457325"/>
            <a:ext cx="80645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b="1" dirty="0" err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Снимок экрана 2025-05-09 1731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631950"/>
            <a:ext cx="8895080" cy="469074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Навігація 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в</a:t>
            </a:r>
            <a:r>
              <a:rPr lang="en-US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додатку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8196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Уявіть, що ви герой пригодницького фільму. Ви у заплутаному лабіринті (ваш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ому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React-додатк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), і вам потрібно знайти шлях до скарбів (потрібних сторінок). Але без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мапи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(роутингу) можна загубитися! У реальному житті ми часто бачимо переходи між сторінками на сайті: від стрічки до профілю соцмережі, від профілю до налаштувань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,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швидко і без перезавантаження. Робиться це за допомогою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роутингу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Роутінг - це "карта" програми, яка пов'язує URL (наприклад, /profile) з компонентами React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 односторінкових програмах (SPA) роутинг імітує навігацію, як у звичайному сайті, але </a:t>
            </a:r>
            <a:r>
              <a:rPr lang="en-US" altLang="en-US" sz="2100" u="sng" dirty="0" err="1">
                <a:solidFill>
                  <a:schemeClr val="tx1"/>
                </a:solidFill>
                <a:ea typeface="Microsoft YaHei" panose="020B0503020204020204" charset="-122"/>
              </a:rPr>
              <a:t>без перезавантаження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Роутінг – як GPS у машині: ми вводимо адресу (URL), а він веде нас до потрібної сторінки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1435" y="5636260"/>
            <a:ext cx="1617980" cy="125476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Поняття роутингу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Роутінг у веб-розробці — це процес визначення, який контент або компонент відображатиметься залежно від URL або стану програми. У контексті React роутинг відповідає за навігацію між різними сторінками програми без повного перезавантаження сторінки,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що дуже характерно для односторінкових програм (SPA).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Уявити роутинг можна як систему навігації у великому торговому центрі. URL - це вказівник на конкретний магазин (сторінку), а роутер - це карта або навігатор, який спрямовує до потрібного місця.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Якщо змінити пункт призначення (наприклад, перейти з відділу одягу в кафе), роутер допомагає швидко перейти, не змушуючи залишати торговий центр (перезавантажувати сторінку).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Так і в інтернет-магазині можна перейти з каталогу товарів у кошик або профіль, і програма не повинна перезавантажуватися повністю. Це і є роутинг у дії – він забезпечує плавний перехід між "сторінками".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Чому це важливо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Наш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сайт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стане зручним і зрозумілим,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як Instagram або YouTube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Користувачі зможуть ділитися посиланнями (наприклад, </a:t>
            </a:r>
            <a:r>
              <a:rPr lang="en-US" altLang="en-US" sz="2500" b="1" dirty="0" err="1">
                <a:solidFill>
                  <a:schemeClr val="tx1"/>
                </a:solidFill>
                <a:ea typeface="Microsoft YaHei" panose="020B0503020204020204" charset="-122"/>
              </a:rPr>
              <a:t>/post/123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)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Роутінг додасть навігацію, щоб зв'язати компоненти в єдине ціле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Згадайте сайт або програму зі зручною навігацією. Що там було зроблено круто?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Життя без роутингу...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Ось ми створили круту програму: головна сторінка з useState, сторінка профілю з useEffect для завантаження даних через API.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Але як показати їх з різних URL?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Без роутингу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Все </a:t>
            </a:r>
            <a:r>
              <a:rPr lang="ru-RU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звалю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ємо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 один компонент з купою умов (if (page === 'home') ....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робимо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т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е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....., else if (page === 'profile') ....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робимо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се .... 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Втрачаємо історію браузера (кнопк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а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"назад" не працю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є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Користувач не зможе відкрити /profile/123 безпосередньо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Код стає як "спагетті" - складно підтримувати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Користувачі скаржаться: "Чому я не можу відправити посилання на свій чудовий і так потрібний усім пост?"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Без роутингу додаток - як книга без змісту: всі сторінки на місці,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але знайти потрібну - це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жахіття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2895" y="5274310"/>
            <a:ext cx="3800475" cy="162877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Ц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ілі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роутинг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у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01955" y="1430655"/>
            <a:ext cx="820991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Забезпечити навігацію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, дозволити користувачам переміщ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ува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тися між різними частинами </a:t>
            </a:r>
            <a:r>
              <a:rPr lang="uk-UA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сайту 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(сторінками)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Підтримувати актуальні URL-адреси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, щоб користувач міг ділитися посиланнями або повертатися до певних сторінок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Відображати відповідні UI-компоненти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зі станом залежно від поточного маршруту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Поліпшити UX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, створити плавний і швидкий досвід користувача без перезавантаження сторінки</a:t>
            </a:r>
            <a:endParaRPr lang="en-US" altLang="en-US" sz="2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chemeClr val="tx1"/>
                </a:solidFill>
                <a:ea typeface="Microsoft YaHei" panose="020B0503020204020204" charset="-122"/>
              </a:rPr>
              <a:t>Забезпечити SEO-доступність сторінок для пошукових систем</a:t>
            </a:r>
            <a:r>
              <a:rPr lang="en-US" altLang="en-US" sz="22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200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https://tilda.education/articles-how-seo-works</a:t>
            </a:r>
            <a:endParaRPr lang="en-US" altLang="en-US" sz="2200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За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вдання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роутинг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у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Визначення маршрутів та їх відповідності компонентам</a:t>
            </a:r>
            <a:endParaRPr lang="en-US" altLang="en-US" sz="20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Обробка параметрів та запитів у URL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(наприклад, /product/123)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Керування вкладеними маршрутами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(наприклад, /dashboard/settings)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Забезпечення перенаправлень (редиректів) </a:t>
            </a:r>
            <a:r>
              <a:rPr lang="uk-UA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                     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для застарілих сторінок чи авторизації</a:t>
            </a:r>
            <a:endParaRPr lang="en-US" altLang="en-US" sz="20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Обробка таких помилок, як 404</a:t>
            </a: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 (сторінка не знайдена)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У додатку типу Trello роутинг дозволяє переходити від списку дощок до конкретної дошки (/board/123), а потім до конкретної картки (/board/123/card/456). Це допомагає 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організувати навігацію так, щоб користувач міг легко орієнтуватися </a:t>
            </a:r>
            <a:r>
              <a:rPr lang="uk-UA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      </a:t>
            </a:r>
            <a:r>
              <a:rPr lang="en-US" altLang="en-US" sz="2000" b="1" dirty="0" err="1">
                <a:solidFill>
                  <a:schemeClr val="tx1"/>
                </a:solidFill>
                <a:ea typeface="Microsoft YaHei" panose="020B0503020204020204" charset="-122"/>
              </a:rPr>
              <a:t>у складній структурі даних</a:t>
            </a:r>
            <a:endParaRPr lang="en-US" altLang="en-US" sz="20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Маршрут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Маршрут – це зв'язок між URL та компонентом. Наприклад: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/home → &lt;Home /&gt;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/user/:id → &lt;UserProfile /&gt;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Види маршрутів: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Статичні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(фіксовані як /about)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Динамічні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(з параметрами, як /user/:id)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Вкладені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(як /dashboard/settings)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Маршрути - як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вказівники в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реальному житті: кожен зазвичай веде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до певної потрібної локації.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Маршрути додають динамік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и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до URL.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8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https://gist.github.com/sunmeat/2e952c13e08e3ec9388ab193446e0754</a:t>
            </a:r>
            <a:endParaRPr lang="en-US" altLang="en-US" sz="18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20_ma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840" y="2124075"/>
            <a:ext cx="3334385" cy="222504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Навігація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751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https://gist.github.com/sunmeat/9141ad44d5427cce8d221d0584b9ba87</a:t>
            </a:r>
            <a:endParaRPr lang="en-US" altLang="en-US" sz="25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995" y="2477770"/>
            <a:ext cx="4562475" cy="4124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" y="3200400"/>
            <a:ext cx="8840470" cy="183769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Практика</a:t>
            </a:r>
            <a:endParaRPr lang="ru-RU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dirty="0" err="1">
                <a:solidFill>
                  <a:schemeClr val="tx1"/>
                </a:solidFill>
                <a:ea typeface="Microsoft YaHei" panose="020B0503020204020204" charset="-122"/>
              </a:rPr>
              <a:t>Створіть додаток із трьома сторінками:</a:t>
            </a:r>
            <a:endParaRPr lang="en-US" altLang="en-US" sz="32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dirty="0" err="1">
                <a:solidFill>
                  <a:schemeClr val="tx1"/>
                </a:solidFill>
                <a:ea typeface="Microsoft YaHei" panose="020B0503020204020204" charset="-122"/>
              </a:rPr>
              <a:t>/, /about, /contact.</a:t>
            </a:r>
            <a:endParaRPr lang="en-US" altLang="en-US" sz="32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Поняття маршруту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Маршрут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 це зіставлення URL (або його частини) з певним компонентом або дією в програмі. У React маршрути зазвичай визначаються як правила, які вказують, який компонент відображати при певному шляху.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Структура маршруту: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Шлях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(path) - шаблон URL, наприклад /about або /user/:id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Компонент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 React-компонент, який рендер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и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ться при збігу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зі шляхом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Параметри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- динамічні частини шляху, такі як :id в /user/:id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Запити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(query) - додаткові параметри URL, наприклад, ?sort=asc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із життя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Маршрут це як дорожній знак на трасі. Він вказує, куди їхати (який компонент рендерити), якщо ви слідуєте певним шляхом (URL). Якщо знак відсутній або неправильний шлях, ви потрапляєте на "404" -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у глухий кут.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У додатку для доставки їжі маршрут </a:t>
            </a:r>
            <a:r>
              <a:rPr lang="en-US" altLang="en-US" sz="2500" b="1" dirty="0" err="1">
                <a:solidFill>
                  <a:schemeClr val="tx1"/>
                </a:solidFill>
                <a:ea typeface="Microsoft YaHei" panose="020B0503020204020204" charset="-122"/>
              </a:rPr>
              <a:t>/restaurant/:id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може відображати сторінку конкретного ресторану, де :id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-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це ідентифікатор ресторану. Користувач бачить меню ресторану на основі цього параметра.</a:t>
            </a:r>
            <a:endParaRPr lang="en-US" altLang="en-US" sz="25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580" y="228600"/>
            <a:ext cx="8345805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Підключення роутингу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Бібліотека роутингу, наприклад </a:t>
            </a:r>
            <a:r>
              <a:rPr lang="en-US" altLang="en-US" sz="1900" b="1" dirty="0" err="1">
                <a:solidFill>
                  <a:srgbClr val="FF0000"/>
                </a:solidFill>
                <a:ea typeface="Microsoft YaHei" panose="020B0503020204020204" charset="-122"/>
              </a:rPr>
              <a:t>React Router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, додається до існуючого проекту: </a:t>
            </a: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npm install react-router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Маршрути зазвичай настроюються у файлі App.jsx.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Плюси – повний контроль над налаштуванням маршрутизації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Мінуси - вимагає ручного налаштування (</a:t>
            </a:r>
            <a:r>
              <a:rPr lang="ru-RU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у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CRA був темплейт </a:t>
            </a:r>
            <a:r>
              <a:rPr lang="ru-RU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на зразок npx create-react-app my-app --template router з готовою навігацією)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Існують інші бібліотеки роутингу: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Wouter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– легка альтернатива React Router, підходить </a:t>
            </a:r>
            <a:r>
              <a:rPr lang="ru-RU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              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для невеликих проектів </a:t>
            </a:r>
            <a:r>
              <a:rPr lang="en-US" altLang="en-US" sz="19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https://github.com/molefrog/wouter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Next.js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- надає вбудований роутинг на основі файлової системи, маршрути визначаються структурою папок (наприклад, pages/about.js стає /about)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1120" y="6355080"/>
            <a:ext cx="88798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en-US">
                <a:solidFill>
                  <a:schemeClr val="tx1"/>
                </a:solidFill>
              </a:rPr>
              <a:t>також </a:t>
            </a:r>
            <a:r>
              <a:rPr lang="uk-UA" altLang="en-US">
                <a:solidFill>
                  <a:schemeClr val="tx1"/>
                </a:solidFill>
              </a:rPr>
              <a:t>є темплейт для</a:t>
            </a:r>
            <a:r>
              <a:rPr lang="ru-RU" altLang="en-US">
                <a:solidFill>
                  <a:schemeClr val="tx1"/>
                </a:solidFill>
              </a:rPr>
              <a:t> </a:t>
            </a:r>
            <a:r>
              <a:rPr lang="en-US" altLang="ru-RU">
                <a:solidFill>
                  <a:schemeClr val="tx1"/>
                </a:solidFill>
              </a:rPr>
              <a:t>ts:</a:t>
            </a:r>
            <a:r>
              <a:rPr lang="en-US" altLang="ru-RU">
                <a:solidFill>
                  <a:srgbClr val="0070C0"/>
                </a:solidFill>
              </a:rPr>
              <a:t> </a:t>
            </a:r>
            <a:r>
              <a:rPr lang="en-US" altLang="en-US">
                <a:solidFill>
                  <a:srgbClr val="0070C0"/>
                </a:solidFill>
                <a:hlinkClick r:id="rId2" tooltip="" action="ppaction://hlinkfile"/>
              </a:rPr>
              <a:t>https://reactrouter.com/start/framework/installation</a:t>
            </a:r>
            <a:endParaRPr lang="en-US" altLang="en-US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React Router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48310" y="1430655"/>
            <a:ext cx="824484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React Router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- це стандарт де-факто для роутингу в React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ще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з 2014р. </a:t>
            </a:r>
            <a:r>
              <a:rPr lang="en-US" altLang="en-US" sz="19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https://github.com/remix-run/react-router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. До виходу цієї бібліотеки роутинг в React-додатках часто реалізовувався 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вручну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через window.location і події браузера (popstate, hashchange) для відстеження змін URL, або через </a:t>
            </a:r>
            <a:r>
              <a:rPr lang="uk-UA" sz="1900" dirty="0" err="1">
                <a:solidFill>
                  <a:schemeClr val="tx1"/>
                </a:solidFill>
                <a:ea typeface="Microsoft YaHei" panose="020B0503020204020204" charset="-122"/>
              </a:rPr>
              <a:t>кручені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самописні рішення, де розробники створювали власні хитрі системи маршрутизації, що було трудомістко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та нечитабельно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.</a:t>
            </a:r>
            <a:r>
              <a:rPr lang="uk-UA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Основні можливості React Router: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Декларативне визначення маршрутів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за допомогою компонентів &lt;Routes&gt; та &lt;Route&gt;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Підтримка динамічних параметрів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 (:id)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Вкладені маршрути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Хуки </a:t>
            </a:r>
            <a:r>
              <a:rPr lang="en-US" altLang="en-US" sz="1900" dirty="0" err="1">
                <a:solidFill>
                  <a:schemeClr val="tx1"/>
                </a:solidFill>
                <a:ea typeface="Microsoft YaHei" panose="020B0503020204020204" charset="-122"/>
              </a:rPr>
              <a:t>для роботи з навігацією (useNavigate, useParams, useLocation)</a:t>
            </a: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285750" indent="-28575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chemeClr val="tx1"/>
                </a:solidFill>
                <a:ea typeface="Microsoft YaHei" panose="020B0503020204020204" charset="-122"/>
              </a:rPr>
              <a:t>Обробка 404 та перенаправлень</a:t>
            </a:r>
            <a:endParaRPr lang="en-US" altLang="en-US" sz="19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Основн</a:t>
            </a:r>
            <a:r>
              <a:rPr lang="uk-UA" altLang="en-US" sz="4200" dirty="0" err="1">
                <a:solidFill>
                  <a:schemeClr val="bg1"/>
                </a:solidFill>
                <a:sym typeface="+mn-ea"/>
              </a:rPr>
              <a:t>і</a:t>
            </a:r>
            <a:r>
              <a:rPr lang="en-US" altLang="en-US" sz="4200" dirty="0" err="1">
                <a:solidFill>
                  <a:schemeClr val="bg1"/>
                </a:solidFill>
                <a:sym typeface="+mn-ea"/>
              </a:rPr>
              <a:t> компонент</a:t>
            </a:r>
            <a:r>
              <a:rPr lang="ru-RU" altLang="en-US" sz="4200" dirty="0" err="1">
                <a:solidFill>
                  <a:schemeClr val="bg1"/>
                </a:solidFill>
                <a:sym typeface="+mn-ea"/>
              </a:rPr>
              <a:t>и</a:t>
            </a:r>
            <a:r>
              <a:rPr lang="ru-RU" altLang="en-US" sz="4200" dirty="0" err="1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ru-RU" sz="4200" dirty="0" err="1">
                <a:solidFill>
                  <a:schemeClr val="bg1"/>
                </a:solidFill>
                <a:ea typeface="Microsoft YaHei" panose="020B0503020204020204" charset="-122"/>
              </a:rPr>
              <a:t>Router</a:t>
            </a:r>
            <a:endParaRPr lang="en-US" altLang="ru-RU" sz="4200" dirty="0" err="1">
              <a:solidFill>
                <a:schemeClr val="bg1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481965" y="138620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&lt;BrowserRouter&gt;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компонент, який інтегрується з історією браузера, забезпечуючи керування навігацією у додатку.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Він синхронізує інтерфейс користувача з поточною URL-адресою, дозволяючи застосунку реагувати на зміни адреси без необхідності повного перезавантаження сторінки.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Цей компонент є основою для роботи з маршрутизацією.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&lt;Routes&gt;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та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&lt;Route&gt;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ці компоненти використовуються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для визначення маршрутів у програмі. &lt;Routes&gt; виступає як контейнер для компонентів &lt;Route&gt;, кожен з яких визначає відповідність між певним URL-шляхом і компонентом, що відображається при активації цього шляху. Вони дозволяють організувати структуру навігації, забезпечуючи відображення потрібного контенту, залежно від поточної адреси в браузері.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ym typeface="+mn-ea"/>
              </a:rPr>
              <a:t>Основн</a:t>
            </a:r>
            <a:r>
              <a:rPr lang="uk-UA" altLang="en-US" sz="4200" dirty="0" err="1">
                <a:sym typeface="+mn-ea"/>
              </a:rPr>
              <a:t>і</a:t>
            </a:r>
            <a:r>
              <a:rPr lang="en-US" altLang="en-US" sz="4200" dirty="0" err="1">
                <a:sym typeface="+mn-ea"/>
              </a:rPr>
              <a:t> компонент</a:t>
            </a:r>
            <a:r>
              <a:rPr lang="ru-RU" altLang="en-US" sz="4200" dirty="0" err="1">
                <a:sym typeface="+mn-ea"/>
              </a:rPr>
              <a:t>и </a:t>
            </a:r>
            <a:r>
              <a:rPr lang="en-US" altLang="ru-RU" sz="4200" dirty="0" err="1">
                <a:sym typeface="+mn-ea"/>
              </a:rPr>
              <a:t>Router</a:t>
            </a:r>
            <a:endParaRPr lang="en-US" altLang="ru-RU" sz="4200" dirty="0" err="1">
              <a:solidFill>
                <a:schemeClr val="bg1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&lt;Link&gt;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: компонент, призначений для створення посилань, які забезпечують навігацію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по сайту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без повного перезавантаження сторінки (заміна &lt;a&gt;). Він генерує HTML-елемент, але при цьому використовує внутрішні механізми React Router для швидкого переходу між маршрутами,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що покращує продуктивність і досвід користувача.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&lt;NavLink&gt;: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розширена версія компонента &lt;Link&gt;,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яка додає </a:t>
            </a:r>
            <a:r>
              <a:rPr lang="en-US" altLang="en-US" sz="2100" u="sng" dirty="0" err="1">
                <a:solidFill>
                  <a:schemeClr val="tx1"/>
                </a:solidFill>
                <a:ea typeface="Microsoft YaHei" panose="020B0503020204020204" charset="-122"/>
              </a:rPr>
              <a:t>можливість підсвічування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активного маршруту. Автоматично застосовує певні стилі або класи (наприклад, клас "active") до елемента, якщо поточна URL-адреса збігається із зазначеним у посиланні. Це зручно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для створення візуальних індикаторів, таких як виділення активного пункту меню.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5085" y="6341110"/>
            <a:ext cx="905192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70C0"/>
                </a:solidFill>
                <a:sym typeface="+mn-ea"/>
                <a:hlinkClick r:id="rId1" tooltip="" action="ppaction://hlinkfile"/>
              </a:rPr>
              <a:t>https://gist.github.com/sunmeat/425fce76a5225159ce0188b3c0edb477</a:t>
            </a:r>
            <a:endParaRPr lang="en-US" altLang="en-US" sz="2100" b="1" dirty="0" err="1">
              <a:solidFill>
                <a:srgbClr val="0070C0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200" dirty="0" err="1">
                <a:sym typeface="+mn-ea"/>
              </a:rPr>
              <a:t>Основн</a:t>
            </a:r>
            <a:r>
              <a:rPr lang="uk-UA" altLang="en-US" sz="4200" dirty="0" err="1">
                <a:sym typeface="+mn-ea"/>
              </a:rPr>
              <a:t>і</a:t>
            </a:r>
            <a:r>
              <a:rPr lang="en-US" altLang="en-US" sz="4200" dirty="0" err="1">
                <a:sym typeface="+mn-ea"/>
              </a:rPr>
              <a:t> компонент</a:t>
            </a:r>
            <a:r>
              <a:rPr lang="ru-RU" altLang="en-US" sz="4200" dirty="0" err="1">
                <a:sym typeface="+mn-ea"/>
              </a:rPr>
              <a:t>и </a:t>
            </a:r>
            <a:r>
              <a:rPr lang="en-US" altLang="ru-RU" sz="4200" dirty="0" err="1">
                <a:sym typeface="+mn-ea"/>
              </a:rPr>
              <a:t>Router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500" b="1" dirty="0" err="1">
                <a:solidFill>
                  <a:schemeClr val="tx1"/>
                </a:solidFill>
                <a:ea typeface="Microsoft YaHei" panose="020B0503020204020204" charset="-122"/>
              </a:rPr>
              <a:t>&lt;Outlet&gt;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: компонент, який використовується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  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для рендерингу вкладених маршрутів у програмі. Він вказує, де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в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структурі компонента мають відображатися дочірні маршрути, визначені </a:t>
            </a:r>
            <a:r>
              <a:rPr lang="uk-UA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500" dirty="0" err="1">
                <a:solidFill>
                  <a:schemeClr val="tx1"/>
                </a:solidFill>
                <a:ea typeface="Microsoft YaHei" panose="020B0503020204020204" charset="-122"/>
              </a:rPr>
              <a:t>у &lt;Route&gt;. Це дозволяє створювати складні ієрархічні структури маршрутизації, де вкладені компоненти відображаються в залежності           від поточного шляху, забезпечуючи гнучкість               у побудові інтерфейсу.</a:t>
            </a:r>
            <a:endParaRPr lang="en-US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https://gist.github.com/sunmeat/925fc47bc2356793dd3bb0aecf3703cd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Вкладені маршрути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900" dirty="0" err="1">
                <a:solidFill>
                  <a:schemeClr val="tx1"/>
                </a:solidFill>
                <a:ea typeface="Microsoft YaHei" panose="020B0503020204020204" charset="-122"/>
              </a:rPr>
              <a:t>Вкладені маршрути використовуються</a:t>
            </a:r>
            <a:r>
              <a:rPr lang="uk-UA" altLang="en-US" sz="29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en-US" altLang="en-US" sz="2900" dirty="0" err="1">
                <a:solidFill>
                  <a:schemeClr val="tx1"/>
                </a:solidFill>
                <a:ea typeface="Microsoft YaHei" panose="020B0503020204020204" charset="-122"/>
              </a:rPr>
              <a:t> для складних інтерфейсів (наприклад, </a:t>
            </a:r>
            <a:r>
              <a:rPr lang="en-US" altLang="en-US" sz="2900" b="1" dirty="0" err="1">
                <a:solidFill>
                  <a:schemeClr val="tx1"/>
                </a:solidFill>
                <a:ea typeface="Microsoft YaHei" panose="020B0503020204020204" charset="-122"/>
              </a:rPr>
              <a:t>/dashboard/settings</a:t>
            </a:r>
            <a:r>
              <a:rPr lang="en-US" altLang="en-US" sz="2900" dirty="0" err="1">
                <a:solidFill>
                  <a:schemeClr val="tx1"/>
                </a:solidFill>
                <a:ea typeface="Microsoft YaHei" panose="020B0503020204020204" charset="-122"/>
              </a:rPr>
              <a:t>)</a:t>
            </a:r>
            <a:endParaRPr lang="en-US" altLang="en-US" sz="2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900" dirty="0" err="1">
                <a:solidFill>
                  <a:schemeClr val="tx1"/>
                </a:solidFill>
                <a:ea typeface="Microsoft YaHei" panose="020B0503020204020204" charset="-122"/>
              </a:rPr>
              <a:t>&lt;Outlet&gt; рендерит</a:t>
            </a:r>
            <a:r>
              <a:rPr lang="uk-UA" altLang="en-US" sz="2900" dirty="0" err="1">
                <a:solidFill>
                  <a:schemeClr val="tx1"/>
                </a:solidFill>
                <a:ea typeface="Microsoft YaHei" panose="020B0503020204020204" charset="-122"/>
              </a:rPr>
              <a:t>ь</a:t>
            </a:r>
            <a:r>
              <a:rPr lang="en-US" altLang="en-US" sz="2900" dirty="0" err="1">
                <a:solidFill>
                  <a:schemeClr val="tx1"/>
                </a:solidFill>
                <a:ea typeface="Microsoft YaHei" panose="020B0503020204020204" charset="-122"/>
              </a:rPr>
              <a:t> дочірні маршрути</a:t>
            </a:r>
            <a:endParaRPr lang="en-US" altLang="en-US" sz="2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900" dirty="0" err="1">
                <a:solidFill>
                  <a:schemeClr val="tx1"/>
                </a:solidFill>
                <a:ea typeface="Microsoft YaHei" panose="020B0503020204020204" charset="-122"/>
              </a:rPr>
              <a:t>&lt;Navigate&gt; або хук useNavigate переводять користувача на інший маршрут</a:t>
            </a:r>
            <a:endParaRPr lang="en-US" altLang="en-US" sz="29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900" dirty="0" err="1">
                <a:solidFill>
                  <a:schemeClr val="tx1"/>
                </a:solidFill>
                <a:ea typeface="Microsoft YaHei" panose="020B0503020204020204" charset="-122"/>
              </a:rPr>
              <a:t>Наприклад, у Gmail /inbox - це головна сторінка, а /inbox/message/123 - вкладений маршрут</a:t>
            </a:r>
            <a:endParaRPr lang="en-US" altLang="en-US" sz="2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Коментар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</a:t>
            </a:r>
            <a:r>
              <a:rPr 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 по </a:t>
            </a:r>
            <a:r>
              <a:rPr 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Outlet</a:t>
            </a:r>
            <a:endParaRPr 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ea typeface="Microsoft YaHei" panose="020B0503020204020204" charset="-122"/>
              </a:rPr>
              <a:t>Роути можна вкладати один в одного для створення підрозділів:</a:t>
            </a: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0" y="1857375"/>
            <a:ext cx="7172325" cy="489521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sym typeface="+mn-ea"/>
              </a:rPr>
              <a:t>Коментар</a:t>
            </a: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і</a:t>
            </a:r>
            <a:r>
              <a:rPr lang="ru-RU" sz="4200" dirty="0" err="1">
                <a:solidFill>
                  <a:srgbClr val="FFFFFF"/>
                </a:solidFill>
                <a:sym typeface="+mn-ea"/>
              </a:rPr>
              <a:t> по </a:t>
            </a:r>
            <a:r>
              <a:rPr lang="en-US" sz="4200" dirty="0" err="1">
                <a:solidFill>
                  <a:srgbClr val="FFFFFF"/>
                </a:solidFill>
                <a:sym typeface="+mn-ea"/>
              </a:rPr>
              <a:t>Outlet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&lt;Route index element={&lt;Navigate to="posts" replace/&gt;}/&gt;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в коді вказує, що при зверненні до базового шляху /profile користувач автоматично перенаправляється на /profile/posts. Атрибут replace забезпечує заміну поточного запису в історії браузера, а не додавання нового. Атрибут index вказує,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що цей маршрут є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маршрутом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за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за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мовч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ува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нням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для батьківського шляху /profile.</a:t>
            </a: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Якщо потрібно залишити /profile/ окремим розділом </a:t>
            </a:r>
            <a:r>
              <a:rPr lang="uk-UA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         </a:t>
            </a:r>
            <a:r>
              <a:rPr lang="en-US" altLang="en-US" sz="2100" dirty="0" err="1">
                <a:solidFill>
                  <a:schemeClr val="tx1"/>
                </a:solidFill>
                <a:ea typeface="Microsoft YaHei" panose="020B0503020204020204" charset="-122"/>
              </a:rPr>
              <a:t>без перенаправлення на /profile/posts і відобразити для нього окремий компонент (наприклад, &lt;ProfileHome/&gt;), можна замінити &lt;Route index element={&lt;Navigate to="posts" replace/&gt;}/&gt; на </a:t>
            </a:r>
            <a:r>
              <a:rPr lang="en-US" altLang="en-US" sz="2100" b="1" dirty="0" err="1">
                <a:solidFill>
                  <a:schemeClr val="tx1"/>
                </a:solidFill>
                <a:ea typeface="Microsoft YaHei" panose="020B0503020204020204" charset="-122"/>
              </a:rPr>
              <a:t>&lt;Route index element={&lt;ProfileHome/&gt;}/&gt;.</a:t>
            </a:r>
            <a:endParaRPr lang="en-US" altLang="en-US" sz="2100" b="1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sym typeface="+mn-ea"/>
              </a:rPr>
              <a:t>Коментар</a:t>
            </a: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і</a:t>
            </a:r>
            <a:r>
              <a:rPr lang="ru-RU" sz="4200" dirty="0" err="1">
                <a:solidFill>
                  <a:srgbClr val="FFFFFF"/>
                </a:solidFill>
                <a:sym typeface="+mn-ea"/>
              </a:rPr>
              <a:t> по </a:t>
            </a:r>
            <a:r>
              <a:rPr lang="en-US" sz="4200" dirty="0" err="1">
                <a:solidFill>
                  <a:srgbClr val="FFFFFF"/>
                </a:solidFill>
                <a:sym typeface="+mn-ea"/>
              </a:rPr>
              <a:t>Outlet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" y="1809115"/>
            <a:ext cx="11028045" cy="46101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88290" y="1223645"/>
            <a:ext cx="5772150" cy="5248275"/>
          </a:xfrm>
          <a:prstGeom prst="rect">
            <a:avLst/>
          </a:prstGeom>
        </p:spPr>
      </p:pic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sz="4200" dirty="0" err="1">
                <a:solidFill>
                  <a:srgbClr val="FFFFFF"/>
                </a:solidFill>
                <a:sym typeface="+mn-ea"/>
              </a:rPr>
              <a:t>Коментар</a:t>
            </a: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і</a:t>
            </a:r>
            <a:r>
              <a:rPr lang="ru-RU" sz="4200" dirty="0" err="1">
                <a:solidFill>
                  <a:srgbClr val="FFFFFF"/>
                </a:solidFill>
                <a:sym typeface="+mn-ea"/>
              </a:rPr>
              <a:t> по </a:t>
            </a:r>
            <a:r>
              <a:rPr lang="en-US" sz="4200" dirty="0" err="1">
                <a:solidFill>
                  <a:srgbClr val="FFFFFF"/>
                </a:solidFill>
                <a:sym typeface="+mn-ea"/>
              </a:rPr>
              <a:t>Outlet</a:t>
            </a:r>
            <a:endParaRPr lang="en-US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900" y="3879215"/>
            <a:ext cx="5143500" cy="981075"/>
          </a:xfrm>
          <a:prstGeom prst="rect">
            <a:avLst/>
          </a:prstGeom>
        </p:spPr>
      </p:pic>
      <p:sp>
        <p:nvSpPr>
          <p:cNvPr id="7" name="Rectangles 6"/>
          <p:cNvSpPr/>
          <p:nvPr/>
        </p:nvSpPr>
        <p:spPr>
          <a:xfrm>
            <a:off x="476885" y="4914265"/>
            <a:ext cx="2160905" cy="1350010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2604770" y="5669280"/>
            <a:ext cx="1848485" cy="1245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500" dirty="0" err="1">
                <a:solidFill>
                  <a:schemeClr val="tx1"/>
                </a:solidFill>
                <a:sym typeface="+mn-ea"/>
              </a:rPr>
              <a:t>а це і є аутлет, і він підставить сюди або пости, або налаштування, залежно від URL</a:t>
            </a:r>
            <a:endParaRPr lang="en-US" altLang="en-US" sz="1500" dirty="0" err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497705" y="4947920"/>
            <a:ext cx="2861945" cy="1015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500" dirty="0" err="1">
                <a:solidFill>
                  <a:schemeClr val="tx1"/>
                </a:solidFill>
                <a:sym typeface="+mn-ea"/>
              </a:rPr>
              <a:t>без аутлета підрозділи взагалі не </a:t>
            </a:r>
            <a:r>
              <a:rPr lang="uk-UA" altLang="en-US" sz="1500" dirty="0" err="1">
                <a:solidFill>
                  <a:schemeClr val="tx1"/>
                </a:solidFill>
                <a:sym typeface="+mn-ea"/>
              </a:rPr>
              <a:t>відмалюються</a:t>
            </a:r>
            <a:endParaRPr lang="uk-UA" altLang="en-US" sz="1500" dirty="0" err="1">
              <a:solidFill>
                <a:schemeClr val="tx1"/>
              </a:solidFill>
              <a:sym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690" y="4947920"/>
            <a:ext cx="1682115" cy="69786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  <a:sym typeface="+mn-ea"/>
              </a:rPr>
              <a:t>Сторінка 404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  <a:sym typeface="+mn-ea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5195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https://gist.github.com/sunmeat/5bb2daa15f18f910d21980e42daac05f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2495550"/>
            <a:ext cx="8763000" cy="32004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Динам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ічні</a:t>
            </a: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 параметр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sym typeface="+mn-ea"/>
              </a:rPr>
              <a:t>Параметри роблять маршрути динамічними (наприклад, /user/:id)</a:t>
            </a:r>
            <a:endParaRPr lang="en-US" altLang="en-US" sz="2000" dirty="0" err="1">
              <a:solidFill>
                <a:schemeClr val="tx1"/>
              </a:solidFill>
              <a:sym typeface="+mn-ea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sym typeface="+mn-ea"/>
              </a:rPr>
              <a:t>Хук </a:t>
            </a:r>
            <a:r>
              <a:rPr lang="en-US" altLang="en-US" sz="2000" b="1" dirty="0" err="1">
                <a:solidFill>
                  <a:schemeClr val="tx1"/>
                </a:solidFill>
                <a:sym typeface="+mn-ea"/>
              </a:rPr>
              <a:t>useParams </a:t>
            </a:r>
            <a:r>
              <a:rPr lang="en-US" altLang="en-US" sz="2000" dirty="0" err="1">
                <a:solidFill>
                  <a:schemeClr val="tx1"/>
                </a:solidFill>
                <a:sym typeface="+mn-ea"/>
              </a:rPr>
              <a:t>отримує параметри з URL</a:t>
            </a:r>
            <a:endParaRPr lang="en-US" altLang="en-US" sz="2000" dirty="0" err="1">
              <a:solidFill>
                <a:schemeClr val="tx1"/>
              </a:solidFill>
              <a:sym typeface="+mn-ea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sym typeface="+mn-ea"/>
              </a:rPr>
              <a:t>У Instagram, наприклад, URL /username показує профіль конкретного користувача</a:t>
            </a:r>
            <a:endParaRPr lang="en-US" altLang="en-US" sz="2000" dirty="0" err="1">
              <a:solidFill>
                <a:schemeClr val="tx1"/>
              </a:solidFill>
              <a:sym typeface="+mn-ea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sym typeface="+mn-ea"/>
              </a:rPr>
              <a:t>Ми вже завантажували дані через API з useEffect. Параметри </a:t>
            </a:r>
            <a:r>
              <a:rPr lang="uk-UA" altLang="en-US" sz="2000" dirty="0" err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sym typeface="+mn-ea"/>
              </a:rPr>
              <a:t>в URL - це як ID для API-запиту</a:t>
            </a:r>
            <a:endParaRPr lang="en-US" altLang="en-US" sz="2000" dirty="0" err="1">
              <a:solidFill>
                <a:schemeClr val="tx1"/>
              </a:solidFill>
              <a:sym typeface="+mn-ea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sym typeface="+mn-ea"/>
              </a:rPr>
              <a:t>useNavigate </a:t>
            </a:r>
            <a:r>
              <a:rPr lang="en-US" altLang="en-US" sz="2000" dirty="0" err="1">
                <a:solidFill>
                  <a:schemeClr val="tx1"/>
                </a:solidFill>
                <a:sym typeface="+mn-ea"/>
              </a:rPr>
              <a:t>дозволяє програмно переходити між сторінками</a:t>
            </a:r>
            <a:endParaRPr lang="en-US" altLang="en-US" sz="2000" dirty="0" err="1">
              <a:solidFill>
                <a:schemeClr val="tx1"/>
              </a:solidFill>
              <a:sym typeface="+mn-ea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chemeClr val="tx1"/>
                </a:solidFill>
                <a:sym typeface="+mn-ea"/>
              </a:rPr>
              <a:t>useLocation </a:t>
            </a:r>
            <a:r>
              <a:rPr lang="en-US" altLang="en-US" sz="2000" dirty="0" err="1">
                <a:solidFill>
                  <a:schemeClr val="tx1"/>
                </a:solidFill>
                <a:sym typeface="+mn-ea"/>
              </a:rPr>
              <a:t>- надає доступ до поточного URL та його частин</a:t>
            </a:r>
            <a:endParaRPr lang="en-US" altLang="en-US" sz="2000" dirty="0" err="1">
              <a:solidFill>
                <a:schemeClr val="tx1"/>
              </a:solidFill>
              <a:sym typeface="+mn-ea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chemeClr val="tx1"/>
                </a:solidFill>
                <a:sym typeface="+mn-ea"/>
              </a:rPr>
              <a:t>Запити (query) - дозволять обробляти додаткові параметри URL. </a:t>
            </a:r>
            <a:r>
              <a:rPr lang="en-US" altLang="en-US" sz="2000" b="1" dirty="0" err="1">
                <a:solidFill>
                  <a:schemeClr val="tx1"/>
                </a:solidFill>
                <a:sym typeface="+mn-ea"/>
              </a:rPr>
              <a:t>Поліпшений приклад </a:t>
            </a:r>
            <a:r>
              <a:rPr lang="en-US" altLang="en-US" sz="2000" b="1" dirty="0" err="1">
                <a:solidFill>
                  <a:schemeClr val="tx1"/>
                </a:solidFill>
                <a:sym typeface="+mn-ea"/>
              </a:rPr>
              <a:t>«</a:t>
            </a:r>
            <a:r>
              <a:rPr lang="en-US" altLang="en-US" sz="2000" b="1" dirty="0" err="1">
                <a:solidFill>
                  <a:schemeClr val="tx1"/>
                </a:solidFill>
                <a:sym typeface="+mn-ea"/>
              </a:rPr>
              <a:t>інстаграма</a:t>
            </a:r>
            <a:r>
              <a:rPr lang="en-US" altLang="en-US" sz="2000" b="1" dirty="0" err="1">
                <a:solidFill>
                  <a:schemeClr val="tx1"/>
                </a:solidFill>
                <a:sym typeface="+mn-ea"/>
              </a:rPr>
              <a:t>»</a:t>
            </a:r>
            <a:r>
              <a:rPr lang="ru-RU" altLang="en-US" sz="2000" b="1" dirty="0" err="1">
                <a:solidFill>
                  <a:schemeClr val="tx1"/>
                </a:solidFill>
                <a:sym typeface="+mn-ea"/>
              </a:rPr>
              <a:t>:</a:t>
            </a:r>
            <a:endParaRPr lang="en-US" altLang="en-US" sz="2000" dirty="0" err="1">
              <a:solidFill>
                <a:schemeClr val="tx1"/>
              </a:solidFill>
              <a:sym typeface="+mn-ea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b="1" dirty="0" err="1">
                <a:solidFill>
                  <a:srgbClr val="0070C0"/>
                </a:solidFill>
                <a:sym typeface="+mn-ea"/>
                <a:hlinkClick r:id="rId1" tooltip="" action="ppaction://hlinkfile"/>
              </a:rPr>
              <a:t>https://gist.github.com/sunmeat/b10add8c204b4ca33abe5f3643013106</a:t>
            </a:r>
            <a:endParaRPr lang="en-US" altLang="en-US" sz="2000" b="1" dirty="0" err="1">
              <a:solidFill>
                <a:srgbClr val="0070C0"/>
              </a:solidFill>
              <a:sym typeface="+mn-ea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  <a:sym typeface="+mn-ea"/>
            </a:endParaRPr>
          </a:p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altLang="en-US" sz="20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0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Результат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Снимок экрана 2025-06-11 1541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45" y="1527175"/>
            <a:ext cx="8829675" cy="531495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Результат</a:t>
            </a:r>
            <a:r>
              <a:rPr lang="uk-UA" altLang="en-US" sz="4200" dirty="0" err="1">
                <a:solidFill>
                  <a:srgbClr val="FFFFFF"/>
                </a:solidFill>
                <a:ea typeface="Microsoft YaHei" panose="020B0503020204020204" charset="-122"/>
              </a:rPr>
              <a:t>и</a:t>
            </a:r>
            <a:endParaRPr lang="uk-UA" altLang="en-US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Снимок экрана 2025-06-11 1542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875" y="1448435"/>
            <a:ext cx="7743825" cy="523875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Практика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7283" name="Text Box 36865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1. главна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4830" y="0"/>
            <a:ext cx="6095365" cy="6858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Практика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7283" name="Text Box 36865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2. категории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6520" y="0"/>
            <a:ext cx="6690995" cy="68560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7283" name="Text Box 36865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3. акции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2215" y="0"/>
            <a:ext cx="6682105" cy="6858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Практика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7283" name="Text Box 36865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2" name="Picture 1" descr="4. контакт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145" y="1177925"/>
            <a:ext cx="9192260" cy="84366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7282" name="Text Box 3686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Практика</a:t>
            </a:r>
            <a:endParaRPr lang="ru-RU" altLang="x-none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7283" name="Text Box 36865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1" tooltip="" action="ppaction://hlinkfile"/>
              </a:rPr>
              <a:t>https://materials.itstep.org/content/44332a00-12db-48c0-9f79-5efe2e8bf2b2/uk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2" tooltip="" action="ppaction://hlinkfile"/>
              </a:rPr>
              <a:t>https://materials.itstep.org/content/5f95f98f-f4f1-47bc-bb56-ca86c3b595c3/uk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330" name="Text Box 37888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ДЗ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99331" name="Text Box 37889"/>
          <p:cNvSpPr txBox="1"/>
          <p:nvPr/>
        </p:nvSpPr>
        <p:spPr>
          <a:xfrm>
            <a:off x="534988" y="1412875"/>
            <a:ext cx="792480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1" tooltip="" action="ppaction://hlinkfile"/>
              </a:rPr>
              <a:t>https://materials.itstep.org/content/397264f0-a9a0-47c3-afac-c8d69c7ed696/uk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algn="ctr" defTabSz="457200">
              <a:spcBef>
                <a:spcPts val="625"/>
              </a:spcBef>
              <a:buClr>
                <a:srgbClr val="996666"/>
              </a:buClr>
              <a:buSzPct val="80000"/>
              <a:buFont typeface="Wingdings" panose="05000000000000000000" pitchFamily="2" charset="2"/>
              <a:tabLst>
                <a:tab pos="339725" algn="l"/>
                <a:tab pos="796925" algn="l"/>
                <a:tab pos="1254125" algn="l"/>
                <a:tab pos="1711325" algn="l"/>
                <a:tab pos="2168525" algn="l"/>
                <a:tab pos="2625725" algn="l"/>
                <a:tab pos="3082925" algn="l"/>
                <a:tab pos="3540125" algn="l"/>
                <a:tab pos="3997325" algn="l"/>
                <a:tab pos="4454525" algn="l"/>
                <a:tab pos="4911725" algn="l"/>
                <a:tab pos="5368925" algn="l"/>
                <a:tab pos="5826125" algn="l"/>
                <a:tab pos="6283325" algn="l"/>
                <a:tab pos="6740525" algn="l"/>
                <a:tab pos="7197725" algn="l"/>
                <a:tab pos="7654925" algn="l"/>
                <a:tab pos="8112125" algn="l"/>
                <a:tab pos="8569325" algn="l"/>
                <a:tab pos="9026525" algn="l"/>
                <a:tab pos="9483725" algn="l"/>
              </a:tabLst>
            </a:pPr>
            <a:r>
              <a:rPr lang="en-US" altLang="en-US" sz="2500" b="1" dirty="0" err="1">
                <a:solidFill>
                  <a:srgbClr val="0070C0"/>
                </a:solidFill>
                <a:latin typeface="Arial" panose="020B0604020202020204" pitchFamily="34" charset="0"/>
                <a:hlinkClick r:id="rId2" tooltip="" action="ppaction://hlinkfile"/>
              </a:rPr>
              <a:t>https://materials.itstep.org/content/b301eaeb-6654-40ae-a004-c0e544d1098d/uk</a:t>
            </a:r>
            <a:endParaRPr lang="en-US" altLang="en-US" sz="2500" b="1" dirty="0" err="1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46DD6BE-6CCC-4D3D-969B-DB09ABAF5A46}"/>
</file>

<file path=customXml/itemProps2.xml><?xml version="1.0" encoding="utf-8"?>
<ds:datastoreItem xmlns:ds="http://schemas.openxmlformats.org/officeDocument/2006/customXml" ds:itemID="{0E596EE3-2C9F-4003-AB16-7B21332792B6}"/>
</file>

<file path=customXml/itemProps3.xml><?xml version="1.0" encoding="utf-8"?>
<ds:datastoreItem xmlns:ds="http://schemas.openxmlformats.org/officeDocument/2006/customXml" ds:itemID="{A4C4335C-7295-416F-9ED2-F4B8F8E54D6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11472</Words>
  <Application>WPS Presentation</Application>
  <PresentationFormat/>
  <Paragraphs>228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78</cp:revision>
  <dcterms:created xsi:type="dcterms:W3CDTF">2005-09-22T16:26:00Z</dcterms:created>
  <dcterms:modified xsi:type="dcterms:W3CDTF">2026-06-17T13:17:48Z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1033-12.1.0.26880</vt:lpwstr>
  </property>
  <property fmtid="{D5CDD505-2E9C-101B-9397-08002B2CF9AE}" pid="4" name="ContentTypeId">
    <vt:lpwstr>0x010100CB973167729B9844A7328B341F515C98</vt:lpwstr>
  </property>
</Properties>
</file>