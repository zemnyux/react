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680" r:id="rId7"/>
    <p:sldId id="681" r:id="rId8"/>
    <p:sldId id="581" r:id="rId9"/>
    <p:sldId id="584" r:id="rId10"/>
    <p:sldId id="585" r:id="rId11"/>
    <p:sldId id="586" r:id="rId12"/>
    <p:sldId id="639" r:id="rId13"/>
    <p:sldId id="587" r:id="rId14"/>
    <p:sldId id="588" r:id="rId15"/>
    <p:sldId id="589" r:id="rId16"/>
    <p:sldId id="590" r:id="rId17"/>
    <p:sldId id="591" r:id="rId18"/>
    <p:sldId id="641" r:id="rId19"/>
    <p:sldId id="642" r:id="rId20"/>
    <p:sldId id="643" r:id="rId21"/>
    <p:sldId id="644" r:id="rId22"/>
    <p:sldId id="645" r:id="rId23"/>
    <p:sldId id="592" r:id="rId24"/>
    <p:sldId id="593" r:id="rId25"/>
    <p:sldId id="594" r:id="rId26"/>
    <p:sldId id="599" r:id="rId27"/>
    <p:sldId id="600" r:id="rId28"/>
    <p:sldId id="601" r:id="rId29"/>
    <p:sldId id="647" r:id="rId30"/>
    <p:sldId id="602" r:id="rId31"/>
    <p:sldId id="603" r:id="rId32"/>
    <p:sldId id="648" r:id="rId33"/>
    <p:sldId id="654" r:id="rId34"/>
    <p:sldId id="655" r:id="rId35"/>
    <p:sldId id="656" r:id="rId36"/>
    <p:sldId id="657" r:id="rId37"/>
    <p:sldId id="659" r:id="rId38"/>
    <p:sldId id="649" r:id="rId39"/>
    <p:sldId id="660" r:id="rId40"/>
    <p:sldId id="664" r:id="rId41"/>
    <p:sldId id="661" r:id="rId42"/>
    <p:sldId id="662" r:id="rId43"/>
    <p:sldId id="663" r:id="rId44"/>
    <p:sldId id="665" r:id="rId45"/>
    <p:sldId id="650" r:id="rId46"/>
    <p:sldId id="667" r:id="rId47"/>
    <p:sldId id="668" r:id="rId48"/>
    <p:sldId id="669" r:id="rId49"/>
    <p:sldId id="670" r:id="rId50"/>
    <p:sldId id="674" r:id="rId51"/>
    <p:sldId id="658" r:id="rId52"/>
    <p:sldId id="666" r:id="rId53"/>
    <p:sldId id="622" r:id="rId54"/>
    <p:sldId id="675" r:id="rId55"/>
    <p:sldId id="676" r:id="rId56"/>
    <p:sldId id="677" r:id="rId57"/>
    <p:sldId id="288" r:id="rId58"/>
    <p:sldId id="289" r:id="rId59"/>
    <p:sldId id="678" r:id="rId60"/>
    <p:sldId id="679" r:id="rId61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63" Type="http://schemas.openxmlformats.org/officeDocument/2006/relationships/viewProps" Target="viewProps.xml"/><Relationship Id="rId55" Type="http://schemas.openxmlformats.org/officeDocument/2006/relationships/slide" Target="slides/slide51.xml"/><Relationship Id="rId50" Type="http://schemas.openxmlformats.org/officeDocument/2006/relationships/slide" Target="slides/slide46.xml"/><Relationship Id="rId47" Type="http://schemas.openxmlformats.org/officeDocument/2006/relationships/slide" Target="slides/slide43.xml"/><Relationship Id="rId42" Type="http://schemas.openxmlformats.org/officeDocument/2006/relationships/slide" Target="slides/slide38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58" Type="http://schemas.openxmlformats.org/officeDocument/2006/relationships/slide" Target="slides/slide54.xml"/><Relationship Id="rId53" Type="http://schemas.openxmlformats.org/officeDocument/2006/relationships/slide" Target="slides/slide49.xml"/><Relationship Id="rId45" Type="http://schemas.openxmlformats.org/officeDocument/2006/relationships/slide" Target="slides/slide41.xml"/><Relationship Id="rId40" Type="http://schemas.openxmlformats.org/officeDocument/2006/relationships/slide" Target="slides/slide36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66" Type="http://schemas.openxmlformats.org/officeDocument/2006/relationships/customXml" Target="../customXml/item2.xml"/><Relationship Id="rId61" Type="http://schemas.openxmlformats.org/officeDocument/2006/relationships/slide" Target="slides/slide57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64" Type="http://schemas.openxmlformats.org/officeDocument/2006/relationships/tableStyles" Target="tableStyles.xml"/><Relationship Id="rId56" Type="http://schemas.openxmlformats.org/officeDocument/2006/relationships/slide" Target="slides/slide52.xml"/><Relationship Id="rId48" Type="http://schemas.openxmlformats.org/officeDocument/2006/relationships/slide" Target="slides/slide44.xml"/><Relationship Id="rId43" Type="http://schemas.openxmlformats.org/officeDocument/2006/relationships/slide" Target="slides/slide39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2.xml"/><Relationship Id="rId59" Type="http://schemas.openxmlformats.org/officeDocument/2006/relationships/slide" Target="slides/slide55.xml"/><Relationship Id="rId46" Type="http://schemas.openxmlformats.org/officeDocument/2006/relationships/slide" Target="slides/slide42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67" Type="http://schemas.openxmlformats.org/officeDocument/2006/relationships/customXml" Target="../customXml/item3.xml"/><Relationship Id="rId62" Type="http://schemas.openxmlformats.org/officeDocument/2006/relationships/presProps" Target="presProps.xml"/><Relationship Id="rId54" Type="http://schemas.openxmlformats.org/officeDocument/2006/relationships/slide" Target="slides/slide50.xml"/><Relationship Id="rId41" Type="http://schemas.openxmlformats.org/officeDocument/2006/relationships/slide" Target="slides/slide37.xml"/><Relationship Id="rId20" Type="http://schemas.openxmlformats.org/officeDocument/2006/relationships/slide" Target="slides/slide16.xml"/><Relationship Id="rId6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57" Type="http://schemas.openxmlformats.org/officeDocument/2006/relationships/slide" Target="slides/slide53.xml"/><Relationship Id="rId49" Type="http://schemas.openxmlformats.org/officeDocument/2006/relationships/slide" Target="slides/slide45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60" Type="http://schemas.openxmlformats.org/officeDocument/2006/relationships/slide" Target="slides/slide56.xml"/><Relationship Id="rId52" Type="http://schemas.openxmlformats.org/officeDocument/2006/relationships/slide" Target="slides/slide48.xml"/><Relationship Id="rId44" Type="http://schemas.openxmlformats.org/officeDocument/2006/relationships/slide" Target="slides/slide40.xml"/><Relationship Id="rId31" Type="http://schemas.openxmlformats.org/officeDocument/2006/relationships/slide" Target="slides/slide27.xml"/><Relationship Id="rId10" Type="http://schemas.openxmlformats.org/officeDocument/2006/relationships/slide" Target="slides/slide6.xml"/><Relationship Id="rId65" Type="http://schemas.openxmlformats.org/officeDocument/2006/relationships/customXml" Target="../customXml/item1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18" Type="http://schemas.openxmlformats.org/officeDocument/2006/relationships/slide" Target="slides/slide14.xml"/><Relationship Id="rId13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637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22529" name="Slide Image Placeholder 2252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30" name="Text Placeholder 2252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206375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22529" name="Slide Image Placeholder 2252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30" name="Text Placeholder 2252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it-incubator.io/free-courses/front-end/samurai-way/reactjs_lesson7&#13;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gist.github.com/sunmeat/2c771f9330a018c35713a75850ac8580&#13;" TargetMode="External"/><Relationship Id="rId2" Type="http://schemas.openxmlformats.org/officeDocument/2006/relationships/hyperlink" Target="https://it-incubator.io/free-courses/front-end/samurai-way/reactjs_lesson8" TargetMode="Externa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it-incubator.io/free-courses/front-end/samurai-way/reactjs_lesson15&#13;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hyperlink" Target="https://it-incubator.io/free-courses/front-end/samurai-way/reactjs_lesson14&#13;" TargetMode="External"/><Relationship Id="rId4" Type="http://schemas.openxmlformats.org/officeDocument/2006/relationships/hyperlink" Target="https://it-incubator.io/free-courses/front-end/samurai-way/reactjs_lesson11%20&#1080;%2012&#13;" TargetMode="External"/><Relationship Id="rId3" Type="http://schemas.openxmlformats.org/officeDocument/2006/relationships/hyperlink" Target="https://github.com/sunmeat/react_samples/tree/main/lesson%202.%20functional%20components" TargetMode="External"/><Relationship Id="rId2" Type="http://schemas.openxmlformats.org/officeDocument/2006/relationships/image" Target="../media/image7.png"/><Relationship Id="rId1" Type="http://schemas.openxmlformats.org/officeDocument/2006/relationships/hyperlink" Target="https://it-incubator.io/free-courses/front-end/samurai-way/reactjs_lesson7&#13;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themeforest.net/category/wordpress/ecommerce&#13;" TargetMode="Externa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it-incubator.io/free-courses/front-end/samurai-way/reactjs_lesson16&#13;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it-incubator.io/free-courses/front-end/samurai-way/reactjs_lesson25&#13;" TargetMode="External"/><Relationship Id="rId1" Type="http://schemas.openxmlformats.org/officeDocument/2006/relationships/hyperlink" Target="https://github.com/sunmeat/react_samples/tree/main/lesson%202.%20props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react_samples/blob/main/lesson%202.%20events/Content.jsx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uk.react.dev/reference/react/hooks&#13;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react_samples/blob/main/lesson%202.%20useState/MyButton.jsx&#13;" TargetMode="External"/><Relationship Id="rId1" Type="http://schemas.openxmlformats.org/officeDocument/2006/relationships/hyperlink" Target="https://react.dev/reference/react/useState&#13;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react_samples/blob/main/lesson%202.%20useEffect/Content.jsx&#13;" TargetMode="External"/><Relationship Id="rId1" Type="http://schemas.openxmlformats.org/officeDocument/2006/relationships/hyperlink" Target="https://react.dev/reference/react/useEffect&#13;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thub.com/sunmeat/react_samples/blob/main/lesson%202.%20useContext/contexts/AppContext.jsx&#13;" TargetMode="External"/><Relationship Id="rId1" Type="http://schemas.openxmlformats.org/officeDocument/2006/relationships/hyperlink" Target="https://react.dev/reference/react/useContext&#13;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b9825f773352a1cb860c6e4b5aebf8a5&#13;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react_samples/blob/main/lesson%202.%20callbacks/src/components/content/Content.jsx" TargetMode="Externa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0ec5cbf5-3bcc-4683-ae9c-504095333f11/uk" TargetMode="External"/><Relationship Id="rId1" Type="http://schemas.openxmlformats.org/officeDocument/2006/relationships/hyperlink" Target="https://materials.itstep.org/content/eccc58be-b99a-4833-96e7-f14da3e74c1d/uk" TargetMode="Externa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41832af3-a678-46bd-bce1-d5b857a63377/uk&#13;" TargetMode="External"/><Relationship Id="rId1" Type="http://schemas.openxmlformats.org/officeDocument/2006/relationships/hyperlink" Target="https://materials.itstep.org/content/2c9aa097-d5b6-437d-a087-7f918a1be833/uk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Functional Components</a:t>
            </a:r>
            <a:endParaRPr 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O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  <p:pic>
        <p:nvPicPr>
          <p:cNvPr id="2" name="Picture 1" descr="state-e2daedeef32054c02a6fc17099b31a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0" y="4142105"/>
            <a:ext cx="5504815" cy="28498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en-US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Функціональні компоненти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— що це і як їх створити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Props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— передача даних у компоненти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Обробники подій — як реагувати на дії користувача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Стан (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State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) — зберігання та оновлення даних компонента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</a:t>
            </a:r>
            <a:r>
              <a:rPr lang="en-US" altLang="en-US" sz="25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хуки </a:t>
            </a: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і навіщо вони потрібні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useState та інші хуки, приклади використання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5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Взаємодія між батьківськими та дочірніми елементами</a:t>
            </a:r>
            <a:endParaRPr lang="en-US" altLang="en-US" sz="25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проєкту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 Code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У терміналі VS Code: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Виходимо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на робочий стіл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Створюємо проєкт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create vite@latest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Вводимо ім’я проєкту, наприклад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hellovite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фреймворк React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мову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JavaScript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(або TypeScript)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hellovite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(переходимо в папку проєкту)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install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(встановлюємо залежності)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run dev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 (запускаємо проєкт)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або навіть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npx vite --open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Створення проєкту в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WebStorm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5-05-09 173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631950"/>
            <a:ext cx="8895080" cy="46907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Функц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ональн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Функціональна компонента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— це спосіб визначення користувацького інтерфейсу (UI)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з використанням JavaScript-функцій.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 є звичайними функціями, які приймають вхідні дані (props) і повертають елементи React (JSX) для відображення на екрані. Вони є основним способом створення компонентів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в сучасному React, особливо після введення хуків (React Hooks) у версії 16.8.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546227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https://it-incubator.io/free-courses/front-end/samurai-way/reactjs_lesson7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Основн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характеристики ФК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Простота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- функціональні компоненти — це чисті функції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(при однакових вхідних даних завжди повертають один і той же результат і не мають побічних ефектів - не змінюють зовнішні змінні, не роблять запити, не логують тощо), не містять складної внутрішньої логіки, якщо не використовуються хуки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 відміну від класових компонентів, функціональні компоненти не використовують ключове слово this, що спрощує роботу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контекстом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появою хуків функціональні компоненти стали повноцінною заміною класовим, так як тепер можуть керувати станом, ефектами, контекстом та іншими аспектами життєвого циклу.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Код функціональних компонентів зазвичай більш читабельний, лаконічний і зрозумілий, особливо для простих компонентів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Причин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використання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Функціональні компоненти підходять для більшості випадків, особливо у сучасних застосунках React.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Вони рекомендуються як стандартний підхід, тому що: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Легше тестувати (через їхню природу як чистих функцій)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Спрощують композицію та повторне використання коду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Підтримують усі можливості React через хуки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Класові компоненти майже не використовуються;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їх можна застосовувати лише в окремих випадках —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для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успадкування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роботи зі старим кодом (legacy), рідкісних бібліотек, які очікують класи, або у навчальних цілях, щоб розуміти, як розвивався React.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 створити ФК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Створення функціональної компоненти зводиться до написання JavaScript-функції, яка повертає JSX-розмітку. Компонента повинна бути експортована, щоб її можна було використовувати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в інших частинах додатка.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Кроки створення: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Створіть функцію (звичайну або стрілкову), яка приймає об'єкт props в якості аргументу (якщо компонента використовує пропси)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 тілі функції повертається JSX-код (синтаксичний цукор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виклику React.createElement), що описує інтерфейс компонента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Використовується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export default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або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й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менований експорт,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щоб компонента була доступна для імпорту в інших файлах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Ім'я компонент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повинно починатися з великої літери,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щоб React міг відрізнити її від звичайних HTML-елементів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export </a:t>
            </a: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Створення окремої папки для компонентів у React-проекті —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це стандартна і хороша практика, особливо якщо проект зростає.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0050" y="2116455"/>
            <a:ext cx="3569335" cy="467804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22605" y="2461260"/>
            <a:ext cx="457200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https://it-incubator.io/free-courses/front-end/samurai-way/reactjs_lesson8</a:t>
            </a:r>
            <a:r>
              <a:rPr lang="ru-RU" altLang="en-US" b="1">
                <a:solidFill>
                  <a:srgbClr val="0070C0"/>
                </a:solidFill>
              </a:rPr>
              <a:t> 9</a:t>
            </a:r>
            <a:r>
              <a:rPr lang="uk-UA" altLang="ru-RU" b="1">
                <a:solidFill>
                  <a:srgbClr val="0070C0"/>
                </a:solidFill>
              </a:rPr>
              <a:t> и 10</a:t>
            </a:r>
            <a:endParaRPr lang="en-US" altLang="en-US" b="1">
              <a:solidFill>
                <a:srgbClr val="0070C0"/>
              </a:solidFill>
            </a:endParaRPr>
          </a:p>
          <a:p>
            <a:endParaRPr lang="en-US" altLang="en-US" b="1">
              <a:solidFill>
                <a:srgbClr val="0070C0"/>
              </a:solidFill>
            </a:endParaRPr>
          </a:p>
          <a:p>
            <a:r>
              <a:rPr lang="uk-UA" altLang="en-US" b="1">
                <a:solidFill>
                  <a:schemeClr val="tx1"/>
                </a:solidFill>
              </a:rPr>
              <a:t>Практика: в</a:t>
            </a:r>
            <a:r>
              <a:rPr lang="uk-UA" altLang="ru-RU" b="1">
                <a:solidFill>
                  <a:schemeClr val="tx1"/>
                </a:solidFill>
              </a:rPr>
              <a:t>и</a:t>
            </a:r>
            <a:r>
              <a:rPr lang="ru-RU" altLang="en-US" b="1">
                <a:solidFill>
                  <a:schemeClr val="tx1"/>
                </a:solidFill>
              </a:rPr>
              <a:t>нести компонент</a:t>
            </a:r>
            <a:r>
              <a:rPr lang="uk-UA" altLang="ru-RU" b="1">
                <a:solidFill>
                  <a:schemeClr val="tx1"/>
                </a:solidFill>
              </a:rPr>
              <a:t>у</a:t>
            </a:r>
            <a:r>
              <a:rPr lang="ru-RU" altLang="en-US" b="1">
                <a:solidFill>
                  <a:schemeClr val="tx1"/>
                </a:solidFill>
              </a:rPr>
              <a:t> </a:t>
            </a:r>
            <a:endParaRPr lang="ru-RU" altLang="en-US" b="1">
              <a:solidFill>
                <a:schemeClr val="tx1"/>
              </a:solidFill>
            </a:endParaRPr>
          </a:p>
          <a:p>
            <a:r>
              <a:rPr lang="ru-RU" altLang="en-US" b="1">
                <a:solidFill>
                  <a:schemeClr val="tx1"/>
                </a:solidFill>
              </a:rPr>
              <a:t>в </a:t>
            </a:r>
            <a:r>
              <a:rPr lang="uk-UA" altLang="ru-RU" b="1">
                <a:solidFill>
                  <a:schemeClr val="tx1"/>
                </a:solidFill>
              </a:rPr>
              <a:t>окремий </a:t>
            </a:r>
            <a:r>
              <a:rPr lang="ru-RU" altLang="en-US" b="1">
                <a:solidFill>
                  <a:schemeClr val="tx1"/>
                </a:solidFill>
              </a:rPr>
              <a:t>файл (</a:t>
            </a:r>
            <a:r>
              <a:rPr lang="en-US" altLang="en-US" b="1">
                <a:solidFill>
                  <a:schemeClr val="tx1"/>
                </a:solidFill>
              </a:rPr>
              <a:t>export default).</a:t>
            </a:r>
            <a:endParaRPr lang="en-US" altLang="en-US" b="1">
              <a:solidFill>
                <a:schemeClr val="tx1"/>
              </a:solidFill>
            </a:endParaRPr>
          </a:p>
          <a:p>
            <a:endParaRPr lang="en-US" altLang="en-US" b="1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default - при імпорті, компонент в іншому файлі можна назвати як завгодно. Альтернатива - іменований експорт, </a:t>
            </a:r>
            <a:r>
              <a:rPr lang="en-US" altLang="en-US" b="1">
                <a:solidFill>
                  <a:schemeClr val="tx1"/>
                </a:solidFill>
              </a:rPr>
              <a:t>export const MyButton = () =&gt; { ... }; </a:t>
            </a:r>
            <a:r>
              <a:rPr lang="en-US" altLang="en-US">
                <a:solidFill>
                  <a:schemeClr val="tx1"/>
                </a:solidFill>
              </a:rPr>
              <a:t>застосовується, якщо в одному файлі кілька компонентів. Мікро-приклад </a:t>
            </a:r>
            <a:r>
              <a:rPr lang="uk-UA" altLang="en-US">
                <a:solidFill>
                  <a:schemeClr val="tx1"/>
                </a:solidFill>
              </a:rPr>
              <a:t>       	</a:t>
            </a:r>
            <a:r>
              <a:rPr lang="en-US" altLang="en-US">
                <a:solidFill>
                  <a:schemeClr val="tx1"/>
                </a:solidFill>
              </a:rPr>
              <a:t>на іменований експорт: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1755" y="6265545"/>
            <a:ext cx="53270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>
                <a:solidFill>
                  <a:srgbClr val="0070C0"/>
                </a:solidFill>
                <a:hlinkClick r:id="rId3" tooltip="" action="ppaction://hlinkfile"/>
              </a:rPr>
              <a:t>https://gist.github.com/sunmeat/2c771f9330a018c35713a75850ac8580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Вимоги до ФК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Компонента повинна бути чистою функцією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(при однакових вхідних даних повертати однаковий результат)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Повернутий результат повинен бути валідним React-елементом (JSX, null, рядок, число, масив елементів тощо)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Компонента може бути як простою (без логіки),    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так і складною (з використанням хуків для стану, ефектів та інших можливостей)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Існує два способи визначення функціональної компоненти — 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з використанням звичайної функції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(function)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або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стрілкової функції (() =&gt; {}).</a:t>
            </a:r>
            <a:endParaRPr lang="en-US" altLang="en-US" sz="23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437380" y="6264275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https://it-incubator.io/free-courses/front-end/samurai-way/reactjs_lesson15</a:t>
            </a:r>
            <a:endParaRPr lang="en-US" altLang="en-US" b="1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58165" y="6354445"/>
            <a:ext cx="4572000" cy="445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uk-UA" altLang="en-US" sz="2300" dirty="0" err="1">
                <a:solidFill>
                  <a:schemeClr val="tx1"/>
                </a:solidFill>
                <a:sym typeface="+mn-ea"/>
              </a:rPr>
              <a:t>про структуру проєкта:</a:t>
            </a:r>
            <a:endParaRPr lang="uk-UA" altLang="en-US" sz="2300" dirty="0" err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Звичайні функції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Використовується ключове слово function. Може бути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як декларацією (function MyComponent), так і виразом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(const MyComponent = function())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Звичайні функції мають власний контекст this,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але у функціональних компонентах це не має значення, оскільки this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там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не використовується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Це більш традиційний синтаксис,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що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може бути зручніший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для розробників,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які звикли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до класичного JavaScript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 деяких випадках він може бути трохи коротший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(немає потреби в const та стрілковій функції)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Звичайні функції (якщо оголошені через function) підтримують hoisting, що дозволяє викликати їх до оголошення в коді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105" y="5634355"/>
            <a:ext cx="5577840" cy="11518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Стрілкові функції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Використовується стрілковий синтаксис ES6 (=&gt;).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Завжди потребує прив’язки до змінної (const, let)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Стрілкові функції не створюють власний контекст this,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 успадковують його з навколишньої області.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 функціональних компонентах це не має значення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Стрілкові функції виглядають сучасно та лаконічно,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але можуть бути менш звичними для деяких розробників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Стрілкові функції не підтримують hoisting, тому їх не можна використовувати до оголошення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тіло функції складається з одного виразу, можна використовувати неявне повернення без фігурних дужок: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const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MyComponent = (props) =&gt; &lt;div&gt;{props.text}&lt;/div&gt;;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00" y="5748020"/>
            <a:ext cx="5454015" cy="108712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Стрілкові чи звичайні?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Звичайні функції рекомендуються в більшості випадків, оскільки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це стандартний підхід у документації React. Вони більш читабельні для великих компонентів з великою кількістю логіки.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Стрілочні функції підходять для невеликих компонентів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мінімальною логікою, особливо якщо використовується неявне повернення, і часто використовуються у функціональному програмуванні та в проектах із сучасним синтаксисом, а також можуть бути зручними при передачі компонентів як пропсів.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Команда React рекомендує звичайні функції (function) </a:t>
            </a:r>
            <a:r>
              <a:rPr lang="uk-UA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для функціональних компонентів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якщо немає особливих причин використовувати стрілочні. Це спрощує читабельність і мінімізує потенційні помилки, пов'язані з особливостями стрілкових функцій. Однак у невеликих проектах або для простих компонентів вибір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між ними — питання особистих уподобань.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ФК та композицію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31800" y="1493520"/>
            <a:ext cx="820039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2200" b="1" dirty="0" err="1">
                <a:solidFill>
                  <a:schemeClr val="tx1"/>
                </a:solidFill>
                <a:ea typeface="Microsoft YaHei" panose="020B0503020204020204" charset="-122"/>
              </a:rPr>
              <a:t>Структура проєкту: </a:t>
            </a:r>
            <a:r>
              <a:rPr lang="en-US" altLang="uk-UA" sz="2200" b="1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endParaRPr lang="en-US" altLang="uk-UA" sz="22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942080" y="407162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https://it-incubator.io/free-courses/front-end/samurai-way/reactjs_lesson7</a:t>
            </a:r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05" y="1944370"/>
            <a:ext cx="3186430" cy="489966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840480" y="1538605"/>
            <a:ext cx="4673600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uk-UA" sz="2200" b="1" dirty="0" err="1">
                <a:solidFill>
                  <a:schemeClr val="tx1"/>
                </a:solidFill>
                <a:sym typeface="+mn-ea"/>
              </a:rPr>
              <a:t>Код: </a:t>
            </a:r>
            <a:r>
              <a:rPr lang="en-US" altLang="en-US" sz="2200" b="1" dirty="0" err="1">
                <a:solidFill>
                  <a:srgbClr val="0070C0"/>
                </a:solidFill>
                <a:sym typeface="+mn-ea"/>
                <a:hlinkClick r:id="rId3" tooltip="" action="ppaction://hlinkfile"/>
              </a:rPr>
              <a:t>https://github.com/sunmeat/react_samples/tree/main/lesson%202.%20functional%20components</a:t>
            </a:r>
            <a:endParaRPr lang="en-US" altLang="en-US" sz="2200" b="1" dirty="0" err="1">
              <a:solidFill>
                <a:srgbClr val="0070C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87165" y="3331210"/>
            <a:ext cx="3649345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uk-UA" sz="2200" b="1" dirty="0" err="1">
                <a:solidFill>
                  <a:schemeClr val="tx1"/>
                </a:solidFill>
                <a:sym typeface="+mn-ea"/>
              </a:rPr>
              <a:t>Що подивитися вдома:</a:t>
            </a:r>
            <a:endParaRPr lang="uk-UA" sz="2200" b="1" dirty="0" err="1">
              <a:solidFill>
                <a:schemeClr val="tx1"/>
              </a:solidFill>
              <a:sym typeface="+mn-ea"/>
            </a:endParaRPr>
          </a:p>
          <a:p>
            <a:r>
              <a:rPr lang="uk-UA" sz="2200" b="1" dirty="0" err="1">
                <a:solidFill>
                  <a:schemeClr val="tx1"/>
                </a:solidFill>
                <a:sym typeface="+mn-ea"/>
              </a:rPr>
              <a:t>1) про компонент</a:t>
            </a:r>
            <a:r>
              <a:rPr lang="uk-UA" altLang="ru-RU" sz="2200" b="1" dirty="0" err="1">
                <a:solidFill>
                  <a:schemeClr val="tx1"/>
                </a:solidFill>
                <a:sym typeface="+mn-ea"/>
              </a:rPr>
              <a:t>и</a:t>
            </a:r>
            <a:endParaRPr lang="ru-RU" sz="2200" b="1" dirty="0" err="1">
              <a:solidFill>
                <a:schemeClr val="tx1"/>
              </a:solidFill>
              <a:sym typeface="+mn-ea"/>
            </a:endParaRPr>
          </a:p>
          <a:p>
            <a:endParaRPr lang="ru-RU" sz="2200" b="1" dirty="0" err="1">
              <a:solidFill>
                <a:schemeClr val="tx1"/>
              </a:solidFill>
              <a:sym typeface="+mn-ea"/>
            </a:endParaRPr>
          </a:p>
          <a:p>
            <a:endParaRPr lang="ru-RU" sz="2200" b="1" dirty="0" err="1">
              <a:solidFill>
                <a:schemeClr val="tx1"/>
              </a:solidFill>
              <a:sym typeface="+mn-ea"/>
            </a:endParaRPr>
          </a:p>
          <a:p>
            <a:r>
              <a:rPr lang="ru-RU" sz="2200" b="1" dirty="0" err="1">
                <a:solidFill>
                  <a:schemeClr val="tx1"/>
                </a:solidFill>
                <a:sym typeface="+mn-ea"/>
              </a:rPr>
              <a:t>2) про верст</a:t>
            </a:r>
            <a:r>
              <a:rPr lang="uk-UA" altLang="ru-RU" sz="2200" b="1" dirty="0" err="1">
                <a:solidFill>
                  <a:schemeClr val="tx1"/>
                </a:solidFill>
                <a:sym typeface="+mn-ea"/>
              </a:rPr>
              <a:t>ку</a:t>
            </a:r>
            <a:endParaRPr lang="ru-RU" sz="2200" b="1" dirty="0" err="1">
              <a:solidFill>
                <a:schemeClr val="tx1"/>
              </a:solidFill>
              <a:sym typeface="+mn-ea"/>
            </a:endParaRPr>
          </a:p>
          <a:p>
            <a:endParaRPr lang="ru-RU" sz="2200" b="1" dirty="0" err="1">
              <a:solidFill>
                <a:schemeClr val="tx1"/>
              </a:solidFill>
              <a:sym typeface="+mn-ea"/>
            </a:endParaRPr>
          </a:p>
          <a:p>
            <a:endParaRPr lang="ru-RU" sz="2200" b="1" dirty="0" err="1">
              <a:solidFill>
                <a:schemeClr val="tx1"/>
              </a:solidFill>
              <a:sym typeface="+mn-ea"/>
            </a:endParaRPr>
          </a:p>
          <a:p>
            <a:r>
              <a:rPr lang="ru-RU" sz="2200" b="1" dirty="0" err="1">
                <a:solidFill>
                  <a:schemeClr val="tx1"/>
                </a:solidFill>
                <a:sym typeface="+mn-ea"/>
              </a:rPr>
              <a:t>3) про </a:t>
            </a:r>
            <a:r>
              <a:rPr lang="en-US" sz="2200" b="1" dirty="0" err="1">
                <a:solidFill>
                  <a:schemeClr val="tx1"/>
                </a:solidFill>
                <a:sym typeface="+mn-ea"/>
              </a:rPr>
              <a:t>CSS-</a:t>
            </a:r>
            <a:r>
              <a:rPr lang="uk-UA" altLang="en-US" sz="2200" b="1" dirty="0" err="1">
                <a:solidFill>
                  <a:schemeClr val="tx1"/>
                </a:solidFill>
                <a:sym typeface="+mn-ea"/>
              </a:rPr>
              <a:t>м</a:t>
            </a:r>
            <a:r>
              <a:rPr lang="uk-UA" sz="2200" b="1" dirty="0" err="1">
                <a:solidFill>
                  <a:schemeClr val="tx1"/>
                </a:solidFill>
                <a:sym typeface="+mn-ea"/>
              </a:rPr>
              <a:t>одулі:</a:t>
            </a:r>
            <a:endParaRPr lang="uk-UA" sz="2200" b="1" dirty="0" err="1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42080" y="511429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sym typeface="+mn-ea"/>
                <a:hlinkClick r:id="rId4" tooltip="" action="ppaction://hlinkfile"/>
              </a:rPr>
              <a:t>https://it-incubator.io/free-courses/front-end/samurai-way/reactjs_lesson</a:t>
            </a:r>
            <a:r>
              <a:rPr lang="ru-RU" altLang="en-US" b="1">
                <a:solidFill>
                  <a:srgbClr val="0070C0"/>
                </a:solidFill>
                <a:sym typeface="+mn-ea"/>
                <a:hlinkClick r:id="rId4" tooltip="" action="ppaction://hlinkfile"/>
              </a:rPr>
              <a:t>11 и 12</a:t>
            </a:r>
            <a:endParaRPr lang="ru-RU" altLang="en-US" b="1">
              <a:solidFill>
                <a:srgbClr val="0070C0"/>
              </a:solidFill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080510" y="626491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5" tooltip="" action="ppaction://hlinkfile"/>
              </a:rPr>
              <a:t>https://it-incubator.io/free-courses/front-end/samurai-way/reactjs_lesson14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Снимок экрана 2025-05-12 1513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" y="1448435"/>
            <a:ext cx="8425815" cy="54095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Ще ціле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море практики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" y="1898015"/>
            <a:ext cx="9102090" cy="46291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34340" y="1463675"/>
            <a:ext cx="8162290" cy="2160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https://themeforest.net/category/wordpress/ecommerce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Надивленність макетів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7486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https://dribbble.com/search/product-store-website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https://dribbble.com/search/e-commerce-website-design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https://dribbble.com/search/restaurant-website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https://dribbble.com/search/cafe-website-design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https://dribbble.com/search/game-website-design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https://dribbble.com/search/music-event-landing-page-design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https://dribbble.com/search/portfolio-website-design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https://www.behance.net/search/projects/cafe%20website%20design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https://www.behance.net/search/projects/game%20website%20design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https://www.awwwards.com/inspiration_search/?text=cafe%20website%20design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https://www.awwwards.com/inspiration_search/?text=Business%20%26%20Corporate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https://www.awwwards.com/inspiration_search/?text=cat%20cafe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https://lookup.design/search?query=footer&amp;page=1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https://playground.com/design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https://nicepage.com/templates?term=online+store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70C0"/>
                </a:solidFill>
                <a:ea typeface="Microsoft YaHei" panose="020B0503020204020204" charset="-122"/>
              </a:rPr>
              <a:t>https://htmlrev.com/free-html-templates.html</a:t>
            </a: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3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Шаблон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макет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122" name="Text Box 5121"/>
          <p:cNvSpPr txBox="1"/>
          <p:nvPr/>
        </p:nvSpPr>
        <p:spPr>
          <a:xfrm>
            <a:off x="476885" y="13589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https://html5up.net/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https://www.free-css.com/free-css-layouts/page1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https://nicepage.com/ru/shablony-veb-saytov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https://ru.wix.com/website/templates/html/most-popular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https://layoutflow.com/tag/free-website-templates/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https://t.me/build_html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https://htmlcodex.com/template/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https://onepagelove.com/templates/free-templates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https://templatemo.com/page/1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https://codepen.io/search/pens?q=fluid+layout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https://www.frontendpractice.com/projects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1257300" lvl="2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2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https://cheatsheets.zip/css3</a:t>
            </a: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endParaRPr lang="en-US" altLang="en-US" sz="22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47675" algn="l"/>
                <a:tab pos="897255" algn="l"/>
                <a:tab pos="1346200" algn="l"/>
                <a:tab pos="1795780" algn="l"/>
                <a:tab pos="2244725" algn="l"/>
                <a:tab pos="2694305" algn="l"/>
                <a:tab pos="3143250" algn="l"/>
                <a:tab pos="3592830" algn="l"/>
                <a:tab pos="4041775" algn="l"/>
                <a:tab pos="4491355" algn="l"/>
                <a:tab pos="4940300" algn="l"/>
                <a:tab pos="5389880" algn="l"/>
                <a:tab pos="5838825" algn="l"/>
                <a:tab pos="6288405" algn="l"/>
                <a:tab pos="6737350" algn="l"/>
                <a:tab pos="7186930" algn="l"/>
                <a:tab pos="7635875" algn="l"/>
                <a:tab pos="8085455" algn="l"/>
                <a:tab pos="8534400" algn="l"/>
                <a:tab pos="898398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Приклади сайтів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122" name="Text Box 5121"/>
          <p:cNvSpPr txBox="1"/>
          <p:nvPr/>
        </p:nvSpPr>
        <p:spPr>
          <a:xfrm>
            <a:off x="476885" y="1358900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https://froont.com/showcase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https://www.moodmacher.de/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https://www.smashingmagazine.com/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https://sunnysideco.vercel.app/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https://froont.com/froont-demo/kickstarter-basics#button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https://sophia-banou.github.io/planets-facts/planets/earth/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https://ndk1195.github.io/art-gallery-website/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https://startbootstrap.com/previews/freelancer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https://startbootstrap.com/previews/agency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https://startbootstrap.com/previews/clean-blog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https://startbootstrap.com/previews/shop-homepage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https://colorlibhub.com/illdy/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https://colorlibhub.com/activello/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https://colorlibhub.com/blaskan/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  <a:p>
            <a:pPr marL="342900" indent="-342900" algn="l" defTabSz="457200">
              <a:buSzPct val="85000"/>
              <a:buFont typeface="Arial" panose="020B0604020202020204" pitchFamily="34" charset="0"/>
              <a:buChar char="•"/>
              <a:tabLst>
                <a:tab pos="214630" algn="l"/>
                <a:tab pos="662305" algn="l"/>
                <a:tab pos="1111250" algn="l"/>
                <a:tab pos="1560830" algn="l"/>
                <a:tab pos="2009775" algn="l"/>
                <a:tab pos="2459355" algn="l"/>
                <a:tab pos="2908300" algn="l"/>
                <a:tab pos="3357880" algn="l"/>
                <a:tab pos="3806825" algn="l"/>
                <a:tab pos="4256405" algn="l"/>
                <a:tab pos="4705350" algn="l"/>
                <a:tab pos="5154930" algn="l"/>
                <a:tab pos="5603875" algn="l"/>
                <a:tab pos="6053455" algn="l"/>
                <a:tab pos="6502400" algn="l"/>
                <a:tab pos="6951980" algn="l"/>
                <a:tab pos="7400925" algn="l"/>
                <a:tab pos="7850505" algn="l"/>
                <a:tab pos="8299450" algn="l"/>
                <a:tab pos="8749030" algn="l"/>
                <a:tab pos="9197975" algn="l"/>
              </a:tabLst>
            </a:pPr>
            <a:r>
              <a:rPr lang="en-US" altLang="en-US" sz="2000" b="1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a typeface="Microsoft YaHei" panose="020B0503020204020204" charset="-122"/>
              </a:rPr>
              <a:t>https://colorlibhub.com/tyche/</a:t>
            </a:r>
            <a:endParaRPr lang="en-US" altLang="en-US" sz="2000" b="1" dirty="0" err="1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Props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Props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(скорочено від "properties") — це механізм передачі даних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від батьківського компонента до дочірнього в React.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Props представляють собою об’єкт, який містить дані, передані компонент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при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її оголошенні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. Вони не змінюються всередині компонента, тобто дочірній компонент не може змінювати отримані props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Props передаються у компонент як атрибути в JSX: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457200" lvl="1" indent="4572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&lt;MyComponent name="Alex" age={36} /&gt;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Всередині компонента props доступні як аргумент функції: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457200" lvl="1" indent="4572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chemeClr val="tx1"/>
                </a:solidFill>
                <a:ea typeface="Microsoft YaHei" panose="020B0503020204020204" charset="-122"/>
              </a:rPr>
              <a:t>function MyComponent(props) {}</a:t>
            </a:r>
            <a:endParaRPr lang="en-US" altLang="en-US" sz="18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Props можуть містити будь-які типи даних: рядки, числа, об’єкти, масиви, функції та навіть інші компоненти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Props забезпечують односторонній потік даних (від батька до дитини), що відповідає принципу односпрямованого потоку.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262370"/>
            <a:ext cx="4572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https://it-incubator.io/free-courses/front-end/samurai-way/reactjs_lesson16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Цілі та завдання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Props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Props дозволяють передавати дані (наприклад, текст, налаштування, об’єкти) від одного компонента до іншого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 допомогою props можна налаштовувати поведінку та відображення компонента, роблячи його багаторазовим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Props підтримують композицію компонентів, дозволяючи створювати складні інтерфейси з простих будівельних блоків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Props дають можливість батьківському компоненту керувати дочірніми компонентами, передаючи їм необхідні дані або обробники подій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компонент не використовує props, його можна визначити без аргументу: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function MyComponent() {}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пропси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Структура проєкту: без змін</a:t>
            </a:r>
            <a:endParaRPr lang="uk-UA" altLang="ru-RU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css-</a:t>
            </a: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файли</a:t>
            </a:r>
            <a:r>
              <a:rPr lang="ru-RU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: без </a:t>
            </a:r>
            <a:r>
              <a:rPr lang="uk-UA" altLang="ru-RU" sz="2500" b="1" dirty="0" err="1">
                <a:solidFill>
                  <a:schemeClr val="tx1"/>
                </a:solidFill>
                <a:sym typeface="+mn-ea"/>
              </a:rPr>
              <a:t>змін</a:t>
            </a:r>
            <a:endParaRPr lang="ru-RU" altLang="ru-RU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Пропс</a:t>
            </a: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ru-RU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 передают</a:t>
            </a: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ь</a:t>
            </a:r>
            <a:r>
              <a:rPr lang="ru-RU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ся в </a:t>
            </a:r>
            <a:r>
              <a:rPr lang="en-US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App.jsx</a:t>
            </a:r>
            <a:endParaRPr lang="en-US" altLang="ru-RU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Застосування пропсів в </a:t>
            </a:r>
            <a:r>
              <a:rPr lang="ru-RU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код</a:t>
            </a: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ru-RU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.jsx </a:t>
            </a: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</a:t>
            </a:r>
            <a:endParaRPr lang="uk-UA" altLang="ru-RU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Код:</a:t>
            </a:r>
            <a:r>
              <a:rPr lang="en-US" altLang="uk-UA" sz="2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https://github.com/sunmeat/react_samples/tree/main/lesson%202.%20props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Про метод масиву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map: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</a:rPr>
              <a:t> </a:t>
            </a:r>
            <a:r>
              <a:rPr lang="en-US" altLang="en-US" sz="2100" b="1" dirty="0" err="1">
                <a:solidFill>
                  <a:srgbClr val="0070C0"/>
                </a:solidFill>
                <a:ea typeface="Microsoft YaHei" panose="020B0503020204020204" charset="-122"/>
                <a:hlinkClick r:id="rId2" tooltip="" action="ppaction://hlinkfile"/>
              </a:rPr>
              <a:t>https://it-incubator.io/free-courses/front-end/samurai-way/reactjs_lesson25</a:t>
            </a:r>
            <a:endParaRPr lang="en-US" altLang="en-US" sz="21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546227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Обробники подій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Обробники подій в React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— це функції, які викликаються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 відповідь на дії користувача (наприклад, клік, введення тексту, наведення курсору). У функціональних компонентах обробники подій створюються як звичайні функції всередині компонента або передаються через props від батьківського компонента.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Обробники прив'язуються до елементів JSX за допомогою атрибутів, що починаються з on (наприклад, onClick, onChange, onSubmit)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атрибут події передається посилання на функцію, а не її виклик:</a:t>
            </a:r>
            <a:r>
              <a:rPr lang="ru-RU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&lt;button onClick={handleClick}&gt;Click&lt;/button&gt;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sym typeface="+mn-ea"/>
              </a:rPr>
              <a:t>Обробники подій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Обробники зазвичай визначаються як функції всередині тіла компоненти: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" y="2303780"/>
            <a:ext cx="8987155" cy="219900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15315" y="4599305"/>
            <a:ext cx="7974330" cy="12452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2500">
                <a:solidFill>
                  <a:schemeClr val="tx1"/>
                </a:solidFill>
              </a:rPr>
              <a:t>Батьківський компонент може передати обробник події як пропс, щоб керувати поведінкою дочірнього компонента.</a:t>
            </a:r>
            <a:endParaRPr lang="en-US" altLang="en-US" sz="25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Синтетичні події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React використовує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так звані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синтетичні події</a:t>
            </a: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(Synthetic Events) — обгортку над нативними подіями, створену для кросбраузерної сумісності та оптимізації.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Синтетичні події — це об’єкти, створені React, з єдиним API, незалежно від браузера.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Вони автоматично обробляються всередині React через власну систему подій (event delegation) — наприклад, всі події прикріплюються до кореневого елемента (document або root), а не безпосередньо до DOM-елементів.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Це узагальнені та оптимізовані версії нативних подій з єдиною поведінкою у будь-якому браузері.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Проблеми несинтетичних подій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Подія onWheel (для прокрутки колесом миші) замінила застарілу onMouseWheel,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але старі браузери можуть підтримувати лише останню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У старих версіях Safari подія onContextMenu може працювати нестабільно, потребуючи додаткових перевірок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Властивість event.target може повертати різні типи об’єктів залежно від браузера (наприклад, у Firefox і Chrome зазвичай однаково, але в старих Opera можливі нюанси)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Властивість event.which (код клавіші) у старих браузерах могла бути не визначена, доводиться використовувати event.keyCode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У macOS event.metaKey (Command) використовується частіше, ніж event.ctrlKey,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тоді як у Windows event.ctrlKey більш поширений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У старих версіях Safari event.metaKey може не працювати коректно при певних комбінаціях клавіш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Події сенсорного вводу (touchstart, touchmove, touchend) та події вказівника (pointerdown, pointermove, pointerup) мають різну підтримку в браузерах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Подія onChange на &lt;input&gt; у деяких версіях Firefox може не спрацьовувати </a:t>
            </a:r>
            <a:r>
              <a:rPr lang="uk-UA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1500" dirty="0" err="1">
                <a:solidFill>
                  <a:schemeClr val="tx1"/>
                </a:solidFill>
                <a:ea typeface="Microsoft YaHei" panose="020B0503020204020204" charset="-122"/>
              </a:rPr>
              <a:t>до втрати фокусу, на відміну від Chrome</a:t>
            </a:r>
            <a:endParaRPr lang="en-US" altLang="en-US" sz="1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sym typeface="+mn-ea"/>
              </a:rPr>
              <a:t>Синтетич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ні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події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730" y="1430655"/>
            <a:ext cx="6287135" cy="54152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події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748665" y="1519555"/>
            <a:ext cx="757999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https://github.com/sunmeat/react_samples/blob/main/lesson%202.%20events/Content.jsx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66420" y="2528570"/>
            <a:ext cx="7961630" cy="34150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20204" pitchFamily="34" charset="0"/>
            </a:pPr>
            <a:r>
              <a:rPr lang="uk-UA" sz="1800">
                <a:solidFill>
                  <a:schemeClr val="tx1"/>
                </a:solidFill>
              </a:rPr>
              <a:t>Особливості обробки синтетичних подій (на відміну від ванільного </a:t>
            </a:r>
            <a:r>
              <a:rPr lang="en-US" sz="1800">
                <a:solidFill>
                  <a:schemeClr val="tx1"/>
                </a:solidFill>
              </a:rPr>
              <a:t>JS):</a:t>
            </a:r>
            <a:endParaRPr lang="en-US" sz="18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8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>
                <a:solidFill>
                  <a:schemeClr val="tx1"/>
                </a:solidFill>
              </a:rPr>
              <a:t>Синтетичні події</a:t>
            </a:r>
            <a:r>
              <a:rPr sz="1800">
                <a:solidFill>
                  <a:schemeClr val="tx1"/>
                </a:solidFill>
              </a:rPr>
              <a:t>: React обгортає нативні події в SyntheticEvent </a:t>
            </a:r>
            <a:r>
              <a:rPr lang="en-US" sz="1800">
                <a:solidFill>
                  <a:schemeClr val="tx1"/>
                </a:solidFill>
              </a:rPr>
              <a:t>     </a:t>
            </a:r>
            <a:r>
              <a:rPr sz="1800">
                <a:solidFill>
                  <a:schemeClr val="tx1"/>
                </a:solidFill>
              </a:rPr>
              <a:t>для кросбраузерності</a:t>
            </a:r>
            <a:endParaRPr sz="18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>
                <a:solidFill>
                  <a:schemeClr val="tx1"/>
                </a:solidFill>
              </a:rPr>
              <a:t>Прив’язка подій</a:t>
            </a:r>
            <a:r>
              <a:rPr sz="1800">
                <a:solidFill>
                  <a:schemeClr val="tx1"/>
                </a:solidFill>
              </a:rPr>
              <a:t>: Події передаються як пропси (onClick={handleClick}), </a:t>
            </a:r>
            <a:r>
              <a:rPr sz="1800" b="1">
                <a:solidFill>
                  <a:schemeClr val="tx1"/>
                </a:solidFill>
              </a:rPr>
              <a:t>імена у camelCase</a:t>
            </a:r>
            <a:r>
              <a:rPr sz="1800">
                <a:solidFill>
                  <a:schemeClr val="tx1"/>
                </a:solidFill>
              </a:rPr>
              <a:t> (onClick замість onclick), без прямого addEventListener</a:t>
            </a:r>
            <a:endParaRPr sz="18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>
                <a:solidFill>
                  <a:schemeClr val="tx1"/>
                </a:solidFill>
              </a:rPr>
              <a:t>Контекст this</a:t>
            </a:r>
            <a:r>
              <a:rPr sz="1800">
                <a:solidFill>
                  <a:schemeClr val="tx1"/>
                </a:solidFill>
              </a:rPr>
              <a:t>: У функціональних компонентах this </a:t>
            </a:r>
            <a:r>
              <a:rPr lang="en-US" sz="1800">
                <a:solidFill>
                  <a:schemeClr val="tx1"/>
                </a:solidFill>
              </a:rPr>
              <a:t>                             </a:t>
            </a:r>
            <a:r>
              <a:rPr sz="1800">
                <a:solidFill>
                  <a:schemeClr val="tx1"/>
                </a:solidFill>
              </a:rPr>
              <a:t>не використовується, у класових потрібно явно прив’язувати методи (.bind(this))</a:t>
            </a:r>
            <a:endParaRPr sz="18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 b="1">
                <a:solidFill>
                  <a:schemeClr val="tx1"/>
                </a:solidFill>
              </a:rPr>
              <a:t>Запобігання дій за замовчуванням</a:t>
            </a:r>
            <a:r>
              <a:rPr sz="1800">
                <a:solidFill>
                  <a:schemeClr val="tx1"/>
                </a:solidFill>
              </a:rPr>
              <a:t>: Повернення false не працює; слід використовувати event.preventDefault()</a:t>
            </a:r>
            <a:endParaRPr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Хуки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Хуки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— це спеціальні функції в React, що починаються з use..., наприклад, useState або useEffect. Вони дозволяють функціональним компонентам використовувати стан, життєвий цикл, побічні ефекти та інші можливості React, які раніше були доступні тільки в класах.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Це спосіб зробити функціональні компоненти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розумнішими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, зберігаючи їх простоту і читабельність. Вони дають розробникам інструменти для управління динамікою додатка без складних конструкцій.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Саме слово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хук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(hook) означає точку підключення — можливість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зачепитися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за певний етап або поведінку системи, щоб вставити свою логіку.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0170" y="6356350"/>
            <a:ext cx="90316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1" tooltip="" action="ppaction://hlinkfile"/>
              </a:rPr>
              <a:t>https://uk.react.dev/reference/react/hooks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Яку проблему вирішують хуки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До появи хуків в React (до версії 16.8 в лютому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2019 року) для роботи зі станом і життєвим циклом доводилося використовувати класові компоненти. 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Це призводило до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захаращення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коду: методи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на кшталт componentDidMount() або componentDidUpdate() часто містили незв'язану логіку, а повторне використання коду було ускладнене.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endParaRPr lang="uk-UA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uk-UA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Хуки вирішують цю проблему, дозволяючи писати компактні функціональні компоненти, де логіка організована простіше і зрозуміліше, а повторне 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	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використання стає природним.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Причина появлен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я хук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Хуки з'явилися у відповідь на запити спільноти React спростити розробку. Класові компоненти створювали складнощі: прив'язка методів, робота з this, дублювання логіки в різних методах життєвого циклу. Функціональні компоненти були простішими, але не могли керувати станом. На прохання </a:t>
            </a:r>
            <a:r>
              <a:rPr lang="uk-UA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спільноти</a:t>
            </a: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, команда React </a:t>
            </a:r>
            <a:r>
              <a:rPr lang="uk-UA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розробила </a:t>
            </a: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хуки, щоб об'єднати найкраще: лаконічність функціональних компонентів </a:t>
            </a:r>
            <a:r>
              <a:rPr lang="uk-UA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та</a:t>
            </a:r>
            <a:r>
              <a:rPr lang="en-US" altLang="en-US" sz="2700" dirty="0" err="1">
                <a:solidFill>
                  <a:schemeClr val="tx1"/>
                </a:solidFill>
                <a:ea typeface="Microsoft YaHei" panose="020B0503020204020204" charset="-122"/>
              </a:rPr>
              <a:t> потужність управління станом / 	побічними ефектами.</a:t>
            </a:r>
            <a:endParaRPr lang="en-US" altLang="en-US" sz="2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Хуки - </a:t>
            </a: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це потужно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:)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Хуки роблять код чистішим і логічнішим. Замість розкиданої логіки в класах можна згрупувати все, що пов'язано,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 одному місці. Вони дозволяють легко створювати свої хуки для повторного використання, наприклад, для роботи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з API або формами.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З точки зору про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ктування програмного забезпечення,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хуки втілюють принципи модульності та композиції. 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Вони сприяють декларативному стилю програмування (спосіб написання коду, при якому описано, що повинно відбуватися, а не як), і роблять додатки більш передбачуваними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та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тестованими.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Які бувають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хуки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useState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керує станом компонента, дозволяючи зберігати та оновлювати дані (наприклад, лічильник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або текст у формі)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useEffect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обробляє побічні ефекти, такі як запити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до API, підписки на події або зміни в DOM, синхронізуючи компонент із зовнішнім світом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useContext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надає доступ до глобальних даних через контекст React, спрощуючи передачу даних без пропсів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useRef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- створює посилання на DOM-елемент або зберігає значення, яке не скидається при рендерингу 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Також є можливість створювати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кастомні хуки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комбінуючи вбудовані, для повторного використання логіки (наприклад, хук для роботи з формою)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Обмеження хуків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Хуки, такі як useState або useEffect,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повинні викликатися тільки на верхньому рівні функціонального компонента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або кастомного хука. Це означає, що їх не можна використовувати всередині циклів, умовних операторів (if/else) або звичайних JavaScript-функцій. Чому? React запам'ятовує порядок викликів хуків, і якщо вони викликаються непередбачувано (наприклад, у циклі), це порушує його внутрішню логіку, приводячи до помилок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Хуки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можна викликати тільки з функціональних компонентів React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або з інших кастомних хуків.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Їх не можна використовувати в класових компонентах, звичайних JavaScript-функціях або будь-яких інших місцях. Це пов'язано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 тим, що хуки залежать від механізму React для управління станом і життєвим циклом, який працює тільки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      		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 функціональних компонентах.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useState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useState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— це основний хук React для управління станом у функціональних компонентах. Він дозволяє зберігати та оновлювати дані, такі як текст у полі введення або значення лічильника. useState викликається з початковим значенням і повертає масив: поточний стан і функцію для його зміни. useState наділяє компонент пам'яттю, зберігаючи дані між рендерами. 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085" y="6395720"/>
            <a:ext cx="8986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  <a:sym typeface="+mn-ea"/>
                <a:hlinkClick r:id="rId1" tooltip="" action="ppaction://hlinkfile"/>
              </a:rPr>
              <a:t>https://react.dev/reference/react/useState</a:t>
            </a:r>
            <a:endParaRPr lang="en-US" altLang="en-US" b="1">
              <a:solidFill>
                <a:srgbClr val="0070C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88975" y="4879340"/>
            <a:ext cx="756539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500" b="1">
                <a:solidFill>
                  <a:srgbClr val="0070C0"/>
                </a:solidFill>
                <a:hlinkClick r:id="rId2" tooltip="" action="ppaction://hlinkfile"/>
              </a:rPr>
              <a:t>https://github.com/sunmeat/react_samples/blob/main/lesson%202.%20useState/MyButton.jsx</a:t>
            </a:r>
            <a:endParaRPr lang="en-US" altLang="en-US" sz="25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Стан (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State)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Стан (State)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— це об’єкт, який зберігає динамічні дані компонента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та визначає його поведінку або відображення.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 функціональних компонентах стан керується за допомогою хука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useState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який дозволяє додавати локальний стан.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Стан належить конкретному компоненту і не доступний іншим компонентам, якщо його не передати через props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Стан може змінюватися у відповідь на дії користувача або інші події, що викликає повторний рендер компонента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Стан не можна змінювати напряму; для оновлення використовується спеціальна функція-сеттер, надана useState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Стан ініціалізується при першому рендері компонента                     і зберігається між рендерами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Стан (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State)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Об’єкт state описує </a:t>
            </a:r>
            <a:r>
              <a:rPr lang="en-US" altLang="en-US" sz="1700" dirty="0" err="1">
                <a:solidFill>
                  <a:srgbClr val="0070C0"/>
                </a:solidFill>
                <a:ea typeface="Microsoft YaHei" panose="020B0503020204020204" charset="-122"/>
                <a:cs typeface="Arial" panose="020B0604020202020204" pitchFamily="34" charset="0"/>
              </a:rPr>
              <a:t>внутрішній стан компонента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. Він схожий на props,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 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але з тією різницею, що </a:t>
            </a:r>
            <a:r>
              <a:rPr lang="en-US" altLang="en-US" sz="1700" u="sng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стан визначається всередині компонента і доступний тільки йому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Якщо props — це вхідні дані, що передаються ззовні, то state зберігає об’єкти, які створюються всередині компонента і повністю від нього залежать.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На відміну від props, значення в state можна і потрібно змінювати.</a:t>
            </a:r>
            <a:endParaRPr lang="en-US" altLang="en-US" sz="1700" b="1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Ще важливо: значення з state повинні використовуватися при рендерингу. Якщо якийсь об’єкт не використовується у рендері компонента, його немає сенсу зберігати у state.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Зазвичай state описує візуальні властивості елементів, що можуть змінюватися при взаємодії з користувачем. Наприклад: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Кнопку натиснули — змінили колір, тінь або інший стиль.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Натиснули повторно — повернули початковий стан.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useState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Хук useState приймає початкове значення стану і повертає масив з двох елементів: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Поточне значення стану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Функція-сеттер для оновлення стану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При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клад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використання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: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const [count, setCount] = useState(0);</a:t>
            </a:r>
            <a:endParaRPr lang="en-US" altLang="en-US" sz="2200" b="1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Є рекомендація </a:t>
            </a: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  <a:cs typeface="Arial" panose="020B0604020202020204" pitchFamily="34" charset="0"/>
              </a:rPr>
              <a:t>намагатися робити стан настільки простим, наскільки це можливо, і мінімізувати кількість компонентів без стану.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164830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можна зберігати в стані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 стані (state) можна зберігати будь-які дані, що впливають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на відображення або поведінку компонента: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Дані, які змінюються під час роботи застосунку: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Лічильники (наприклад, кількість кліків)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Значення форм (введений текст, обрані опції)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Прапори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(наприклад, показати/сховати модальне вікно)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Дані, отримані від користувача або API (наприклад,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список елементів)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Дані, що безпосередньо впливають на рендеринг: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Поточна тема (світла/темна)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Стан завантаження (loading, success, error)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Що не варто зберігати в </a:t>
            </a:r>
            <a:r>
              <a:rPr lang="en-US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state</a:t>
            </a:r>
            <a:endParaRPr lang="en-US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дані можна обчислити на основі інших даних (наприклад, сума значень масиву), їх краще обчислювати під час рендерингу або використовувати хук useMemo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Статичні дані, які не змінюються (наприклад, константи), краще зберігати поза state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Замість зберігання props у state напряму, краще використовувати їх як є або обчислювати похідні дані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роботи з посиланнями на DOM-елементи використовується хук useRef, а не state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даних, спільних для всього застосунку (наприклад,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дані користувача), краще використовувати useContext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або менеджери стану (Redux, Zustand)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Вид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компонент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lang="en-US" altLang="en-US" sz="2100" dirty="0" err="1">
              <a:solidFill>
                <a:schemeClr val="tx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75" y="1493520"/>
            <a:ext cx="7439025" cy="923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" y="2528570"/>
            <a:ext cx="8585200" cy="43014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Хук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useEffect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useEffect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відповідає за виконання побічних ефектів у компонентах, таких як запити до сервера, підписки на події або оновлення DOM. Він запускається після рендерингу компонента і допомагає синхронізувати додаток із зовнішніми даними. Необхідно вказати, що потрібно зробити, і React виконує це в потрібний момент. useEffect — це спосіб сказати: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Коли компонент буде готовий, зроби ось це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. Він замінює методи життєвого циклу класів, але набагато простіший у використанні.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085" y="6395720"/>
            <a:ext cx="8986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  <a:sym typeface="+mn-ea"/>
                <a:hlinkClick r:id="rId1" tooltip="" action="ppaction://hlinkfile"/>
              </a:rPr>
              <a:t>https://react.dev/reference/react/useEffect</a:t>
            </a:r>
            <a:endParaRPr lang="ru-RU" altLang="en-US" b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21200" y="5273675"/>
            <a:ext cx="39833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https://github.com/sunmeat/react_samples/blob/main/lesson%202.%20useEffect/Content.jsx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Метод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ЖЦ компоненти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Життєвий цикл компонент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и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— це послідовність етапів, через які проходить компонент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від моменту створення до видалення з DOM.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У функціональних компонентах життєвий цикл керується через хуки і поділяється на три основні фази: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Монтування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(Mounting) — компонент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створюється і додається в DOM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Оновлення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(Updating) — компонент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ререндериться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через зміни в props або state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300" b="1" dirty="0" err="1">
                <a:solidFill>
                  <a:schemeClr val="tx1"/>
                </a:solidFill>
                <a:ea typeface="Microsoft YaHei" panose="020B0503020204020204" charset="-122"/>
              </a:rPr>
              <a:t>Розмонтування 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(Unmounting) — компонент</a:t>
            </a:r>
            <a:r>
              <a:rPr lang="uk-UA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300" dirty="0" err="1">
                <a:solidFill>
                  <a:schemeClr val="tx1"/>
                </a:solidFill>
                <a:ea typeface="Microsoft YaHei" panose="020B0503020204020204" charset="-122"/>
              </a:rPr>
              <a:t> видаляється з DOM</a:t>
            </a:r>
            <a:endParaRPr lang="en-US" altLang="en-US" sz="23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Монтування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Компонента створюється, її початковий стан встановлюється, і вона рендериться в DOM. Перший виклик функції компоненти + хук useEffect з порожнім масивом залежностей: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useEffect(() =&gt; {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console.log('Компонент</a:t>
            </a: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змонтовано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');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}, []);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Приклади завдань: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Ініціалізація даних (наприклад, завантаження даних з API) 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Підписка на події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Встановлення таймерів (setInterval, setTimeout)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Оновлення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перемальовується, коли змінюються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її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пропси або стан. Щоб запустити оновлення, необхідно виконати повторний виклик функції компонент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+ хук useEffect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непустим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масивом залежностей: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useEffect(() =&gt; {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 console.log('Компонент</a:t>
            </a: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оновлено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');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}, [prop, state]);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Приклади завдань: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Реакція на зміну пропсів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Синхронізація із зовнішніми джерелами даних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Оновлення UI залежно від нових даних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Розмонтування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 видаляється з DOM, і всі пов'язані ресурси очищ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ються.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Для відстеження цього етапу потрібно зробити повернення функції очищення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з </a:t>
            </a:r>
            <a:r>
              <a:rPr lang="uk-UA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тіла </a:t>
            </a: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useEffect: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useEffect(() =&gt; {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  const timer = setInterval(() =&gt; console.log('Таймер'), 1000);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  return () =&gt; {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    clearInterval(timer);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    console.log('Компонен</a:t>
            </a:r>
            <a:r>
              <a:rPr lang="uk-UA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ту</a:t>
            </a: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розмонтовано</a:t>
            </a: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');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  };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b="1" dirty="0" err="1">
                <a:solidFill>
                  <a:schemeClr val="tx1"/>
                </a:solidFill>
                <a:ea typeface="Microsoft YaHei" panose="020B0503020204020204" charset="-122"/>
              </a:rPr>
              <a:t>}, []);</a:t>
            </a:r>
            <a:endParaRPr lang="en-US" altLang="en-US" sz="16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Приклади завдань: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Очищення підписок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Видалення таймерів (clearInterval, clearTimeout)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600" dirty="0" err="1">
                <a:solidFill>
                  <a:schemeClr val="tx1"/>
                </a:solidFill>
                <a:ea typeface="Microsoft YaHei" panose="020B0503020204020204" charset="-122"/>
              </a:rPr>
              <a:t>Скасування запитів до API</a:t>
            </a:r>
            <a:endParaRPr lang="en-US" altLang="en-US" sz="16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Особливості керування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ЖЦ</a:t>
            </a:r>
            <a:endParaRPr 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Хук useEffect приймає два аргументи: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Функцію з логікою ефекту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Масив залежностей, який визначає, коли ефект повинен виконуватися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Якщо масив залежностей порожній ([]), ефект виконується лише </a:t>
            </a:r>
            <a:r>
              <a:rPr lang="uk-UA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при монтуванні та розмонтуванні.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Якщо зазначені залежності ([prop, state]), ефект виконується при їх зміні.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Функція, яку повертає useEffect, виконується перед наступним викликом ефекту або при розмонтуванні компонента.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Рекомендації: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Мінімізувати кількість ефектів у компоненті для читабельності коду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Розділяти складні ефекти на кілька useEffect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dirty="0" err="1">
                <a:solidFill>
                  <a:schemeClr val="tx1"/>
                </a:solidFill>
                <a:ea typeface="Microsoft YaHei" panose="020B0503020204020204" charset="-122"/>
              </a:rPr>
              <a:t>Вказувати всі залежності у масиві, щоб уникнути непередбачуваної поведінки</a:t>
            </a:r>
            <a:endParaRPr lang="en-US" altLang="en-US" sz="18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Хук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useContext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useContext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дозволяє легко отримувати дані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з контексту React, який використовується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для передачі глобальної інформації, наприклад, теми оформлення або даних користувача,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без необхідності прокидати пропси через всі компоненти. Потрібно вказати, який контекст необхідно використовувати, і React поверне його значення. useContext — це як загальне сховище даних, з якого будь-який компонент може взяти потрібні дані, спрощуючи структуру додатка.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085" y="6395720"/>
            <a:ext cx="8986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00FF"/>
                </a:solidFill>
                <a:sym typeface="+mn-ea"/>
                <a:hlinkClick r:id="rId1" tooltip="" action="ppaction://hlinkfile"/>
              </a:rPr>
              <a:t>https://react.dev/reference/react/useContext</a:t>
            </a:r>
            <a:endParaRPr lang="ru-RU" altLang="en-US" b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70585" y="5501640"/>
            <a:ext cx="73634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solidFill>
                  <a:srgbClr val="0070C0"/>
                </a:solidFill>
                <a:hlinkClick r:id="rId2" tooltip="" action="ppaction://hlinkfile"/>
              </a:rPr>
              <a:t>https://github.com/sunmeat/react_samples/blob/main/lesson%202.%20useContext/contexts/AppContext.jsx</a:t>
            </a:r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Переваги</a:t>
            </a:r>
            <a:r>
              <a:rPr lang="ru-RU" altLang="en-US" sz="4200" dirty="0" err="1">
                <a:solidFill>
                  <a:srgbClr val="FFFFFF"/>
                </a:solidFill>
                <a:sym typeface="+mn-ea"/>
              </a:rPr>
              <a:t>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useContext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Спрощення передачі даних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дозволяє уникнути "prop drilling"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(передачі props через проміжні компоненти)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Глобальний доступ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дані з контексту доступні будь-як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ій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в дереві без явної передачі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Чистий код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зменшує кількість props, роблячи компоненти більш читабельними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Динамічне оновлення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 зміни в контексті автоматично відображаються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у всіх компонентах, що його використовують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Використання: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props — для локальної передачі даних між компонентами, коли ієрархія проста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useContext — для глобальних даних, потрібних багатьом компонентам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на різних рівнях (тема, мова, поточний користувач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тощо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Що обрати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Дані потрібні багатьом компонентам → useContext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Дані потрібні тільки дочкам поточно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→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тоді значить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props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Взаємодія компонентів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У React застосунок складається з компонентів, організованих у ієрархічну структуру з </a:t>
            </a: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батьківськими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(parent) і </a:t>
            </a:r>
            <a:r>
              <a:rPr lang="en-US" altLang="en-US" sz="1700" b="1" dirty="0" err="1">
                <a:solidFill>
                  <a:schemeClr val="tx1"/>
                </a:solidFill>
                <a:ea typeface="Microsoft YaHei" panose="020B0503020204020204" charset="-122"/>
              </a:rPr>
              <a:t>дочірніми 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(child) компонентами.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Взаємодія між компонентами — це процес передачі даних та керування поведінкою між батьками 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та їх</a:t>
            </a: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дітьми. Основні механізми: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Передача даних від батьківського до дочірнього компонента через props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Передача даних або подій від дочірнього компонента до батьківського через callback-функції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Керування станом батьківського компонента, що впливає на дочірні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Використання хукiв (useState, useCallback, useMemo) для оптимізації взаємодії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Refs для прямого доступу до дочірніх компонентів (рідко використовується у функціональних компонентах)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 *</a:t>
            </a:r>
            <a:endParaRPr lang="en-US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Context API для передачі даних через кілька рівнів компонентів без явної передачі props</a:t>
            </a:r>
            <a:r>
              <a:rPr lang="uk-UA" altLang="en-US" sz="1700" dirty="0" err="1">
                <a:solidFill>
                  <a:schemeClr val="tx1"/>
                </a:solidFill>
                <a:ea typeface="Microsoft YaHei" panose="020B0503020204020204" charset="-122"/>
              </a:rPr>
              <a:t>**</a:t>
            </a:r>
            <a:endParaRPr lang="uk-UA" altLang="en-US" sz="17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005580" y="6288405"/>
            <a:ext cx="652208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700" b="1" dirty="0" err="1">
                <a:solidFill>
                  <a:srgbClr val="0070C0"/>
                </a:solidFill>
                <a:sym typeface="+mn-ea"/>
              </a:rPr>
              <a:t>*</a:t>
            </a:r>
            <a:r>
              <a:rPr lang="en-US" altLang="en-US" sz="1700" b="1" dirty="0" err="1">
                <a:solidFill>
                  <a:schemeClr val="tx1"/>
                </a:solidFill>
                <a:sym typeface="+mn-ea"/>
              </a:rPr>
              <a:t> - </a:t>
            </a:r>
            <a:r>
              <a:rPr lang="uk-UA" altLang="en-US" sz="1700" b="1" dirty="0" err="1">
                <a:solidFill>
                  <a:schemeClr val="tx1"/>
                </a:solidFill>
                <a:sym typeface="+mn-ea"/>
              </a:rPr>
              <a:t>ре</a:t>
            </a:r>
            <a:r>
              <a:rPr lang="ru-RU" altLang="uk-UA" sz="1700" b="1" dirty="0" err="1">
                <a:solidFill>
                  <a:schemeClr val="tx1"/>
                </a:solidFill>
                <a:sym typeface="+mn-ea"/>
              </a:rPr>
              <a:t>ф</a:t>
            </a:r>
            <a:r>
              <a:rPr lang="uk-UA" altLang="ru-RU" sz="1700" b="1" dirty="0" err="1">
                <a:solidFill>
                  <a:schemeClr val="tx1"/>
                </a:solidFill>
                <a:sym typeface="+mn-ea"/>
              </a:rPr>
              <a:t>и</a:t>
            </a:r>
            <a:r>
              <a:rPr lang="ru-RU" altLang="uk-UA" sz="1700" b="1" dirty="0" err="1">
                <a:solidFill>
                  <a:schemeClr val="tx1"/>
                </a:solidFill>
                <a:sym typeface="+mn-ea"/>
              </a:rPr>
              <a:t> </a:t>
            </a:r>
            <a:r>
              <a:rPr lang="uk-UA" altLang="en-US" sz="1700" b="1" dirty="0" err="1">
                <a:solidFill>
                  <a:schemeClr val="tx1"/>
                </a:solidFill>
                <a:sym typeface="+mn-ea"/>
              </a:rPr>
              <a:t>буд</a:t>
            </a:r>
            <a:r>
              <a:rPr lang="ru-RU" altLang="uk-UA" sz="1700" b="1" dirty="0" err="1">
                <a:solidFill>
                  <a:schemeClr val="tx1"/>
                </a:solidFill>
                <a:sym typeface="+mn-ea"/>
              </a:rPr>
              <a:t>у</a:t>
            </a:r>
            <a:r>
              <a:rPr lang="uk-UA" altLang="en-US" sz="1700" b="1" dirty="0" err="1">
                <a:solidFill>
                  <a:schemeClr val="tx1"/>
                </a:solidFill>
                <a:sym typeface="+mn-ea"/>
              </a:rPr>
              <a:t>ть у 5 модулі</a:t>
            </a:r>
            <a:endParaRPr lang="uk-UA" altLang="en-US" sz="1700" b="1" dirty="0" err="1">
              <a:solidFill>
                <a:schemeClr val="tx1"/>
              </a:solidFill>
              <a:sym typeface="+mn-ea"/>
            </a:endParaRPr>
          </a:p>
          <a:p>
            <a:r>
              <a:rPr lang="uk-UA" altLang="en-US" sz="1700" b="1" dirty="0" err="1">
                <a:solidFill>
                  <a:srgbClr val="0070C0"/>
                </a:solidFill>
                <a:sym typeface="+mn-ea"/>
              </a:rPr>
              <a:t>**</a:t>
            </a:r>
            <a:r>
              <a:rPr lang="uk-UA" altLang="en-US" sz="1700" b="1" dirty="0" err="1">
                <a:solidFill>
                  <a:schemeClr val="tx1"/>
                </a:solidFill>
                <a:sym typeface="+mn-ea"/>
              </a:rPr>
              <a:t> - деталі хуку </a:t>
            </a:r>
            <a:r>
              <a:rPr lang="en-US" altLang="en-US" sz="1700" b="1" dirty="0" err="1">
                <a:solidFill>
                  <a:schemeClr val="tx1"/>
                </a:solidFill>
                <a:sym typeface="+mn-ea"/>
              </a:rPr>
              <a:t>useContext </a:t>
            </a:r>
            <a:r>
              <a:rPr lang="uk-UA" altLang="en-US" sz="1700" b="1" dirty="0" err="1">
                <a:solidFill>
                  <a:schemeClr val="tx1"/>
                </a:solidFill>
                <a:sym typeface="+mn-ea"/>
              </a:rPr>
              <a:t>будуть в 6 модулі</a:t>
            </a:r>
            <a:endParaRPr lang="uk-UA" altLang="en-US" sz="1700" b="1" dirty="0" err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Принцип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взаємодії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Односпрямований потік даних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(Unidirectional Data Flow) - дані передаються зверху вниз (від батьківсько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до дочірньо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) через props. Якщо дочірн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ій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потрібно змінити дані, в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она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викликає функцію-зворотний виклик (callback), передану від батьківсько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Props є незмінними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(read-only). Дочірн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я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не може безпосередньо змінювати props, отримані від батьківсько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Зазвичай стан зберігається в батьківськ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ій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компоненті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, 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     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а дочірні компоненти отримують дані через props і відправляють зміни через функції-зворотні виклики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Підняття стану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(Lifting State Up) - якщо кілька компонент повинні використовувати один і той же стан, він 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«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піднімається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»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до найближчо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спільно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батьківсько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ї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Від дочки до батька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Щоб дочірн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я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змогла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повідомити батьківськ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про будь-яку дію (наприклад, клік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по кнопці), батьківськ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передає функцію-зворотний виклик (callback) через props. Дочірн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я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компонент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викликає цю функцію при настанні події: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https://gist.github.com/sunmeat/b9825f773352a1cb860c6e4b5aebf8a5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Ще приклад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на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callbacks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l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Внесен</a:t>
            </a: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і</a:t>
            </a:r>
            <a:r>
              <a:rPr lang="ru-RU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 правки в</a:t>
            </a:r>
            <a:r>
              <a:rPr lang="en-US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uk-UA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такі </a:t>
            </a:r>
            <a:r>
              <a:rPr lang="uk-UA" altLang="ru-RU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файли</a:t>
            </a:r>
            <a:r>
              <a:rPr lang="ru-RU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endParaRPr lang="ru-RU" altLang="en-US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algn="l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App.jsx</a:t>
            </a:r>
            <a:endParaRPr lang="en-US" altLang="en-US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algn="l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Content.jsx</a:t>
            </a:r>
            <a:endParaRPr lang="en-US" altLang="en-US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algn="l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MyButton.jsx</a:t>
            </a:r>
            <a:endParaRPr lang="en-US" altLang="en-US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algn="l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створено </a:t>
            </a:r>
            <a:r>
              <a:rPr lang="en-US" altLang="uk-UA" sz="2500" b="1" dirty="0" err="1">
                <a:solidFill>
                  <a:schemeClr val="tx1"/>
                </a:solidFill>
                <a:ea typeface="Microsoft YaHei" panose="020B0503020204020204" charset="-122"/>
              </a:rPr>
              <a:t>ToDoItem.jsx + .css</a:t>
            </a:r>
            <a:endParaRPr lang="en-US" altLang="uk-UA" sz="25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198880" y="4912360"/>
            <a:ext cx="6621780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500" b="1">
                <a:solidFill>
                  <a:srgbClr val="0070C0"/>
                </a:solidFill>
                <a:hlinkClick r:id="rId1" tooltip="" action="ppaction://hlinkfile"/>
              </a:rPr>
              <a:t>https://github.com/sunmeat/react_samples/blob/main/lesson%202.%20callbacks/src/components/content/Content.jsx</a:t>
            </a:r>
            <a:endParaRPr lang="en-US" altLang="en-US" sz="25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https://materials.itstep.org/content/eccc58be-b99a-4833-96e7-f14da3e74c1d/uk</a:t>
            </a:r>
            <a:r>
              <a:rPr lang="ru-RU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 (1 </a:t>
            </a: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та</a:t>
            </a:r>
            <a:r>
              <a:rPr lang="ru-RU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 2 за</a:t>
            </a:r>
            <a:r>
              <a:rPr lang="uk-UA" altLang="ru-RU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вдання</a:t>
            </a:r>
            <a:r>
              <a:rPr lang="ru-RU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ru-RU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ru-RU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https://materials.itstep.org/content/0ec5cbf5-3bcc-4683-ae9c-504095333f11/uk</a:t>
            </a:r>
            <a:r>
              <a:rPr lang="ru-RU" altLang="en-US" sz="2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ru-RU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(вс</a:t>
            </a:r>
            <a:r>
              <a:rPr lang="uk-UA" altLang="ru-RU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і</a:t>
            </a:r>
            <a:r>
              <a:rPr lang="ru-RU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 три за</a:t>
            </a:r>
            <a:r>
              <a:rPr lang="uk-UA" altLang="ru-RU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вдання</a:t>
            </a:r>
            <a:r>
              <a:rPr lang="ru-RU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)</a:t>
            </a:r>
            <a:endParaRPr lang="ru-RU" altLang="en-US" sz="2500" b="1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https://materials.itstep.org/content/2c9aa097-d5b6-437d-a087-7f918a1be833/uk</a:t>
            </a: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(1, 3 </a:t>
            </a:r>
            <a:r>
              <a:rPr lang="uk-UA" altLang="en-US" sz="2500" b="1" dirty="0" err="1">
                <a:solidFill>
                  <a:schemeClr val="tx1"/>
                </a:solidFill>
                <a:latin typeface="Arial" panose="020B0604020202020204" pitchFamily="34" charset="0"/>
              </a:rPr>
              <a:t>або 4)</a:t>
            </a:r>
            <a:endParaRPr lang="uk-UA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339725" indent="-339725"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buChar char="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uk-UA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https://materials.itstep.org/content/41832af3-a678-46bd-bce1-d5b857a63377/uk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Результати</a:t>
            </a:r>
            <a:endParaRPr lang="en-US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420" y="1088390"/>
            <a:ext cx="6356350" cy="58343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 descr="resul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745" y="1004570"/>
            <a:ext cx="4333875" cy="59150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AEA8F09-5E16-41C4-8764-4343E974388E}"/>
</file>

<file path=customXml/itemProps2.xml><?xml version="1.0" encoding="utf-8"?>
<ds:datastoreItem xmlns:ds="http://schemas.openxmlformats.org/officeDocument/2006/customXml" ds:itemID="{5214BF35-849D-4A44-9789-74FA2576E18A}"/>
</file>

<file path=customXml/itemProps3.xml><?xml version="1.0" encoding="utf-8"?>
<ds:datastoreItem xmlns:ds="http://schemas.openxmlformats.org/officeDocument/2006/customXml" ds:itemID="{8322F688-4914-4C9A-BAFF-DE508B80885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27783</Words>
  <Application>WPS Presentation</Application>
  <PresentationFormat/>
  <Paragraphs>508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57</vt:i4>
      </vt:variant>
    </vt:vector>
  </HeadingPairs>
  <TitlesOfParts>
    <vt:vector size="68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>Courier New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71</cp:revision>
  <dcterms:created xsi:type="dcterms:W3CDTF">2005-09-22T16:26:00Z</dcterms:created>
  <dcterms:modified xsi:type="dcterms:W3CDTF">2026-06-17T12:59:37Z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