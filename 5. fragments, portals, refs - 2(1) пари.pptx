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709" r:id="rId7"/>
    <p:sldId id="710" r:id="rId8"/>
    <p:sldId id="592" r:id="rId9"/>
    <p:sldId id="678" r:id="rId10"/>
    <p:sldId id="707" r:id="rId11"/>
    <p:sldId id="708" r:id="rId12"/>
    <p:sldId id="694" r:id="rId13"/>
    <p:sldId id="679" r:id="rId14"/>
    <p:sldId id="682" r:id="rId15"/>
    <p:sldId id="683" r:id="rId16"/>
    <p:sldId id="695" r:id="rId17"/>
    <p:sldId id="684" r:id="rId18"/>
    <p:sldId id="696" r:id="rId19"/>
    <p:sldId id="697" r:id="rId20"/>
    <p:sldId id="687" r:id="rId21"/>
    <p:sldId id="699" r:id="rId22"/>
    <p:sldId id="688" r:id="rId23"/>
    <p:sldId id="698" r:id="rId24"/>
    <p:sldId id="706" r:id="rId25"/>
    <p:sldId id="700" r:id="rId26"/>
    <p:sldId id="701" r:id="rId27"/>
    <p:sldId id="702" r:id="rId28"/>
    <p:sldId id="703" r:id="rId29"/>
    <p:sldId id="704" r:id="rId30"/>
    <p:sldId id="705" r:id="rId31"/>
    <p:sldId id="689" r:id="rId32"/>
    <p:sldId id="691" r:id="rId33"/>
    <p:sldId id="692" r:id="rId34"/>
    <p:sldId id="288" r:id="rId35"/>
    <p:sldId id="289" r:id="rId36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3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93"/>
        <p:guide pos="2861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tableStyles" Target="tableStyles.xml"/><Relationship Id="rId26" Type="http://schemas.openxmlformats.org/officeDocument/2006/relationships/slide" Target="slides/slide22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34" Type="http://schemas.openxmlformats.org/officeDocument/2006/relationships/slide" Target="slides/slide30.xml"/><Relationship Id="rId21" Type="http://schemas.openxmlformats.org/officeDocument/2006/relationships/slide" Target="slides/slide17.xml"/><Relationship Id="rId42" Type="http://schemas.openxmlformats.org/officeDocument/2006/relationships/customXml" Target="../customXml/item3.xml"/><Relationship Id="rId7" Type="http://schemas.openxmlformats.org/officeDocument/2006/relationships/slide" Target="slides/slide3.xml"/><Relationship Id="rId29" Type="http://schemas.openxmlformats.org/officeDocument/2006/relationships/slide" Target="slides/slide25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41" Type="http://schemas.openxmlformats.org/officeDocument/2006/relationships/customXml" Target="../customXml/item2.xml"/><Relationship Id="rId6" Type="http://schemas.openxmlformats.org/officeDocument/2006/relationships/slide" Target="slides/slide2.xml"/><Relationship Id="rId37" Type="http://schemas.openxmlformats.org/officeDocument/2006/relationships/presProps" Target="presProps.xml"/><Relationship Id="rId32" Type="http://schemas.openxmlformats.org/officeDocument/2006/relationships/slide" Target="slides/slide28.xml"/><Relationship Id="rId24" Type="http://schemas.openxmlformats.org/officeDocument/2006/relationships/slide" Target="slides/slide20.xml"/><Relationship Id="rId1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40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36" Type="http://schemas.openxmlformats.org/officeDocument/2006/relationships/slide" Target="slides/slide32.xml"/><Relationship Id="rId28" Type="http://schemas.openxmlformats.org/officeDocument/2006/relationships/slide" Target="slides/slide24.xml"/><Relationship Id="rId23" Type="http://schemas.openxmlformats.org/officeDocument/2006/relationships/slide" Target="slides/slide19.xml"/><Relationship Id="rId15" Type="http://schemas.openxmlformats.org/officeDocument/2006/relationships/slide" Target="slides/slide11.xml"/><Relationship Id="rId31" Type="http://schemas.openxmlformats.org/officeDocument/2006/relationships/slide" Target="slides/slide27.xml"/><Relationship Id="rId19" Type="http://schemas.openxmlformats.org/officeDocument/2006/relationships/slide" Target="slides/slide15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35" Type="http://schemas.openxmlformats.org/officeDocument/2006/relationships/slide" Target="slides/slide31.xml"/><Relationship Id="rId30" Type="http://schemas.openxmlformats.org/officeDocument/2006/relationships/slide" Target="slides/slide26.xml"/><Relationship Id="rId27" Type="http://schemas.openxmlformats.org/officeDocument/2006/relationships/slide" Target="slides/slide23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2.xml"/><Relationship Id="rId38" Type="http://schemas.openxmlformats.org/officeDocument/2006/relationships/viewProps" Target="viewProps.xml"/><Relationship Id="rId33" Type="http://schemas.openxmlformats.org/officeDocument/2006/relationships/slide" Target="slides/slide29.xml"/><Relationship Id="rId25" Type="http://schemas.openxmlformats.org/officeDocument/2006/relationships/slide" Target="slides/slide21.xml"/><Relationship Id="rId17" Type="http://schemas.openxmlformats.org/officeDocument/2006/relationships/slide" Target="slides/slide13.xml"/><Relationship Id="rId12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243" name="Slide Image Placeholder 4096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244" name="Text Placeholder 4096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830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98307" name="Slide Image Placeholder 7168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98308" name="Text Placeholder 7168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35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0355" name="Slide Image Placeholder 72704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0356" name="Text Placeholder 72705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react.dev/reference/rsc/server-components" TargetMode="Externa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st.github.com/sunmeat/bf520d8240a8e1cc7cb6b55d50b7674a" TargetMode="External"/><Relationship Id="rId1" Type="http://schemas.openxmlformats.org/officeDocument/2006/relationships/hyperlink" Target="https://gist.github.com/sunmeat/244fd1deac3dee9729c1fc0ac7a2f23f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st.github.com/sunmeat/b2c99551c2dad9ed17a862342910108e" TargetMode="External"/><Relationship Id="rId1" Type="http://schemas.openxmlformats.org/officeDocument/2006/relationships/hyperlink" Target="https://gist.github.com/sunmeat/9ddacce71957ee2579be24c1503d046c" TargetMode="Externa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react-bootstrap.netlify.app/docs/components/modal/&#13;" TargetMode="Externa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7.xml"/><Relationship Id="rId5" Type="http://schemas.openxmlformats.org/officeDocument/2006/relationships/hyperlink" Target="https://mantine.dev/core/modal/&#13;" TargetMode="External"/><Relationship Id="rId4" Type="http://schemas.openxmlformats.org/officeDocument/2006/relationships/hyperlink" Target="https://chakra-ui.com/docs/components/dialog&#13;" TargetMode="External"/><Relationship Id="rId3" Type="http://schemas.openxmlformats.org/officeDocument/2006/relationships/hyperlink" Target="https://www.radix-ui.com/primitives/docs/components/dialog&#13;" TargetMode="External"/><Relationship Id="rId2" Type="http://schemas.openxmlformats.org/officeDocument/2006/relationships/hyperlink" Target="https://headlessui.com/react/dialog&#13;" TargetMode="External"/><Relationship Id="rId1" Type="http://schemas.openxmlformats.org/officeDocument/2006/relationships/hyperlink" Target="https://github.com/reactjs/react-modal&#13;" TargetMode="Externa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ru.legacy.reactjs.org/docs/refs-and-the-dom.html&#13;" TargetMode="External"/><Relationship Id="rId1" Type="http://schemas.openxmlformats.org/officeDocument/2006/relationships/hyperlink" Target="https://ru.react.dev/reference/react/useRef&#13;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ru.legacy.reactjs.org/docs/forwarding-refs.html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st.github.com/sunmeat/3c1b1c5b896f00e117579ce30fe68a5a&#13;" TargetMode="External"/><Relationship Id="rId1" Type="http://schemas.openxmlformats.org/officeDocument/2006/relationships/hyperlink" Target="https://gist.github.com/sunmeat/efb47ad535f1caeb2ee9c16ed9ef190e&#13;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materials.itstep.org/content/89fe9e79-c555-4323-9f95-f69173bad7fd/uk&#13;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materials.itstep.org/content/119447fe-7dc4-4926-a432-6c238733ba7c/uk&#13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163"/>
            <a:ext cx="8077200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Fragments</a:t>
            </a:r>
            <a:r>
              <a:rPr lang="ru-RU" altLang="ru-RU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. </a:t>
            </a:r>
            <a:r>
              <a:rPr lang="en-US" altLang="ru-RU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Portals</a:t>
            </a:r>
            <a:r>
              <a:rPr lang="ru-RU" altLang="ru-RU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. </a:t>
            </a:r>
            <a:r>
              <a:rPr lang="en-US" altLang="ru-RU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Refs</a:t>
            </a:r>
            <a:endParaRPr lang="en-US" altLang="ru-RU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O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en-US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en-US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 descr="11836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3361690"/>
            <a:ext cx="3439795" cy="3439795"/>
          </a:xfrm>
          <a:prstGeom prst="rect">
            <a:avLst/>
          </a:prstGeom>
        </p:spPr>
      </p:pic>
      <p:pic>
        <p:nvPicPr>
          <p:cNvPr id="2" name="Picture 1" descr="5ja6jzk6nfh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525" y="3365500"/>
            <a:ext cx="3479165" cy="343598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Що таке React </a:t>
            </a:r>
            <a:r>
              <a:rPr lang="en-US" altLang="en-US" sz="25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Fragments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?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Цілі та завдання React Fragments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Практичні приклади використання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Що таке React </a:t>
            </a:r>
            <a:r>
              <a:rPr lang="en-US" altLang="en-US" sz="25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Portals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?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Цілі та завдання React Portals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Практичні приклади використання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Що таке </a:t>
            </a:r>
            <a:r>
              <a:rPr lang="en-US" altLang="en-US" sz="25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ref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?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Цілі та завдання ref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Практичні приклади використання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Створення проєкту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VS Code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8196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У терміналі VS Code: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Виходимо командою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cd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на робочий стіл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Створюємо проєкт командою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create vite@latest</a:t>
            </a:r>
            <a:endParaRPr lang="en-US" altLang="en-US" sz="2400" b="1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Вводимо ім’я проєкту, наприклад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hellovite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Обираємо фреймворк React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Обираємо мову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JavaScript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(або TypeScript)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cd hellovite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(переходимо в папку проєкту)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install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(встановлюємо залежності)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run dev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 (запускаємо проєкт)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або навіть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npx vite --open</a:t>
            </a:r>
            <a:endParaRPr lang="en-US" altLang="en-US" sz="2400" b="1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Створення проєкту в 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WebStorm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Text Box 6145"/>
          <p:cNvSpPr txBox="1"/>
          <p:nvPr/>
        </p:nvSpPr>
        <p:spPr>
          <a:xfrm>
            <a:off x="468313" y="1457325"/>
            <a:ext cx="80645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 descr="Снимок экрана 2025-05-09 1731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1631950"/>
            <a:ext cx="8895080" cy="469074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React Fragments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React Fragments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— це спеціальний компонент або синтаксична конструкція React, яка дозволяє групувати кілька дочірніх елементів без додавання зайвих DOM-вузлів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у підсумкову розмітку. Зазвичай, коли компонент повертає кілька елементів, React вимагає, щоб вони були загорнуті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 один батьківський елемент, наприклад &lt;div&gt;. Однак це може призвести до небажаних додаткових вузлів DOM, що може порушити стилі або семантику сторінки. React Fragments вирішують цю проблему, дозволяючи повертати кілька елементів, не створюючи зайвих обгорток.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Синтаксис React Fragments: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Повний: 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&lt;React.Fragment&gt;...&lt;/React.Fragment&gt;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Короткий: 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&lt;&gt;...&lt;/&gt;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Цілі та завдання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Fragments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Цілі: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Зменшити кількість непотрібних DOM-вузлів, щоб зберегти чисту та семантично правильну розмітку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Поліпшити продуктивність за рахунок мінімізації DOM-дерева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Забезпечити гнучкість при поверненні кількох елементів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із компонента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Завдання: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Г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руп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у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вання елементів без впливу на структуру DOM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Підтримка ключів (key) для списків, що неможливо під час використання звичайних &lt;div&gt; або інших обгорток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Спрощення стилізації, коли зайві обгортки можуть заважати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CSS-структурі (наприклад, у flex або grid контейнерах)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Ключ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для списк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1900" dirty="0" err="1">
                <a:solidFill>
                  <a:schemeClr val="tx1"/>
                </a:solidFill>
                <a:ea typeface="Microsoft YaHei" panose="020B0503020204020204" charset="-122"/>
              </a:rPr>
              <a:t>Проблема: </a:t>
            </a:r>
            <a:r>
              <a:rPr lang="en-US" sz="1900" dirty="0" err="1">
                <a:solidFill>
                  <a:srgbClr val="FF0000"/>
                </a:solidFill>
                <a:ea typeface="Microsoft YaHei" panose="020B0503020204020204" charset="-122"/>
              </a:rPr>
              <a:t>key </a:t>
            </a:r>
            <a:r>
              <a:rPr lang="uk-UA" altLang="ru-RU" sz="1900" dirty="0" err="1">
                <a:solidFill>
                  <a:srgbClr val="FF0000"/>
                </a:solidFill>
                <a:ea typeface="Microsoft YaHei" panose="020B0503020204020204" charset="-122"/>
              </a:rPr>
              <a:t>неможна поставити на</a:t>
            </a:r>
            <a:r>
              <a:rPr lang="ru-RU" sz="1900" dirty="0" err="1">
                <a:solidFill>
                  <a:srgbClr val="FF0000"/>
                </a:solidFill>
                <a:ea typeface="Microsoft YaHei" panose="020B0503020204020204" charset="-122"/>
              </a:rPr>
              <a:t> </a:t>
            </a:r>
            <a:r>
              <a:rPr lang="en-US" altLang="ru-RU" sz="1900" dirty="0" err="1">
                <a:solidFill>
                  <a:srgbClr val="FF0000"/>
                </a:solidFill>
                <a:ea typeface="Microsoft YaHei" panose="020B0503020204020204" charset="-122"/>
              </a:rPr>
              <a:t>&lt;div&gt;</a:t>
            </a:r>
            <a:endParaRPr lang="en-US" altLang="ru-RU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ru-RU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const items = ['</a:t>
            </a:r>
            <a:r>
              <a:rPr lang="ru-RU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К</a:t>
            </a:r>
            <a:r>
              <a:rPr lang="uk-UA" altLang="ru-RU" sz="1900" b="1" dirty="0" err="1">
                <a:solidFill>
                  <a:schemeClr val="tx1"/>
                </a:solidFill>
                <a:ea typeface="Microsoft YaHei" panose="020B0503020204020204" charset="-122"/>
              </a:rPr>
              <a:t>і</a:t>
            </a:r>
            <a:r>
              <a:rPr lang="ru-RU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шка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', '</a:t>
            </a:r>
            <a:r>
              <a:rPr lang="ru-RU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Собака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', '</a:t>
            </a:r>
            <a:r>
              <a:rPr lang="ru-RU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Дельф</a:t>
            </a:r>
            <a:r>
              <a:rPr lang="uk-UA" altLang="ru-RU" sz="1900" b="1" dirty="0" err="1">
                <a:solidFill>
                  <a:schemeClr val="tx1"/>
                </a:solidFill>
                <a:ea typeface="Microsoft YaHei" panose="020B0503020204020204" charset="-122"/>
              </a:rPr>
              <a:t>і</a:t>
            </a:r>
            <a:r>
              <a:rPr lang="ru-RU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н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'];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const List = () =&gt; (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  &lt;div&gt;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    {items.map(item =&gt; (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      &lt;div&gt;{item}&lt;/div&gt;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 // не можна привласнити key безпосередньо div, якщо він не в контексті списку, список малюється з помилкою</a:t>
            </a:r>
            <a:endParaRPr lang="en-US" altLang="en-US" sz="1800" b="1" dirty="0" err="1">
              <a:solidFill>
                <a:srgbClr val="00B05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    ))}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  &lt;/div&gt;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);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2080" y="4959350"/>
            <a:ext cx="5216525" cy="21209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Ключ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для списк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1900" dirty="0" err="1">
                <a:solidFill>
                  <a:schemeClr val="tx1"/>
                </a:solidFill>
                <a:ea typeface="Microsoft YaHei" panose="020B0503020204020204" charset="-122"/>
              </a:rPr>
              <a:t>Р</a:t>
            </a:r>
            <a:r>
              <a:rPr lang="uk-UA" altLang="ru-RU" sz="1900" dirty="0" err="1">
                <a:solidFill>
                  <a:schemeClr val="tx1"/>
                </a:solidFill>
                <a:ea typeface="Microsoft YaHei" panose="020B0503020204020204" charset="-122"/>
              </a:rPr>
              <a:t>ішення</a:t>
            </a:r>
            <a:r>
              <a:rPr lang="ru-RU" sz="1900" dirty="0" err="1">
                <a:solidFill>
                  <a:schemeClr val="tx1"/>
                </a:solidFill>
                <a:ea typeface="Microsoft YaHei" panose="020B0503020204020204" charset="-122"/>
              </a:rPr>
              <a:t>: </a:t>
            </a:r>
            <a:r>
              <a:rPr lang="uk-UA" altLang="ru-RU" sz="1900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використати </a:t>
            </a:r>
            <a:r>
              <a:rPr lang="ru-RU" sz="1900" dirty="0" err="1">
                <a:solidFill>
                  <a:schemeClr val="tx1"/>
                </a:solidFill>
                <a:ea typeface="Microsoft YaHei" panose="020B0503020204020204" charset="-122"/>
              </a:rPr>
              <a:t>фрагмент, </a:t>
            </a:r>
            <a:r>
              <a:rPr lang="uk-UA" altLang="ru-RU" sz="1900" dirty="0" err="1">
                <a:solidFill>
                  <a:schemeClr val="tx1"/>
                </a:solidFill>
                <a:ea typeface="Microsoft YaHei" panose="020B0503020204020204" charset="-122"/>
              </a:rPr>
              <a:t>або </a:t>
            </a:r>
            <a:r>
              <a:rPr 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&lt;ul&gt;/&lt;ol&gt;/&lt;li&gt; </a:t>
            </a:r>
            <a:endParaRPr lang="en-US" altLang="ru-RU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const items = ['</a:t>
            </a:r>
            <a:r>
              <a:rPr lang="ru-RU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К</a:t>
            </a:r>
            <a:r>
              <a:rPr lang="uk-UA" altLang="ru-RU" sz="1900" b="1" dirty="0" err="1">
                <a:solidFill>
                  <a:schemeClr val="tx1"/>
                </a:solidFill>
                <a:ea typeface="Microsoft YaHei" panose="020B0503020204020204" charset="-122"/>
              </a:rPr>
              <a:t>і</a:t>
            </a:r>
            <a:r>
              <a:rPr lang="ru-RU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шка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', '</a:t>
            </a:r>
            <a:r>
              <a:rPr lang="ru-RU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Собака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', '</a:t>
            </a:r>
            <a:r>
              <a:rPr lang="ru-RU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Дельф</a:t>
            </a:r>
            <a:r>
              <a:rPr lang="uk-UA" altLang="ru-RU" sz="1900" b="1" dirty="0" err="1">
                <a:solidFill>
                  <a:schemeClr val="tx1"/>
                </a:solidFill>
                <a:ea typeface="Microsoft YaHei" panose="020B0503020204020204" charset="-122"/>
              </a:rPr>
              <a:t>і</a:t>
            </a:r>
            <a:r>
              <a:rPr lang="ru-RU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н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'];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const List = () =&gt; (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    &lt;&gt;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        {items.map(item =&gt; (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            &lt;React.Fragment key={item}&gt;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                &lt;div&gt;{item}&lt;/div&gt;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            &lt;/React.Fragment&gt;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        ))}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    &lt;/&gt;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);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chemeClr val="bg1"/>
                </a:solidFill>
                <a:ea typeface="Microsoft YaHei" panose="020B0503020204020204" charset="-122"/>
              </a:rPr>
              <a:t>Актуальн</a:t>
            </a:r>
            <a:r>
              <a:rPr lang="uk-UA" altLang="ru-RU" sz="4200" dirty="0" err="1">
                <a:solidFill>
                  <a:schemeClr val="bg1"/>
                </a:solidFill>
                <a:ea typeface="Microsoft YaHei" panose="020B0503020204020204" charset="-122"/>
              </a:rPr>
              <a:t>і</a:t>
            </a:r>
            <a:r>
              <a:rPr lang="ru-RU" altLang="en-US" sz="4200" dirty="0" err="1">
                <a:solidFill>
                  <a:schemeClr val="bg1"/>
                </a:solidFill>
                <a:ea typeface="Microsoft YaHei" panose="020B0503020204020204" charset="-122"/>
              </a:rPr>
              <a:t>сть</a:t>
            </a:r>
            <a:r>
              <a:rPr lang="en-US" altLang="ru-RU" sz="4200" dirty="0" err="1">
                <a:solidFill>
                  <a:schemeClr val="bg1"/>
                </a:solidFill>
                <a:ea typeface="Microsoft YaHei" panose="020B0503020204020204" charset="-122"/>
              </a:rPr>
              <a:t> </a:t>
            </a:r>
            <a:r>
              <a:rPr lang="ru-RU" altLang="en-US" sz="4200" dirty="0" err="1">
                <a:solidFill>
                  <a:schemeClr val="bg1"/>
                </a:solidFill>
                <a:sym typeface="+mn-ea"/>
              </a:rPr>
              <a:t>фрагмент</a:t>
            </a:r>
            <a:r>
              <a:rPr lang="uk-UA" altLang="ru-RU" sz="4200" dirty="0" err="1">
                <a:solidFill>
                  <a:schemeClr val="bg1"/>
                </a:solidFill>
                <a:sym typeface="+mn-ea"/>
              </a:rPr>
              <a:t>і</a:t>
            </a:r>
            <a:r>
              <a:rPr lang="ru-RU" altLang="en-US" sz="4200" dirty="0" err="1">
                <a:solidFill>
                  <a:schemeClr val="bg1"/>
                </a:solidFill>
                <a:sym typeface="+mn-ea"/>
              </a:rPr>
              <a:t>в</a:t>
            </a:r>
            <a:endParaRPr lang="ru-RU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React Fragments залишаються актуальною та широко використовуваною функцією React. Вони підтримуються у всіх версіях React, починаючи з 16.2 (2018 рік), і продовжують бути важливою частиною розробки, особливо у проектах,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де важлива чистота DOM та продуктивність.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 розвитком React Server Components </a:t>
            </a:r>
            <a:r>
              <a:rPr lang="en-US" altLang="en-US" sz="21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https://react.dev/reference/rsc/server-components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та покращенням оптимізації рендерингу Fragments продовжують відігравати ключову роль у спрощенні структури компонентів. Їх використання рекомендується у будь-яких сучасних React-додатках, особливо у поєднанні з Tailwind CSS або іншими CSS-фреймворками, де зайві обгортки можуть ускладнити стилізацію.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chemeClr val="bg1"/>
                </a:solidFill>
                <a:sym typeface="+mn-ea"/>
              </a:rPr>
              <a:t>Приклади використання</a:t>
            </a:r>
            <a:endParaRPr lang="uk-UA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Г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руп</a:t>
            </a:r>
            <a:r>
              <a:rPr lang="uk-UA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у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вання елементів у списку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, коли потрібно повернути кілька елементів у списку, але не додавати зайвий &lt;div&gt;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Збереження чистої семантики HTML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- наприклад, у таблиці,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де &lt;tr&gt; повинен містити тільки &lt;td&gt; або &lt;th&gt;, використання Fragments дозволяє уникнути додавання непотрібних обгорток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Умовний рендеринг кількох елементів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-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при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умовно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му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рендерингу можна повертати групу елементів без зайвих вузлів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https://gist.github.com/sunmeat/244fd1deac3dee9729c1fc0ac7a2f23f</a:t>
            </a:r>
            <a:endParaRPr lang="en-US" altLang="en-US" sz="25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ea typeface="Microsoft YaHei" panose="020B0503020204020204" charset="-122"/>
                <a:hlinkClick r:id="rId2" tooltip="" action="ppaction://hlinkfile"/>
              </a:rPr>
              <a:t>https://gist.github.com/sunmeat/bf520d8240a8e1cc7cb6b55d50b7674a</a:t>
            </a:r>
            <a:endParaRPr lang="en-US" altLang="en-US" sz="25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React Portals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React Portals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— це механізм React, який дозволяє рендерувати компоненти або елементи за межами їхнього батьківського DOM-дерева, зберігаючи при цьому їх місце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в дереві React. Це корисно для рендерингу вмісту в іншій частині DOM, наприклад, для модальних вікон, що спливають сповіщень або тултипів, які мають відображатися поверх інших елементів.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Портали створюються за допомогою методу 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ReactDOM.createPortal(child, container)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, де: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child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- це React-елемент, який потрібно відрендерити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container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- це DOM-вузол, в який буде рендеруватись вміст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Ц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ілі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та завдання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React Portals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Цілі: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Забезпечити рендеринг компонентів поза їхньою ієрархією в DOM, зберігаючи React-контекст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Спростити керування елементами з високим пріоритетом відображення (наприклад, модальні вікна)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Підтримувати правильну обробку подій та стилізацію в ізольованих DOM-вузлах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Завдання: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Вирішення проблем із накладенням стилів (наприклад, z-index або overflow: hidden у батьківських контейнерах)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Створення глобальних компонентів, таких як модальні вікна, сповіщення або діалогові вікна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Забезпечення доступності (accessibility) для компонентів,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що рендеруються поза основним DOM-деревом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Актуальн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сть портал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React Portals широко використовуються для створення модальних вікон, спливаючих повідомлень та інших компонентів, що вимагають незалежного рендерингу DOM.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Портали особливо важливі у сучасних додатках,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   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де використовуються складні CSS-фреймворки (наприклад, Tailwind CSS) та потрібне керування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z-index або ізоляція компонентів. З розвитком React Server Components портали продовжують бути корисними для клієнтських компонентів,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що рендеруються у браузері, особливо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  			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в SPA (Single Page Applications).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Приклади використання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Портали дозволяють рендерувати модальне вікно в &lt;div&gt; в корені документа, щоб уникнути проблем із накладенням стилів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Елементи, які мають відображатися поверх інших (тултипи, поповери) можна рендерувати в окремий DOM-вузол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Корисно для глобальних повідомлень, які мають бути незалежними від поточної структури компонентів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https://gist.github.com/sunmeat/9ddacce71957ee2579be24c1503d046c</a:t>
            </a:r>
            <a:endParaRPr lang="en-US" altLang="en-US" sz="25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ea typeface="Microsoft YaHei" panose="020B0503020204020204" charset="-122"/>
                <a:hlinkClick r:id="rId2" tooltip="" action="ppaction://hlinkfile"/>
              </a:rPr>
              <a:t>https://gist.github.com/sunmeat/b2c99551c2dad9ed17a862342910108e</a:t>
            </a:r>
            <a:endParaRPr lang="en-US" altLang="en-US" sz="25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Модальн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ві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кна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R.Bootstrap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5" y="1403985"/>
            <a:ext cx="8896350" cy="342582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16840" y="3339465"/>
            <a:ext cx="871982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3000" b="1">
                <a:solidFill>
                  <a:srgbClr val="0070C0"/>
                </a:solidFill>
                <a:hlinkClick r:id="rId2" tooltip="" action="ppaction://hlinkfile"/>
              </a:rPr>
              <a:t>https://react-bootstrap.netlify.app/docs/components/modal/</a:t>
            </a:r>
            <a:endParaRPr lang="en-US" altLang="en-US" sz="3000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Альтернативн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б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бл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отеки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https://github.com/reactjs/react-modal</a:t>
            </a:r>
            <a:endParaRPr lang="en-US" altLang="en-US" sz="2300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70C0"/>
                </a:solidFill>
                <a:ea typeface="Microsoft YaHei" panose="020B0503020204020204" charset="-122"/>
                <a:hlinkClick r:id="rId2" tooltip="" action="ppaction://hlinkfile"/>
              </a:rPr>
              <a:t>https://headlessui.com/react/dialog</a:t>
            </a:r>
            <a:endParaRPr lang="en-US" altLang="en-US" sz="2300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70C0"/>
                </a:solidFill>
                <a:ea typeface="Microsoft YaHei" panose="020B0503020204020204" charset="-122"/>
                <a:hlinkClick r:id="rId3" tooltip="" action="ppaction://hlinkfile"/>
              </a:rPr>
              <a:t>https://www.radix-ui.com/primitives/docs/components/dialog</a:t>
            </a:r>
            <a:endParaRPr lang="en-US" altLang="en-US" sz="23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70C0"/>
                </a:solidFill>
                <a:ea typeface="Microsoft YaHei" panose="020B0503020204020204" charset="-122"/>
                <a:hlinkClick r:id="rId4" tooltip="" action="ppaction://hlinkfile"/>
              </a:rPr>
              <a:t>https://chakra-ui.com/docs/components/dialog</a:t>
            </a:r>
            <a:endParaRPr lang="en-US" altLang="en-US" sz="2300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70C0"/>
                </a:solidFill>
                <a:ea typeface="Microsoft YaHei" panose="020B0503020204020204" charset="-122"/>
                <a:hlinkClick r:id="rId5" tooltip="" action="ppaction://hlinkfile"/>
              </a:rPr>
              <a:t>https://mantine.dev/core/modal/</a:t>
            </a:r>
            <a:endParaRPr lang="en-US" altLang="en-US" sz="2300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ПРАКТИКА:</a:t>
            </a:r>
            <a:endParaRPr lang="uk-UA" altLang="en-US" sz="23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впровадити у про</a:t>
            </a:r>
            <a:r>
              <a:rPr lang="uk-UA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є</a:t>
            </a: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кт діалогове модальне вікно, взяте з будь-якої бібліотеки вище</a:t>
            </a:r>
            <a:endParaRPr lang="en-US" altLang="en-US" sz="23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Що таке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Ref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Ref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(скорочення від reference) у React — це механізм,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який надає прямий доступ до DOM-вузлів або екземплярів React-компонентів. Refs створюються за допомогою хука </a:t>
            </a: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useRef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(у функціональних компонентах) або методу React.createRef (у класових компонентах).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Вони дозволяють: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Отримувати доступ до DOM-елементів для керування їх властивостями (наприклад, фокус, прокручування, розміри)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Зберігати значення, що змінюються,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але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які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не викликають повторний рендеринг компонента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Зберігати посилання на екземпляри компонентів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35255" y="6356350"/>
            <a:ext cx="89096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tooltip="" action="ppaction://hlinkfile"/>
              </a:rPr>
              <a:t>https://ru.react.dev/reference/react/useRef</a:t>
            </a:r>
            <a:endParaRPr lang="en-US" altLang="en-US" b="1">
              <a:solidFill>
                <a:srgbClr val="0070C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5565" y="5773420"/>
            <a:ext cx="90570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2" tooltip="" action="ppaction://hlinkfile"/>
              </a:rPr>
              <a:t>https://ru.legacy.reactjs.org/docs/refs-and-the-dom.html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Причина використання рефів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3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Рефи дають можливість отримати доступ до DOM-вузлів або React-елементів, створених у рендер-методі.</a:t>
            </a:r>
            <a:endParaRPr lang="en-US" altLang="en-US" sz="23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3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3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У звичайному потоці даних React батьківські </a:t>
            </a:r>
            <a:r>
              <a:rPr lang="en-US" altLang="en-US" sz="2300" u="sng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компоненти можуть взаємодіяти з дочірніми лише через пропси</a:t>
            </a:r>
            <a:r>
              <a:rPr lang="en-US" altLang="en-US" sz="23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.</a:t>
            </a:r>
            <a:endParaRPr lang="en-US" altLang="en-US" sz="23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3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3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Щоб модифікувати нащадка, доводиться знову перемальовувати його з новими пропсами.</a:t>
            </a:r>
            <a:endParaRPr lang="en-US" altLang="en-US" sz="23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300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300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Проте, можуть виникати ситуації, коли </a:t>
            </a:r>
            <a:r>
              <a:rPr lang="en-US" altLang="en-US" sz="2300" b="1" dirty="0" err="1">
                <a:solidFill>
                  <a:schemeClr val="tx1"/>
                </a:solidFill>
                <a:ea typeface="Roboto" panose="02000000000000000000"/>
                <a:cs typeface="Arial" panose="020B0604020202020204" pitchFamily="34" charset="0"/>
                <a:sym typeface="Roboto" panose="02000000000000000000"/>
              </a:rPr>
              <a:t>необхідно імперативно змінити дочірній елемент, обійшовши звичайний потік даних.</a:t>
            </a:r>
            <a:endParaRPr lang="en-US" altLang="en-US" sz="2300" b="1" dirty="0" err="1">
              <a:solidFill>
                <a:schemeClr val="tx1"/>
              </a:solidFill>
              <a:ea typeface="Roboto" panose="02000000000000000000"/>
              <a:cs typeface="Arial" panose="020B0604020202020204" pitchFamily="34" charset="0"/>
              <a:sym typeface="Roboto" panose="0200000000000000000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Цілі та завдання</a:t>
            </a:r>
            <a:r>
              <a:rPr lang="ru-RU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Refs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Цілі: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Забезпечити прямий доступ до DOM-елементів або компонентів для виконання операцій, недоступних через стандартні props та state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Зберігати дані, що змінюються, без виклику рендерингу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Спростити інтеграцію з бібліотеками, які потребують прямого доступу до DOM (наприклад, для анімацій або роботи з відео)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Завдання: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Керування фокусом, виділенням тексту або відтворенням медіа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Отримання розмірів чи позиції DOM-елементів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Зберігання тимчасових даних, таких як таймери або лічильники, без необхідності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рендеру</a:t>
            </a:r>
            <a:endParaRPr lang="uk-UA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Деталі причин використання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Рефи (refs) React використовуються для прямого доступу до DOM-елементів або екземплярів компонентів, коли декларативний підхід (через стан і пропси) не підходить. Вони вирішують завдання,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що вимагають імперативного управління, наприклад: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Керування фокусом, виділенням тексту або відтворенням медіа (наприклад, input.focus()). Наприклад, необхідно автоматично сфокусувати &lt;input&gt; під час монтування компонента. Через стейт можна спробувати завести прапорець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isFocused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, але викликати input.focus() без доступу до DOM - не можна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Вимірювання розмірів або позиції DOM-елемента (наприклад, getBoundingClientRect()). Стан може зберігати розмір,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але отримати сам розмір без ref неможливо - потрібний прямий доступ до DOM, щоб виміряти його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sym typeface="+mn-ea"/>
              </a:rPr>
              <a:t>Деталі причин використання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Ще одна з можливих причин – це інтеграція із зовнішніми бібліотеками, які потребують прямого доступу до DOM.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Рефи дозволяють обійти декларативну природу React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для специфічних випадків, де потрібне точкове керування. Допустимо, потрібно підключити Chart.js або Three.js.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Ці бібліотеки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очікують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на чистий DOM-елемент, наприклад, &lt;canvas&gt;. Не вдасться написати в коді: "ось тобі пропс" - бібліотека не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з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розуміє цього. Вона захоче новий Chart(canvasElement, {...}). Прийде передати їй DOM-ноду,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а отримати її можна тільки через ref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Стейт в React - це опис UI. А ref - це прямий доступ </a:t>
            </a:r>
            <a:r>
              <a:rPr lang="uk-UA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до фактичного екземпляра.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Це імперативний підхід, протилежність state, який застосовується, якщо потрібно щось зробити відразу, і щось, що не виражається в термінах "рендер".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Imperative vs. Declarative</a:t>
            </a:r>
            <a:endParaRPr 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Декларативний підхід (React)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: ми описуємо, як має виглядати UI на основі стану та пропсів, а React самостійно оновлює DOM. Наприклад, через useState або JSX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Імперативний підхід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: ми безпосередньо вказуємо,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як саме змінювати DOM (наприклад, document.getElementById('id').style.display = 'none';)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Рефи дозволяють використовувати імперативний підхід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у React, але їхнє застосування має бути мінімальним, щоб зберегти декларативність.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66406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3900" dirty="0" err="1">
                <a:solidFill>
                  <a:srgbClr val="FFFFFF"/>
                </a:solidFill>
                <a:ea typeface="Microsoft YaHei" panose="020B0503020204020204" charset="-122"/>
              </a:rPr>
              <a:t>Про</a:t>
            </a:r>
            <a:r>
              <a:rPr lang="uk-UA" sz="39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sz="3900" dirty="0" err="1">
                <a:solidFill>
                  <a:srgbClr val="FFFFFF"/>
                </a:solidFill>
                <a:ea typeface="Microsoft YaHei" panose="020B0503020204020204" charset="-122"/>
              </a:rPr>
              <a:t>document.getElementById</a:t>
            </a:r>
            <a:endParaRPr lang="en-US" sz="39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Чисто технічно, викликати document.getElementById в React можна. Однак використання document.getElementById порушує принципи React: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React керує DOM через віртуальний DOM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, і прямі маніпуляції можуть призвести до неузгодженості стану та UI. React може "не знати" про них, і потім перемалює компонент, не враховуючи їх - а елемент просто зникне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Це робить код менш передбачуваним і складнішим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для налагодження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Рефи надають контрольований спосіб доступу до DOM, інтегрований з життєвим циклом React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, що краще. Що буде, якщо викликати getElementById, перш ніж елемент відрендерився? - Null. А ref ми отримуємо тільки тоді, коли React каже: "Ось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твій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елемент на місці" - безпечно і вчасно.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useState vs. useRef</a:t>
            </a:r>
            <a:endParaRPr 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У деяких випадках використання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useState може імітувати поведінку використання useRef, але вони вирішують різні завдання: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useState викликає ререндер при зміні стану,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що підходить для даних, що впливають на UI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useRef зберігає дані між рендерами без виклику ререндера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, що є ідеальним для зберігання посилань на DOM або мутабельних значень (наприклад, таймерів). Замінити useRef на useState можна для зберігання значень, але це може призвести до непотрібних ререндерів і ускладнити сприйняття коду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useRef існує, щоб:</a:t>
            </a:r>
            <a:endParaRPr lang="en-US" altLang="en-US" sz="17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Уникнути непотрібних ререндерів, які викликають змін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и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useState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Зберігати мутабельні значення, які зберігаються між рендерами (наприклад, посилання на DOM або лічильники без впливу на UI)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Надати безпечний спосіб взаємодії з DOM або зовнішніми API, 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не порушуючи декларативний підхід React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Як створити реф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Рефи створюються за допомогою React.createRef()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(для класових компонентів) або хука </a:t>
            </a: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useRef() </a:t>
            </a:r>
            <a:r>
              <a:rPr lang="uk-UA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(для функціональних)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Рефи можна використовувати з функціональними компонентами через useRef і forwardRef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2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https://ru.legacy.reactjs.org/docs/forwarding-refs.html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Атрибут ref можна використовувати з: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DOM-елементами (наприклад, &lt;div ref={myRef}&gt;)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Класовими компонентами (доступ до екземпляра компонента)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Функціональними компонентами, якщо вони обернуті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в React.forwardRef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Властивість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current</a:t>
            </a:r>
            <a:endParaRPr 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Властивість </a:t>
            </a:r>
            <a:r>
              <a:rPr lang="en-US" altLang="en-US" sz="2600" b="1" dirty="0" err="1">
                <a:solidFill>
                  <a:schemeClr val="tx1"/>
                </a:solidFill>
                <a:ea typeface="Microsoft YaHei" panose="020B0503020204020204" charset="-122"/>
              </a:rPr>
              <a:t>current </a:t>
            </a:r>
            <a:r>
              <a:rPr lang="en-US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- це мутабельне поле об'єкта, що повертається useRef або createRef. Воно:</a:t>
            </a:r>
            <a:endParaRPr lang="en-US" altLang="en-US" sz="2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Зберігає посилання на DOM-елемент, екземпляр компонента або будь-яке інше значення</a:t>
            </a:r>
            <a:endParaRPr lang="en-US" altLang="en-US" sz="2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Не викликає рендер при зміні</a:t>
            </a:r>
            <a:endParaRPr lang="en-US" altLang="en-US" sz="2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Зберігається між рендерами</a:t>
            </a:r>
            <a:endParaRPr lang="en-US" altLang="en-US" sz="2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Приклад: </a:t>
            </a:r>
            <a:r>
              <a:rPr lang="en-US" altLang="en-US" sz="2600" b="1" dirty="0" err="1">
                <a:solidFill>
                  <a:schemeClr val="tx1"/>
                </a:solidFill>
                <a:ea typeface="Microsoft YaHei" panose="020B0503020204020204" charset="-122"/>
              </a:rPr>
              <a:t>const myRef = useRef(null); </a:t>
            </a:r>
            <a:r>
              <a:rPr lang="en-US" altLang="en-US" sz="2600" dirty="0" err="1">
                <a:solidFill>
                  <a:schemeClr val="tx1"/>
                </a:solidFill>
                <a:ea typeface="Microsoft YaHei" panose="020B0503020204020204" charset="-122"/>
              </a:rPr>
              <a:t>myRef.current спочатку null, але може бути присвоєний DOM-елемент або значення</a:t>
            </a:r>
            <a:endParaRPr lang="en-US" altLang="en-US" sz="26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847852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000" dirty="0" err="1">
                <a:solidFill>
                  <a:srgbClr val="FFFFFF"/>
                </a:solidFill>
                <a:ea typeface="Microsoft YaHei" panose="020B0503020204020204" charset="-122"/>
              </a:rPr>
              <a:t>Стейти та пропси все одно краще</a:t>
            </a:r>
            <a:endParaRPr lang="uk-UA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Чому стан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и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та пропси краще: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Вони підтримують декларативний підхід React, де UI синхронізується з даними через віртуальний DOM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Рефи вимагають імперативного управління, що ускладнює підтримку і може призвести до помилок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Якщо реф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ів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занадто багато: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Код стає складнішим для читання та підтримки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Збільшується ризик неузгодженості між станом та DOM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Продуктивність може постраждати через прямі маніпуляції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з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DOM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-деревом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Тестування ускладнюється, оскільки рефи обходять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React API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Приклади використання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Управління фокусом - наприклад, для автоматичного фокусування на полі введення при монтуванні компонента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Отримання ширини чи висоти елемента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Зберігання ідентифікатора таймера в useRef, щоб уникнути повторного рендерингу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Імперативний виклик анімацій,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робота з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медіа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Інтеграція зі сторонніми DOM-бібліотекам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и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https://gist.github.com/sunmeat/efb47ad535f1caeb2ee9c16ed9ef190e</a:t>
            </a:r>
            <a:endParaRPr lang="en-US" altLang="en-US" sz="25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ea typeface="Microsoft YaHei" panose="020B0503020204020204" charset="-122"/>
                <a:hlinkClick r:id="rId2" tooltip="" action="ppaction://hlinkfile"/>
              </a:rPr>
              <a:t>https://gist.github.com/sunmeat/3c1b1c5b896f00e117579ce30fe68a5a</a:t>
            </a:r>
            <a:endParaRPr lang="en-US" altLang="en-US" sz="25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Актуальн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сть реф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Refs – дуже важлива частина React. Хук useRef є стандартним інструментом у функціональних компонентах, особливо для керування DOM-елементами та інтеграції із зовнішніми бібліотеками. З розвитком React і переходом на функціональні компоненти useRef замінив застарілий React.createRef в більшості випадків.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   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Refs особливо актуальні для: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Управління фокусом та доступністю (accessibility)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Інтеграції з бібліотеками для анімацій (наприклад, Framer Motion)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Зберігання змінюваних даних без рендера, що важливо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для оптимізації продуктивності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Однак React рекомендує використовувати refs помірно, віддаючи перевагу декларативному підходу з використанням state та props,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якщо це можливо. У сучасних програмах refs часто комбінуються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з хуками, такими як useEffect і useCallback, для створення складних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				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інтерактивних компонентів.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Висновки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React Fragments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допомаг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ають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зберігати чисту структуру DOM, мінімізуючи зайві вузли. Вони прості, але вкрай корисні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для списків та семантичної розмітки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React Portals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вирішують проблеми з накладенням стилів та рендерингом компонентів поза основним DOM-деревом,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що робить їх незамінними для модальних вікон та повідомлень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Refs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надають гнучкість для прямої взаємодії з DOM або зберігання даних без рендера, але потребують обережного використання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Усі три механізми активно використовуються у сучасних React-додатках. Вони підтримуються у всіх актуальних версіях React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(18.x і вище) і добре інтегруються із сучасними інструментами, такими як Tailwind CSS та React Server Components.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7282" name="Text Box 3686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Практика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7283" name="Text Box 36865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1" tooltip="" action="ppaction://hlinkfile"/>
              </a:rPr>
              <a:t>https://materials.itstep.org/content/89fe9e79-c555-4323-9f95-f69173bad7fd/uk</a:t>
            </a: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звісно ж, із</a:t>
            </a:r>
            <a:r>
              <a:rPr lang="en-US" alt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 застосуванням фрагментів,</a:t>
            </a:r>
            <a:endParaRPr lang="en-US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порталів та рефів :)</a:t>
            </a:r>
            <a:endParaRPr lang="en-US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330" name="Text Box 3788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ДЗ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9331" name="Text Box 37889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1" tooltip="" action="ppaction://hlinkfile"/>
              </a:rPr>
              <a:t>https://materials.itstep.org/content/119447fe-7dc4-4926-a432-6c238733ba7c/uk</a:t>
            </a: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2500" b="1" dirty="0" err="1">
                <a:solidFill>
                  <a:schemeClr val="tx1"/>
                </a:solidFill>
                <a:sym typeface="+mn-ea"/>
              </a:rPr>
              <a:t>звісно ж, із</a:t>
            </a:r>
            <a:r>
              <a:rPr lang="en-US" altLang="en-US" sz="2500" b="1" dirty="0" err="1">
                <a:solidFill>
                  <a:schemeClr val="tx1"/>
                </a:solidFill>
                <a:sym typeface="+mn-ea"/>
              </a:rPr>
              <a:t> застосуванням фрагментів,</a:t>
            </a:r>
            <a:endParaRPr lang="en-US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chemeClr val="tx1"/>
                </a:solidFill>
                <a:sym typeface="+mn-ea"/>
              </a:rPr>
              <a:t>порталів та рефів :)</a:t>
            </a:r>
            <a:endParaRPr lang="en-US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33A29AB-3352-4C9B-BBC6-81345EF53C23}"/>
</file>

<file path=customXml/itemProps2.xml><?xml version="1.0" encoding="utf-8"?>
<ds:datastoreItem xmlns:ds="http://schemas.openxmlformats.org/officeDocument/2006/customXml" ds:itemID="{AE445499-2367-43D3-8A87-77C15978C37F}"/>
</file>

<file path=customXml/itemProps3.xml><?xml version="1.0" encoding="utf-8"?>
<ds:datastoreItem xmlns:ds="http://schemas.openxmlformats.org/officeDocument/2006/customXml" ds:itemID="{DEEFD8BF-1068-475B-9EDB-66BA433F94E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15286</Words>
  <Application>WPS Presentation</Application>
  <PresentationFormat/>
  <Paragraphs>278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>Roboto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Александр Загор�</cp:lastModifiedBy>
  <cp:revision>86</cp:revision>
  <dcterms:created xsi:type="dcterms:W3CDTF">2005-09-22T16:26:00Z</dcterms:created>
  <dcterms:modified xsi:type="dcterms:W3CDTF">2026-06-17T13:11:42Z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1033-12.1.0.26880</vt:lpwstr>
  </property>
  <property fmtid="{D5CDD505-2E9C-101B-9397-08002B2CF9AE}" pid="4" name="ContentTypeId">
    <vt:lpwstr>0x010100CB973167729B9844A7328B341F515C98</vt:lpwstr>
  </property>
</Properties>
</file>